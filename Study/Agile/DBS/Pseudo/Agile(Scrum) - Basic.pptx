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7" r:id="rId2"/>
    <p:sldMasterId id="2147483686" r:id="rId3"/>
  </p:sldMasterIdLst>
  <p:notesMasterIdLst>
    <p:notesMasterId r:id="rId72"/>
  </p:notesMasterIdLst>
  <p:handoutMasterIdLst>
    <p:handoutMasterId r:id="rId73"/>
  </p:handoutMasterIdLst>
  <p:sldIdLst>
    <p:sldId id="1134" r:id="rId4"/>
    <p:sldId id="257" r:id="rId5"/>
    <p:sldId id="1225" r:id="rId6"/>
    <p:sldId id="1140" r:id="rId7"/>
    <p:sldId id="1141" r:id="rId8"/>
    <p:sldId id="1150" r:id="rId9"/>
    <p:sldId id="1151" r:id="rId10"/>
    <p:sldId id="1153" r:id="rId11"/>
    <p:sldId id="1154" r:id="rId12"/>
    <p:sldId id="1155" r:id="rId13"/>
    <p:sldId id="1152" r:id="rId14"/>
    <p:sldId id="1156" r:id="rId15"/>
    <p:sldId id="1227" r:id="rId16"/>
    <p:sldId id="1161" r:id="rId17"/>
    <p:sldId id="1228" r:id="rId18"/>
    <p:sldId id="1162" r:id="rId19"/>
    <p:sldId id="1230" r:id="rId20"/>
    <p:sldId id="1231" r:id="rId21"/>
    <p:sldId id="1170" r:id="rId22"/>
    <p:sldId id="1171" r:id="rId23"/>
    <p:sldId id="1172" r:id="rId24"/>
    <p:sldId id="1173" r:id="rId25"/>
    <p:sldId id="1174" r:id="rId26"/>
    <p:sldId id="1232" r:id="rId27"/>
    <p:sldId id="1233" r:id="rId28"/>
    <p:sldId id="1157" r:id="rId29"/>
    <p:sldId id="1212" r:id="rId30"/>
    <p:sldId id="1229" r:id="rId31"/>
    <p:sldId id="1234" r:id="rId32"/>
    <p:sldId id="1210" r:id="rId33"/>
    <p:sldId id="1211" r:id="rId34"/>
    <p:sldId id="1209" r:id="rId35"/>
    <p:sldId id="1215" r:id="rId36"/>
    <p:sldId id="1175" r:id="rId37"/>
    <p:sldId id="1159" r:id="rId38"/>
    <p:sldId id="1177" r:id="rId39"/>
    <p:sldId id="1179" r:id="rId40"/>
    <p:sldId id="1180" r:id="rId41"/>
    <p:sldId id="1182" r:id="rId42"/>
    <p:sldId id="1181" r:id="rId43"/>
    <p:sldId id="1183" r:id="rId44"/>
    <p:sldId id="1184" r:id="rId45"/>
    <p:sldId id="1226" r:id="rId46"/>
    <p:sldId id="1186" r:id="rId47"/>
    <p:sldId id="1185" r:id="rId48"/>
    <p:sldId id="1187" r:id="rId49"/>
    <p:sldId id="1189" r:id="rId50"/>
    <p:sldId id="1191" r:id="rId51"/>
    <p:sldId id="1216" r:id="rId52"/>
    <p:sldId id="1192" r:id="rId53"/>
    <p:sldId id="1217" r:id="rId54"/>
    <p:sldId id="1193" r:id="rId55"/>
    <p:sldId id="1220" r:id="rId56"/>
    <p:sldId id="1194" r:id="rId57"/>
    <p:sldId id="1224" r:id="rId58"/>
    <p:sldId id="1195" r:id="rId59"/>
    <p:sldId id="1188" r:id="rId60"/>
    <p:sldId id="1197" r:id="rId61"/>
    <p:sldId id="1198" r:id="rId62"/>
    <p:sldId id="1201" r:id="rId63"/>
    <p:sldId id="1199" r:id="rId64"/>
    <p:sldId id="1202" r:id="rId65"/>
    <p:sldId id="1203" r:id="rId66"/>
    <p:sldId id="1204" r:id="rId67"/>
    <p:sldId id="1205" r:id="rId68"/>
    <p:sldId id="1208" r:id="rId69"/>
    <p:sldId id="1206" r:id="rId70"/>
    <p:sldId id="1137" r:id="rId71"/>
  </p:sldIdLst>
  <p:sldSz cx="9144000" cy="6858000" type="screen4x3"/>
  <p:notesSz cx="6732588" cy="9871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58">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D"/>
    <a:srgbClr val="00FF00"/>
    <a:srgbClr val="FF6600"/>
    <a:srgbClr val="FF3300"/>
    <a:srgbClr val="FF9900"/>
    <a:srgbClr val="0000FF"/>
    <a:srgbClr val="FF3399"/>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8" autoAdjust="0"/>
    <p:restoredTop sz="82375" autoAdjust="0"/>
  </p:normalViewPr>
  <p:slideViewPr>
    <p:cSldViewPr>
      <p:cViewPr varScale="1">
        <p:scale>
          <a:sx n="59" d="100"/>
          <a:sy n="59" d="100"/>
        </p:scale>
        <p:origin x="1674" y="72"/>
      </p:cViewPr>
      <p:guideLst>
        <p:guide orient="horz" pos="2158"/>
        <p:guide pos="28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27330" name="Rectangle 1026"/>
          <p:cNvSpPr>
            <a:spLocks noGrp="1" noChangeArrowheads="1"/>
          </p:cNvSpPr>
          <p:nvPr>
            <p:ph type="hdr" sz="quarter"/>
          </p:nvPr>
        </p:nvSpPr>
        <p:spPr bwMode="auto">
          <a:xfrm>
            <a:off x="0" y="0"/>
            <a:ext cx="2917825" cy="493713"/>
          </a:xfrm>
          <a:prstGeom prst="rect">
            <a:avLst/>
          </a:prstGeom>
          <a:noFill/>
          <a:ln w="12700">
            <a:noFill/>
            <a:miter lim="800000"/>
          </a:ln>
          <a:effectLst/>
        </p:spPr>
        <p:txBody>
          <a:bodyPr vert="horz" wrap="square" lIns="91440" tIns="45720" rIns="91440" bIns="45720" numCol="1" anchor="t" anchorCtr="0" compatLnSpc="1"/>
          <a:lstStyle>
            <a:lvl1pPr eaLnBrk="0" hangingPunct="0">
              <a:defRPr sz="1200"/>
            </a:lvl1pPr>
          </a:lstStyle>
          <a:p>
            <a:pPr>
              <a:defRPr/>
            </a:pPr>
            <a:endParaRPr lang="en-US"/>
          </a:p>
        </p:txBody>
      </p:sp>
      <p:sp>
        <p:nvSpPr>
          <p:cNvPr id="227331" name="Rectangle 1027"/>
          <p:cNvSpPr>
            <a:spLocks noGrp="1" noChangeArrowheads="1"/>
          </p:cNvSpPr>
          <p:nvPr>
            <p:ph type="dt" idx="1"/>
          </p:nvPr>
        </p:nvSpPr>
        <p:spPr bwMode="auto">
          <a:xfrm>
            <a:off x="3814763" y="0"/>
            <a:ext cx="2917825" cy="493713"/>
          </a:xfrm>
          <a:prstGeom prst="rect">
            <a:avLst/>
          </a:prstGeom>
          <a:noFill/>
          <a:ln w="12700">
            <a:noFill/>
            <a:miter lim="800000"/>
          </a:ln>
          <a:effectLst/>
        </p:spPr>
        <p:txBody>
          <a:bodyPr vert="horz" wrap="square" lIns="91440" tIns="45720" rIns="91440" bIns="45720" numCol="1" anchor="t" anchorCtr="0" compatLnSpc="1"/>
          <a:lstStyle>
            <a:lvl1pPr algn="r" eaLnBrk="0" hangingPunct="0">
              <a:defRPr sz="1200"/>
            </a:lvl1pPr>
          </a:lstStyle>
          <a:p>
            <a:pPr>
              <a:defRPr/>
            </a:pPr>
            <a:fld id="{F2B75972-D2A2-41F7-904E-1E64020CAC85}" type="datetime1">
              <a:rPr lang="en-US"/>
              <a:t>3/7/2021</a:t>
            </a:fld>
            <a:endParaRPr lang="en-US"/>
          </a:p>
        </p:txBody>
      </p:sp>
      <p:sp>
        <p:nvSpPr>
          <p:cNvPr id="28676" name="Rectangle 1028"/>
          <p:cNvSpPr>
            <a:spLocks noGrp="1" noRot="1" noChangeAspect="1" noChangeArrowheads="1" noTextEdit="1"/>
          </p:cNvSpPr>
          <p:nvPr>
            <p:ph type="sldImg" idx="4294967295"/>
          </p:nvPr>
        </p:nvSpPr>
        <p:spPr bwMode="auto">
          <a:xfrm>
            <a:off x="898525" y="739775"/>
            <a:ext cx="4935538"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7333" name="Rectangle 1029"/>
          <p:cNvSpPr>
            <a:spLocks noGrp="1" noChangeArrowheads="1"/>
          </p:cNvSpPr>
          <p:nvPr>
            <p:ph type="body" sz="quarter" idx="3"/>
          </p:nvPr>
        </p:nvSpPr>
        <p:spPr bwMode="auto">
          <a:xfrm>
            <a:off x="896938" y="4689475"/>
            <a:ext cx="4938712" cy="4441825"/>
          </a:xfrm>
          <a:prstGeom prst="rect">
            <a:avLst/>
          </a:prstGeom>
          <a:noFill/>
          <a:ln w="12700">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7334" name="Rectangle 1030"/>
          <p:cNvSpPr>
            <a:spLocks noGrp="1" noChangeArrowheads="1"/>
          </p:cNvSpPr>
          <p:nvPr>
            <p:ph type="ftr" sz="quarter" idx="4"/>
          </p:nvPr>
        </p:nvSpPr>
        <p:spPr bwMode="auto">
          <a:xfrm>
            <a:off x="0" y="9377363"/>
            <a:ext cx="2917825" cy="493712"/>
          </a:xfrm>
          <a:prstGeom prst="rect">
            <a:avLst/>
          </a:prstGeom>
          <a:noFill/>
          <a:ln w="12700">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27335" name="Rectangle 1031"/>
          <p:cNvSpPr>
            <a:spLocks noGrp="1" noChangeArrowheads="1"/>
          </p:cNvSpPr>
          <p:nvPr>
            <p:ph type="sldNum" sz="quarter" idx="5"/>
          </p:nvPr>
        </p:nvSpPr>
        <p:spPr bwMode="auto">
          <a:xfrm>
            <a:off x="3814763" y="9377363"/>
            <a:ext cx="2917825" cy="493712"/>
          </a:xfrm>
          <a:prstGeom prst="rect">
            <a:avLst/>
          </a:prstGeom>
          <a:noFill/>
          <a:ln w="12700">
            <a:noFill/>
            <a:miter lim="800000"/>
          </a:ln>
          <a:effectLst/>
        </p:spPr>
        <p:txBody>
          <a:bodyPr vert="horz" wrap="square" lIns="91440" tIns="45720" rIns="91440" bIns="45720" numCol="1" anchor="b" anchorCtr="0" compatLnSpc="1"/>
          <a:lstStyle>
            <a:lvl1pPr algn="r">
              <a:defRPr sz="1200"/>
            </a:lvl1pPr>
          </a:lstStyle>
          <a:p>
            <a:pPr>
              <a:defRPr/>
            </a:pPr>
            <a:fld id="{E55696C8-9EA1-42CE-8D53-842C598E3543}" type="slidenum">
              <a:rPr lang="en-US" altLang="en-US"/>
              <a:t>‹#›</a:t>
            </a:fld>
            <a:endParaRPr lang="en-US" altLang="en-US"/>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letsscrumit.com/sprint-goal-why-do-we-need-it/"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a:defRPr/>
            </a:pPr>
            <a:fld id="{F2B75972-D2A2-41F7-904E-1E64020CAC85}" type="datetime1">
              <a:rPr lang="en-US" smtClean="0"/>
              <a:t>3/7/2021</a:t>
            </a:fld>
            <a:endParaRPr lang="en-US"/>
          </a:p>
        </p:txBody>
      </p:sp>
    </p:spTree>
    <p:extLst>
      <p:ext uri="{BB962C8B-B14F-4D97-AF65-F5344CB8AC3E}">
        <p14:creationId xmlns:p14="http://schemas.microsoft.com/office/powerpoint/2010/main" val="416738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None/>
            </a:pPr>
            <a:r>
              <a:rPr lang="en-US" sz="1200" b="1" dirty="0">
                <a:latin typeface="Calibri" panose="020F0502020204030204" pitchFamily="34" charset="0"/>
                <a:ea typeface="SimSun" panose="02010600030101010101" pitchFamily="2" charset="-122"/>
                <a:cs typeface="Times New Roman" panose="02020603050405020304" pitchFamily="18" charset="0"/>
              </a:rPr>
              <a:t>SDLC </a:t>
            </a:r>
            <a:r>
              <a:rPr lang="en-US" sz="1200" dirty="0">
                <a:latin typeface="Calibri" panose="020F0502020204030204" pitchFamily="34" charset="0"/>
                <a:ea typeface="SimSun" panose="02010600030101010101" pitchFamily="2" charset="-122"/>
                <a:cs typeface="Times New Roman" panose="02020603050405020304" pitchFamily="18" charset="0"/>
              </a:rPr>
              <a:t>defines the complete life cycle of software i.e. all tasks involved in planning, development, testing and delivering a Software to client or market.</a:t>
            </a:r>
          </a:p>
          <a:p>
            <a:pPr marL="0" indent="0">
              <a:buNone/>
            </a:pPr>
            <a:r>
              <a:rPr lang="en-US" sz="1200" b="1" dirty="0">
                <a:latin typeface="Calibri" panose="020F0502020204030204" pitchFamily="34" charset="0"/>
                <a:ea typeface="SimSun" panose="02010600030101010101" pitchFamily="2" charset="-122"/>
                <a:cs typeface="Times New Roman" panose="02020603050405020304" pitchFamily="18" charset="0"/>
              </a:rPr>
              <a:t>SDLC process aims </a:t>
            </a:r>
            <a:r>
              <a:rPr lang="en-US" sz="1200" dirty="0">
                <a:latin typeface="Calibri" panose="020F0502020204030204" pitchFamily="34" charset="0"/>
                <a:ea typeface="SimSun" panose="02010600030101010101" pitchFamily="2" charset="-122"/>
                <a:cs typeface="Times New Roman" panose="02020603050405020304" pitchFamily="18" charset="0"/>
              </a:rPr>
              <a:t>to produce </a:t>
            </a:r>
            <a:r>
              <a:rPr lang="en-US" sz="1200" b="1" dirty="0">
                <a:latin typeface="Calibri" panose="020F0502020204030204" pitchFamily="34" charset="0"/>
                <a:ea typeface="SimSun" panose="02010600030101010101" pitchFamily="2" charset="-122"/>
                <a:cs typeface="Times New Roman" panose="02020603050405020304" pitchFamily="18" charset="0"/>
              </a:rPr>
              <a:t>high-quality software</a:t>
            </a:r>
            <a:r>
              <a:rPr lang="en-US" sz="1200" dirty="0">
                <a:latin typeface="Calibri" panose="020F0502020204030204" pitchFamily="34" charset="0"/>
                <a:ea typeface="SimSun" panose="02010600030101010101" pitchFamily="2" charset="-122"/>
                <a:cs typeface="Times New Roman" panose="02020603050405020304" pitchFamily="18" charset="0"/>
              </a:rPr>
              <a:t> that </a:t>
            </a:r>
            <a:r>
              <a:rPr lang="en-US" sz="1200" b="1" dirty="0">
                <a:latin typeface="Calibri" panose="020F0502020204030204" pitchFamily="34" charset="0"/>
                <a:ea typeface="SimSun" panose="02010600030101010101" pitchFamily="2" charset="-122"/>
                <a:cs typeface="Times New Roman" panose="02020603050405020304" pitchFamily="18" charset="0"/>
              </a:rPr>
              <a:t>meets customer expectations</a:t>
            </a:r>
            <a:r>
              <a:rPr lang="en-US" sz="1200" dirty="0">
                <a:latin typeface="Calibri" panose="020F0502020204030204" pitchFamily="34" charset="0"/>
                <a:ea typeface="SimSun" panose="02010600030101010101" pitchFamily="2" charset="-122"/>
                <a:cs typeface="Times New Roman" panose="02020603050405020304" pitchFamily="18" charset="0"/>
              </a:rPr>
              <a:t>.</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altLang="en-US" dirty="0"/>
          </a:p>
        </p:txBody>
      </p:sp>
    </p:spTree>
    <p:extLst>
      <p:ext uri="{BB962C8B-B14F-4D97-AF65-F5344CB8AC3E}">
        <p14:creationId xmlns:p14="http://schemas.microsoft.com/office/powerpoint/2010/main" val="1315964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202693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290892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287303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i="0" dirty="0"/>
          </a:p>
        </p:txBody>
      </p:sp>
    </p:spTree>
    <p:extLst>
      <p:ext uri="{BB962C8B-B14F-4D97-AF65-F5344CB8AC3E}">
        <p14:creationId xmlns:p14="http://schemas.microsoft.com/office/powerpoint/2010/main" val="1086044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37077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32392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91761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20984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b="1" dirty="0"/>
          </a:p>
        </p:txBody>
      </p:sp>
    </p:spTree>
    <p:extLst>
      <p:ext uri="{BB962C8B-B14F-4D97-AF65-F5344CB8AC3E}">
        <p14:creationId xmlns:p14="http://schemas.microsoft.com/office/powerpoint/2010/main" val="3725686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b="1" dirty="0"/>
          </a:p>
        </p:txBody>
      </p:sp>
    </p:spTree>
    <p:extLst>
      <p:ext uri="{BB962C8B-B14F-4D97-AF65-F5344CB8AC3E}">
        <p14:creationId xmlns:p14="http://schemas.microsoft.com/office/powerpoint/2010/main" val="2966335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The team will not operate up a hierarchy — instead, it will </a:t>
            </a:r>
            <a:r>
              <a:rPr lang="en-US" b="1" i="0" dirty="0">
                <a:solidFill>
                  <a:srgbClr val="212529"/>
                </a:solidFill>
                <a:effectLst/>
                <a:latin typeface="ubuntu"/>
              </a:rPr>
              <a:t>operate horizontall</a:t>
            </a:r>
            <a:r>
              <a:rPr lang="en-US" b="0" i="0" dirty="0">
                <a:solidFill>
                  <a:srgbClr val="212529"/>
                </a:solidFill>
                <a:effectLst/>
                <a:latin typeface="ubuntu"/>
              </a:rPr>
              <a:t>y, with a </a:t>
            </a:r>
            <a:r>
              <a:rPr lang="en-US" b="1" i="0" dirty="0">
                <a:solidFill>
                  <a:srgbClr val="212529"/>
                </a:solidFill>
                <a:effectLst/>
                <a:latin typeface="ubuntu"/>
              </a:rPr>
              <a:t>focus on the customer</a:t>
            </a:r>
            <a:r>
              <a:rPr lang="en-US" b="0" i="0" dirty="0">
                <a:solidFill>
                  <a:srgbClr val="212529"/>
                </a:solidFill>
                <a:effectLst/>
                <a:latin typeface="ubuntu"/>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The approach is one of </a:t>
            </a:r>
            <a:r>
              <a:rPr lang="en-US" b="1" i="0" dirty="0">
                <a:solidFill>
                  <a:srgbClr val="212529"/>
                </a:solidFill>
                <a:effectLst/>
                <a:latin typeface="ubuntu"/>
              </a:rPr>
              <a:t>enabling self-organization</a:t>
            </a:r>
            <a:r>
              <a:rPr lang="en-US" b="0" i="0" dirty="0">
                <a:solidFill>
                  <a:srgbClr val="212529"/>
                </a:solidFill>
                <a:effectLst/>
                <a:latin typeface="ubuntu"/>
              </a:rPr>
              <a:t>, and not a controlling set of rules.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Plans are </a:t>
            </a:r>
            <a:r>
              <a:rPr lang="en-US" b="1" i="0" dirty="0">
                <a:solidFill>
                  <a:srgbClr val="212529"/>
                </a:solidFill>
                <a:effectLst/>
                <a:latin typeface="ubuntu"/>
              </a:rPr>
              <a:t>iterative and continuously in flux</a:t>
            </a:r>
            <a:r>
              <a:rPr lang="en-US" b="0" i="0" dirty="0">
                <a:solidFill>
                  <a:srgbClr val="212529"/>
                </a:solidFill>
                <a:effectLst/>
                <a:latin typeface="ubuntu"/>
              </a:rPr>
              <a:t>, rather than static and concrete.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212529"/>
                </a:solidFill>
                <a:effectLst/>
                <a:latin typeface="ubuntu"/>
              </a:rPr>
              <a:t>The workplace is </a:t>
            </a:r>
            <a:r>
              <a:rPr lang="en-US" b="1" i="0" dirty="0">
                <a:solidFill>
                  <a:srgbClr val="212529"/>
                </a:solidFill>
                <a:effectLst/>
                <a:latin typeface="ubuntu"/>
              </a:rPr>
              <a:t>an interesting and inspiring area</a:t>
            </a:r>
            <a:r>
              <a:rPr lang="en-US" b="0" i="0" dirty="0">
                <a:solidFill>
                  <a:srgbClr val="212529"/>
                </a:solidFill>
                <a:effectLst/>
                <a:latin typeface="ubuntu"/>
              </a:rPr>
              <a:t>, channeled via people who are given </a:t>
            </a:r>
            <a:r>
              <a:rPr lang="en-US" b="1" i="0" dirty="0">
                <a:solidFill>
                  <a:srgbClr val="212529"/>
                </a:solidFill>
                <a:effectLst/>
                <a:latin typeface="ubuntu"/>
              </a:rPr>
              <a:t>autonomy</a:t>
            </a:r>
            <a:r>
              <a:rPr lang="en-US" b="0" i="0" dirty="0">
                <a:solidFill>
                  <a:srgbClr val="212529"/>
                </a:solidFill>
                <a:effectLst/>
                <a:latin typeface="ubuntu"/>
              </a:rPr>
              <a:t>. </a:t>
            </a:r>
          </a:p>
          <a:p>
            <a:r>
              <a:rPr lang="en-US" b="0" i="0" dirty="0">
                <a:solidFill>
                  <a:srgbClr val="212529"/>
                </a:solidFill>
                <a:effectLst/>
                <a:latin typeface="ubuntu"/>
              </a:rPr>
              <a:t>The </a:t>
            </a:r>
            <a:r>
              <a:rPr lang="en-US" b="1" i="0" dirty="0">
                <a:solidFill>
                  <a:srgbClr val="212529"/>
                </a:solidFill>
                <a:effectLst/>
                <a:latin typeface="ubuntu"/>
              </a:rPr>
              <a:t>customer is central</a:t>
            </a:r>
            <a:r>
              <a:rPr lang="en-US" b="0" i="0" dirty="0">
                <a:solidFill>
                  <a:srgbClr val="212529"/>
                </a:solidFill>
                <a:effectLst/>
                <a:latin typeface="ubuntu"/>
              </a:rPr>
              <a:t>, and not absent; the aim of the team is to satisfy the customer’s business needs.</a:t>
            </a:r>
            <a:endParaRPr lang="en-US" altLang="en-US" dirty="0"/>
          </a:p>
          <a:p>
            <a:endParaRPr lang="en-US" altLang="en-US" dirty="0"/>
          </a:p>
        </p:txBody>
      </p:sp>
    </p:spTree>
    <p:extLst>
      <p:ext uri="{BB962C8B-B14F-4D97-AF65-F5344CB8AC3E}">
        <p14:creationId xmlns:p14="http://schemas.microsoft.com/office/powerpoint/2010/main" val="1063091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p:txBody>
      </p:sp>
    </p:spTree>
    <p:extLst>
      <p:ext uri="{BB962C8B-B14F-4D97-AF65-F5344CB8AC3E}">
        <p14:creationId xmlns:p14="http://schemas.microsoft.com/office/powerpoint/2010/main" val="2777795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6655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156130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97405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489908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5705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87031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133342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800164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263271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altLang="en-US" b="1" dirty="0"/>
              <a:t>Conclusion</a:t>
            </a:r>
          </a:p>
          <a:p>
            <a:r>
              <a:rPr lang="en-US" altLang="en-US" dirty="0"/>
              <a:t>Statistics say that by using agile project management, on average, the time to market is 37% faster and the efficiency of you team is increased with a productivity higher by 16% that the average.</a:t>
            </a:r>
          </a:p>
          <a:p>
            <a:endParaRPr lang="en-US" altLang="en-US" dirty="0"/>
          </a:p>
        </p:txBody>
      </p:sp>
    </p:spTree>
    <p:extLst>
      <p:ext uri="{BB962C8B-B14F-4D97-AF65-F5344CB8AC3E}">
        <p14:creationId xmlns:p14="http://schemas.microsoft.com/office/powerpoint/2010/main" val="87394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13063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913041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altLang="en-US" dirty="0"/>
          </a:p>
        </p:txBody>
      </p:sp>
    </p:spTree>
    <p:extLst>
      <p:ext uri="{BB962C8B-B14F-4D97-AF65-F5344CB8AC3E}">
        <p14:creationId xmlns:p14="http://schemas.microsoft.com/office/powerpoint/2010/main" val="17450546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altLang="en-US" dirty="0"/>
          </a:p>
        </p:txBody>
      </p:sp>
    </p:spTree>
    <p:extLst>
      <p:ext uri="{BB962C8B-B14F-4D97-AF65-F5344CB8AC3E}">
        <p14:creationId xmlns:p14="http://schemas.microsoft.com/office/powerpoint/2010/main" val="8047360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dirty="0">
                <a:solidFill>
                  <a:srgbClr val="415970"/>
                </a:solidFill>
                <a:effectLst/>
                <a:latin typeface="Raleway"/>
              </a:rPr>
              <a:t>Empiricism</a:t>
            </a:r>
            <a:r>
              <a:rPr lang="en-US" b="0" i="0" dirty="0">
                <a:solidFill>
                  <a:srgbClr val="415970"/>
                </a:solidFill>
                <a:effectLst/>
                <a:latin typeface="Raleway"/>
              </a:rPr>
              <a:t> means working in a </a:t>
            </a:r>
            <a:r>
              <a:rPr lang="en-US" b="1" i="0" dirty="0">
                <a:solidFill>
                  <a:srgbClr val="415970"/>
                </a:solidFill>
                <a:effectLst/>
                <a:latin typeface="Raleway"/>
              </a:rPr>
              <a:t>fact-based</a:t>
            </a:r>
            <a:r>
              <a:rPr lang="en-US" b="0" i="0" dirty="0">
                <a:solidFill>
                  <a:srgbClr val="415970"/>
                </a:solidFill>
                <a:effectLst/>
                <a:latin typeface="Raleway"/>
              </a:rPr>
              <a:t>, </a:t>
            </a:r>
            <a:r>
              <a:rPr lang="en-US" b="1" i="0" dirty="0">
                <a:solidFill>
                  <a:srgbClr val="415970"/>
                </a:solidFill>
                <a:effectLst/>
                <a:latin typeface="Raleway"/>
              </a:rPr>
              <a:t>experience-based</a:t>
            </a:r>
            <a:r>
              <a:rPr lang="en-US" b="0" i="0" dirty="0">
                <a:solidFill>
                  <a:srgbClr val="415970"/>
                </a:solidFill>
                <a:effectLst/>
                <a:latin typeface="Raleway"/>
              </a:rPr>
              <a:t>, and </a:t>
            </a:r>
            <a:r>
              <a:rPr lang="en-US" b="1" i="0" dirty="0">
                <a:solidFill>
                  <a:srgbClr val="415970"/>
                </a:solidFill>
                <a:effectLst/>
                <a:latin typeface="Raleway"/>
              </a:rPr>
              <a:t>evidence-based</a:t>
            </a:r>
            <a:r>
              <a:rPr lang="en-US" b="0" i="0" dirty="0">
                <a:solidFill>
                  <a:srgbClr val="415970"/>
                </a:solidFill>
                <a:effectLst/>
                <a:latin typeface="Raleway"/>
              </a:rPr>
              <a:t> manner. Scrum implements an </a:t>
            </a:r>
            <a:r>
              <a:rPr lang="en-US" b="1" i="0" dirty="0">
                <a:solidFill>
                  <a:srgbClr val="415970"/>
                </a:solidFill>
                <a:effectLst/>
                <a:latin typeface="Raleway"/>
              </a:rPr>
              <a:t>empirical process</a:t>
            </a:r>
            <a:r>
              <a:rPr lang="en-US" b="0" i="0" dirty="0">
                <a:solidFill>
                  <a:srgbClr val="415970"/>
                </a:solidFill>
                <a:effectLst/>
                <a:latin typeface="Raleway"/>
              </a:rPr>
              <a:t> where progress is based on observations of reality, not fictitious plans. Scrum also places great emphasis on mind-set and cultural shift to achieve business and organizational Agility.</a:t>
            </a:r>
            <a:endParaRPr lang="en-US" altLang="en-US" dirty="0"/>
          </a:p>
          <a:p>
            <a:endParaRPr lang="en-US" altLang="en-US" dirty="0"/>
          </a:p>
        </p:txBody>
      </p:sp>
    </p:spTree>
    <p:extLst>
      <p:ext uri="{BB962C8B-B14F-4D97-AF65-F5344CB8AC3E}">
        <p14:creationId xmlns:p14="http://schemas.microsoft.com/office/powerpoint/2010/main" val="39665159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185345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592957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0329079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1" i="0" dirty="0">
                <a:solidFill>
                  <a:srgbClr val="777777"/>
                </a:solidFill>
                <a:effectLst/>
                <a:latin typeface="Lato"/>
              </a:rPr>
              <a:t>Scrum </a:t>
            </a:r>
            <a:r>
              <a:rPr lang="en-US" b="0" i="0" dirty="0">
                <a:solidFill>
                  <a:srgbClr val="777777"/>
                </a:solidFill>
                <a:effectLst/>
                <a:latin typeface="Lato"/>
              </a:rPr>
              <a:t>is an adaptive project management </a:t>
            </a:r>
            <a:r>
              <a:rPr lang="en-US" b="1" i="0" dirty="0">
                <a:solidFill>
                  <a:srgbClr val="777777"/>
                </a:solidFill>
                <a:effectLst/>
                <a:latin typeface="Lato"/>
              </a:rPr>
              <a:t>framework </a:t>
            </a:r>
            <a:r>
              <a:rPr lang="en-US" b="0" i="0" dirty="0">
                <a:solidFill>
                  <a:srgbClr val="777777"/>
                </a:solidFill>
                <a:effectLst/>
                <a:latin typeface="Lato"/>
              </a:rPr>
              <a:t>that enables organizations and project teams to efficiently develop new products or services in </a:t>
            </a:r>
            <a:r>
              <a:rPr lang="en-US" b="1" i="0" dirty="0">
                <a:solidFill>
                  <a:srgbClr val="777777"/>
                </a:solidFill>
                <a:effectLst/>
                <a:latin typeface="Lato"/>
              </a:rPr>
              <a:t>iterations</a:t>
            </a:r>
            <a:r>
              <a:rPr lang="en-US" b="0" i="0" dirty="0">
                <a:solidFill>
                  <a:srgbClr val="777777"/>
                </a:solidFill>
                <a:effectLst/>
                <a:latin typeface="Lato"/>
              </a:rPr>
              <a:t>, so that they can adapt quickly to customer feedback and as a result, deliver better projects.</a:t>
            </a:r>
          </a:p>
          <a:p>
            <a:endParaRPr lang="en-US" altLang="en-US" dirty="0"/>
          </a:p>
          <a:p>
            <a:r>
              <a:rPr lang="en-US" altLang="en-US" dirty="0"/>
              <a:t>In general, </a:t>
            </a:r>
            <a:r>
              <a:rPr lang="en-US" altLang="en-US" b="1" dirty="0"/>
              <a:t>Scrum cares</a:t>
            </a:r>
            <a:r>
              <a:rPr lang="en-US" altLang="en-US" dirty="0"/>
              <a:t> most about </a:t>
            </a:r>
            <a:r>
              <a:rPr lang="en-US" altLang="en-US" b="1" dirty="0"/>
              <a:t>building the right thing</a:t>
            </a:r>
            <a:r>
              <a:rPr lang="en-US" altLang="en-US" dirty="0"/>
              <a:t>. If we deliver something that isn’t of value, who cares that we deliver it fast or with a high degree of technical excellence? It would have been better to never have delivered it at all.</a:t>
            </a:r>
          </a:p>
          <a:p>
            <a:r>
              <a:rPr lang="en-US" altLang="en-US" dirty="0"/>
              <a:t>Once we know we are building the right thing, then Scrum cares about </a:t>
            </a:r>
            <a:r>
              <a:rPr lang="en-US" altLang="en-US" b="1" dirty="0"/>
              <a:t>building it fast </a:t>
            </a:r>
            <a:r>
              <a:rPr lang="en-US" altLang="en-US" dirty="0"/>
              <a:t>and building it </a:t>
            </a:r>
            <a:r>
              <a:rPr lang="en-US" altLang="en-US" b="1" dirty="0"/>
              <a:t>in the right way</a:t>
            </a:r>
            <a:r>
              <a:rPr lang="en-US" altLang="en-US" dirty="0"/>
              <a:t>.</a:t>
            </a:r>
          </a:p>
          <a:p>
            <a:endParaRPr lang="en-US" altLang="en-US" dirty="0"/>
          </a:p>
          <a:p>
            <a:endParaRPr lang="en-US" altLang="en-US" dirty="0"/>
          </a:p>
        </p:txBody>
      </p:sp>
    </p:spTree>
    <p:extLst>
      <p:ext uri="{BB962C8B-B14F-4D97-AF65-F5344CB8AC3E}">
        <p14:creationId xmlns:p14="http://schemas.microsoft.com/office/powerpoint/2010/main" val="1058014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fontAlgn="base"/>
            <a:br>
              <a:rPr lang="en-US" b="1" i="0" dirty="0">
                <a:solidFill>
                  <a:srgbClr val="777777"/>
                </a:solidFill>
                <a:effectLst/>
                <a:latin typeface="Lato"/>
              </a:rPr>
            </a:br>
            <a:endParaRPr lang="en-US" altLang="en-US" b="1" dirty="0"/>
          </a:p>
        </p:txBody>
      </p:sp>
    </p:spTree>
    <p:extLst>
      <p:ext uri="{BB962C8B-B14F-4D97-AF65-F5344CB8AC3E}">
        <p14:creationId xmlns:p14="http://schemas.microsoft.com/office/powerpoint/2010/main" val="39670810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altLang="en-US" b="1" dirty="0"/>
              <a:t>Scrum Team:</a:t>
            </a:r>
          </a:p>
          <a:p>
            <a:r>
              <a:rPr lang="en-US" altLang="en-US" b="1" dirty="0"/>
              <a:t>PO: </a:t>
            </a:r>
            <a:r>
              <a:rPr lang="en-US" altLang="en-US" b="0" dirty="0"/>
              <a:t>Manages the </a:t>
            </a:r>
            <a:r>
              <a:rPr lang="en-US" altLang="en-US" b="0"/>
              <a:t>Product Backlog</a:t>
            </a:r>
            <a:endParaRPr lang="en-US" altLang="en-US" b="1" dirty="0"/>
          </a:p>
          <a:p>
            <a:r>
              <a:rPr lang="en-US" altLang="en-US" b="1" dirty="0"/>
              <a:t>Dev Team: </a:t>
            </a:r>
            <a:r>
              <a:rPr lang="en-US" altLang="en-US" b="0" dirty="0"/>
              <a:t>Creates “Done” Increment.</a:t>
            </a:r>
            <a:endParaRPr lang="en-US" altLang="en-US" b="1" dirty="0"/>
          </a:p>
          <a:p>
            <a:r>
              <a:rPr lang="en-US" altLang="en-US" b="1" dirty="0"/>
              <a:t>Scrum Master: </a:t>
            </a:r>
            <a:r>
              <a:rPr lang="en-US" altLang="en-US" b="0" dirty="0"/>
              <a:t>Manages the Scrum Processes, Remove Impediments</a:t>
            </a:r>
            <a:endParaRPr lang="en-US" altLang="en-US" b="1" dirty="0"/>
          </a:p>
          <a:p>
            <a:pPr algn="l">
              <a:buFont typeface="Arial" panose="020B0604020202020204" pitchFamily="34" charset="0"/>
              <a:buNone/>
            </a:pPr>
            <a:r>
              <a:rPr lang="en-US" b="1" i="0" dirty="0">
                <a:solidFill>
                  <a:srgbClr val="737C85"/>
                </a:solidFill>
                <a:effectLst/>
                <a:latin typeface="Open Sans"/>
              </a:rPr>
              <a:t>Self-organizing teams</a:t>
            </a:r>
            <a:r>
              <a:rPr lang="en-US" b="0" i="0" dirty="0">
                <a:solidFill>
                  <a:srgbClr val="737C85"/>
                </a:solidFill>
                <a:effectLst/>
                <a:latin typeface="Open Sans"/>
              </a:rPr>
              <a:t> choose how best to accomplish their work, rather than being directed by others outside the team.</a:t>
            </a:r>
          </a:p>
          <a:p>
            <a:pPr algn="l">
              <a:buFont typeface="Arial" panose="020B0604020202020204" pitchFamily="34" charset="0"/>
              <a:buNone/>
            </a:pPr>
            <a:r>
              <a:rPr lang="en-US" b="1" i="0" dirty="0">
                <a:solidFill>
                  <a:srgbClr val="737C85"/>
                </a:solidFill>
                <a:effectLst/>
                <a:latin typeface="Open Sans"/>
              </a:rPr>
              <a:t>Cross-functional teams</a:t>
            </a:r>
            <a:r>
              <a:rPr lang="en-US" b="0" i="0" dirty="0">
                <a:solidFill>
                  <a:srgbClr val="737C85"/>
                </a:solidFill>
                <a:effectLst/>
                <a:latin typeface="Open Sans"/>
              </a:rPr>
              <a:t> have all competencies needed to accomplish the work without depending on others not part of the team. The team model in Scrum is designed to optimize flexibility, creativity, and productivity</a:t>
            </a:r>
          </a:p>
          <a:p>
            <a:endParaRPr lang="en-US" altLang="en-US" b="0" dirty="0"/>
          </a:p>
        </p:txBody>
      </p:sp>
    </p:spTree>
    <p:extLst>
      <p:ext uri="{BB962C8B-B14F-4D97-AF65-F5344CB8AC3E}">
        <p14:creationId xmlns:p14="http://schemas.microsoft.com/office/powerpoint/2010/main" val="5692884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494440"/>
                </a:solidFill>
                <a:effectLst/>
                <a:latin typeface="Source Sans Pro" panose="020B0604020202020204" pitchFamily="34" charset="0"/>
              </a:rPr>
              <a:t>The </a:t>
            </a:r>
            <a:r>
              <a:rPr lang="en-US" b="1" i="0" dirty="0">
                <a:solidFill>
                  <a:srgbClr val="494440"/>
                </a:solidFill>
                <a:effectLst/>
                <a:latin typeface="Source Sans Pro" panose="020B0604020202020204" pitchFamily="34" charset="0"/>
              </a:rPr>
              <a:t>Product Owner</a:t>
            </a:r>
            <a:r>
              <a:rPr lang="en-US" b="0" i="0" dirty="0">
                <a:solidFill>
                  <a:srgbClr val="494440"/>
                </a:solidFill>
                <a:effectLst/>
                <a:latin typeface="Source Sans Pro" panose="020B0604020202020204" pitchFamily="34" charset="0"/>
              </a:rPr>
              <a:t> is responsible for communicating product vision. They prioritize the Product Backlog and clarify requirements for the team. The Product Owner makes the decision to accept or reject each product increment and whether or not it is “shippable.”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dirty="0">
                <a:solidFill>
                  <a:srgbClr val="3A3A3A"/>
                </a:solidFill>
                <a:effectLst/>
                <a:latin typeface="Work Sans"/>
              </a:rPr>
              <a:t>Product Owner</a:t>
            </a:r>
            <a:r>
              <a:rPr lang="en-US" b="0" i="0" dirty="0">
                <a:solidFill>
                  <a:srgbClr val="3A3A3A"/>
                </a:solidFill>
                <a:effectLst/>
                <a:latin typeface="Work Sans"/>
              </a:rPr>
              <a:t> ensures that the Product Backlog items are transparent &amp; clearly expressed and everyone in the team holds the same understanding of the item.</a:t>
            </a:r>
            <a:endParaRPr lang="en-US" b="0" i="0" dirty="0">
              <a:solidFill>
                <a:srgbClr val="494440"/>
              </a:solidFill>
              <a:effectLst/>
              <a:latin typeface="Source Sans Pro"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3A3A3A"/>
                </a:solidFill>
                <a:effectLst/>
                <a:latin typeface="Work Sans"/>
              </a:rPr>
              <a:t>Anyone who wants to add/remove an item in the Product Backlog or needs to change the priority of an item should be directed to the Product owner</a:t>
            </a:r>
            <a:endParaRPr lang="en-US" altLang="en-US" b="0" i="0" dirty="0"/>
          </a:p>
          <a:p>
            <a:r>
              <a:rPr lang="en-US" altLang="en-US" dirty="0"/>
              <a:t>.</a:t>
            </a:r>
          </a:p>
        </p:txBody>
      </p:sp>
    </p:spTree>
    <p:extLst>
      <p:ext uri="{BB962C8B-B14F-4D97-AF65-F5344CB8AC3E}">
        <p14:creationId xmlns:p14="http://schemas.microsoft.com/office/powerpoint/2010/main" val="3082884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2260045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i="0" dirty="0"/>
          </a:p>
        </p:txBody>
      </p:sp>
    </p:spTree>
    <p:extLst>
      <p:ext uri="{BB962C8B-B14F-4D97-AF65-F5344CB8AC3E}">
        <p14:creationId xmlns:p14="http://schemas.microsoft.com/office/powerpoint/2010/main" val="22656783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8309613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1" dirty="0">
                <a:solidFill>
                  <a:srgbClr val="3A3A3A"/>
                </a:solidFill>
                <a:effectLst/>
                <a:latin typeface="Work Sans"/>
              </a:rPr>
              <a:t>Scrum Master is a Process Leader who helps the Scrum Team and the others outside the Scrum Team to understand Scrum Values, Principles, and Practices.</a:t>
            </a:r>
          </a:p>
          <a:p>
            <a:r>
              <a:rPr lang="en-US" b="0" i="1" dirty="0">
                <a:solidFill>
                  <a:srgbClr val="3A3A3A"/>
                </a:solidFill>
                <a:effectLst/>
                <a:latin typeface="Work Sans"/>
              </a:rPr>
              <a:t>Scrum Master is responsible to protect the team from outside interference and for removing the impediments in order to let the team focus on delivering the business value.</a:t>
            </a:r>
            <a:endParaRPr lang="en-US" altLang="en-US" b="0" i="1" dirty="0"/>
          </a:p>
        </p:txBody>
      </p:sp>
    </p:spTree>
    <p:extLst>
      <p:ext uri="{BB962C8B-B14F-4D97-AF65-F5344CB8AC3E}">
        <p14:creationId xmlns:p14="http://schemas.microsoft.com/office/powerpoint/2010/main" val="3710884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4008679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211324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9308909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8143694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848484"/>
                </a:solidFill>
                <a:effectLst/>
                <a:latin typeface="Lato"/>
              </a:rPr>
              <a:t>The Sprint is an event that contains all the work and all the other events that happen during the time boxed period of development.</a:t>
            </a:r>
            <a:endParaRPr lang="en-US" altLang="en-US" dirty="0"/>
          </a:p>
        </p:txBody>
      </p:sp>
    </p:spTree>
    <p:extLst>
      <p:ext uri="{BB962C8B-B14F-4D97-AF65-F5344CB8AC3E}">
        <p14:creationId xmlns:p14="http://schemas.microsoft.com/office/powerpoint/2010/main" val="20930299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57585A"/>
                </a:solidFill>
                <a:effectLst/>
                <a:latin typeface="Lato"/>
              </a:rPr>
              <a:t>Backlog grooming is the </a:t>
            </a:r>
            <a:r>
              <a:rPr lang="en-US" b="1" i="0" dirty="0">
                <a:solidFill>
                  <a:srgbClr val="57585A"/>
                </a:solidFill>
                <a:effectLst/>
                <a:latin typeface="Lato"/>
              </a:rPr>
              <a:t>only ceremony </a:t>
            </a:r>
            <a:r>
              <a:rPr lang="en-US" b="0" i="0" dirty="0">
                <a:solidFill>
                  <a:srgbClr val="57585A"/>
                </a:solidFill>
                <a:effectLst/>
                <a:latin typeface="Lato"/>
              </a:rPr>
              <a:t>in scrum that </a:t>
            </a:r>
            <a:r>
              <a:rPr lang="en-US" b="1" i="0" dirty="0">
                <a:solidFill>
                  <a:srgbClr val="57585A"/>
                </a:solidFill>
                <a:effectLst/>
                <a:latin typeface="Lato"/>
              </a:rPr>
              <a:t>doesn’t have a defined time box or even a frequency</a:t>
            </a:r>
            <a:r>
              <a:rPr lang="en-US" b="0" i="0" dirty="0">
                <a:solidFill>
                  <a:srgbClr val="57585A"/>
                </a:solidFill>
                <a:effectLst/>
                <a:latin typeface="Lato"/>
              </a:rPr>
              <a:t>. </a:t>
            </a:r>
            <a:br>
              <a:rPr lang="en-US" dirty="0"/>
            </a:br>
            <a:r>
              <a:rPr lang="en-US" b="0" i="0" dirty="0">
                <a:solidFill>
                  <a:srgbClr val="57585A"/>
                </a:solidFill>
                <a:effectLst/>
                <a:latin typeface="Lato"/>
              </a:rPr>
              <a:t>It is, however, a critical responsibility of the product owner with the help of their team to add new items to the list and order them based on their priority. </a:t>
            </a:r>
            <a:br>
              <a:rPr lang="en-US" dirty="0"/>
            </a:br>
            <a:r>
              <a:rPr lang="en-US" b="0" i="0" dirty="0">
                <a:solidFill>
                  <a:srgbClr val="57585A"/>
                </a:solidFill>
                <a:effectLst/>
                <a:latin typeface="Lato"/>
              </a:rPr>
              <a:t>At the same time, outdated, redundant or non-valuable items should be removed from the backlog to keep it clean, valuable and actionable. </a:t>
            </a:r>
          </a:p>
          <a:p>
            <a:r>
              <a:rPr lang="en-US" b="1" i="0" dirty="0">
                <a:solidFill>
                  <a:srgbClr val="222222"/>
                </a:solidFill>
                <a:effectLst/>
                <a:latin typeface="-apple-system"/>
              </a:rPr>
              <a:t>Most</a:t>
            </a:r>
            <a:r>
              <a:rPr lang="en-US" b="0" i="0" dirty="0">
                <a:solidFill>
                  <a:srgbClr val="222222"/>
                </a:solidFill>
                <a:effectLst/>
                <a:latin typeface="-apple-system"/>
              </a:rPr>
              <a:t> Scrum teams participate in a Backlog grooming meeting (also known as a refinement) once per sprint. This ceremony is a recurring event for Agile development teams.</a:t>
            </a:r>
          </a:p>
          <a:p>
            <a:r>
              <a:rPr lang="en-US" b="0" i="0" dirty="0">
                <a:solidFill>
                  <a:srgbClr val="222222"/>
                </a:solidFill>
                <a:effectLst/>
                <a:latin typeface="-apple-system"/>
              </a:rPr>
              <a:t>The key goal of the refinement session is to ensure that the next few sprints worth of user stories are prepared for Sprint Planning. It also guarantees that the right stories are prioritized.</a:t>
            </a:r>
          </a:p>
          <a:p>
            <a:pPr marL="0" indent="0" algn="l" rtl="0" eaLnBrk="0" fontAlgn="base" hangingPunct="0">
              <a:spcBef>
                <a:spcPct val="30000"/>
              </a:spcBef>
              <a:spcAft>
                <a:spcPct val="0"/>
              </a:spcAft>
              <a:buFont typeface="Arial" panose="020B0604020202020204" pitchFamily="34" charset="0"/>
              <a:buNone/>
            </a:pPr>
            <a:r>
              <a:rPr lang="en-US" b="0" i="0" dirty="0">
                <a:solidFill>
                  <a:srgbClr val="222222"/>
                </a:solidFill>
                <a:effectLst/>
                <a:latin typeface="-apple-system"/>
              </a:rPr>
              <a:t>During the Backlog Grooming, teams usually: </a:t>
            </a:r>
          </a:p>
          <a:p>
            <a:pPr marL="171450" indent="-171450" algn="l" rtl="0" eaLnBrk="0" fontAlgn="base" hangingPunct="0">
              <a:spcBef>
                <a:spcPct val="30000"/>
              </a:spcBef>
              <a:spcAft>
                <a:spcPct val="0"/>
              </a:spcAft>
              <a:buFont typeface="Arial" panose="020B0604020202020204" pitchFamily="34" charset="0"/>
              <a:buChar char="•"/>
            </a:pPr>
            <a:r>
              <a:rPr lang="en-US" sz="1200" b="0" i="0" kern="1200" dirty="0">
                <a:solidFill>
                  <a:srgbClr val="222222"/>
                </a:solidFill>
                <a:effectLst/>
                <a:latin typeface="-apple-system"/>
                <a:ea typeface="+mn-ea"/>
                <a:cs typeface="+mn-cs"/>
              </a:rPr>
              <a:t>discuss user stories</a:t>
            </a:r>
          </a:p>
          <a:p>
            <a:pPr algn="l">
              <a:buFont typeface="Arial" panose="020B0604020202020204" pitchFamily="34" charset="0"/>
              <a:buChar char="•"/>
            </a:pPr>
            <a:r>
              <a:rPr lang="en-US" b="0" i="0" dirty="0">
                <a:solidFill>
                  <a:srgbClr val="222222"/>
                </a:solidFill>
                <a:effectLst/>
                <a:latin typeface="-apple-system"/>
              </a:rPr>
              <a:t>break down large user stories into smaller ones</a:t>
            </a:r>
          </a:p>
          <a:p>
            <a:pPr algn="l">
              <a:buFont typeface="Arial" panose="020B0604020202020204" pitchFamily="34" charset="0"/>
              <a:buChar char="•"/>
            </a:pPr>
            <a:r>
              <a:rPr lang="en-US" b="0" i="0" dirty="0">
                <a:solidFill>
                  <a:srgbClr val="222222"/>
                </a:solidFill>
                <a:effectLst/>
                <a:latin typeface="-apple-system"/>
              </a:rPr>
              <a:t>answer any questions to smooth out any ambiguity</a:t>
            </a:r>
          </a:p>
          <a:p>
            <a:pPr algn="l">
              <a:buFont typeface="Arial" panose="020B0604020202020204" pitchFamily="34" charset="0"/>
              <a:buChar char="•"/>
            </a:pPr>
            <a:r>
              <a:rPr lang="en-US" b="0" i="0" dirty="0">
                <a:solidFill>
                  <a:srgbClr val="222222"/>
                </a:solidFill>
                <a:effectLst/>
                <a:latin typeface="-apple-system"/>
              </a:rPr>
              <a:t>ensure that upcoming user stories meet the definition of readiness</a:t>
            </a:r>
          </a:p>
          <a:p>
            <a:endParaRPr lang="en-US" altLang="en-US" dirty="0"/>
          </a:p>
        </p:txBody>
      </p:sp>
    </p:spTree>
    <p:extLst>
      <p:ext uri="{BB962C8B-B14F-4D97-AF65-F5344CB8AC3E}">
        <p14:creationId xmlns:p14="http://schemas.microsoft.com/office/powerpoint/2010/main" val="32190218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a:r>
              <a:rPr lang="en-US" b="0" i="0" dirty="0">
                <a:solidFill>
                  <a:srgbClr val="848484"/>
                </a:solidFill>
                <a:effectLst/>
                <a:latin typeface="Lato"/>
              </a:rPr>
              <a:t>This is the event that kick starts each Sprint and is where the Product Owner and Development team discuss which Product Backlog Items (PBI’s) will be included in Sprint. While the Product Owner has the right to prioritize each PBI for potential inclusion in the Sprint, the Development team are encouraged to respond, raise issues and push back where necessary. The Development Team then forecasts how many PBI’s they can deliver in the Sprint, given their knowledge of velocity, resources and any factors which could influence the time and resources they have available.</a:t>
            </a:r>
          </a:p>
          <a:p>
            <a:pPr algn="l"/>
            <a:r>
              <a:rPr lang="en-US" b="0" i="0" dirty="0">
                <a:solidFill>
                  <a:srgbClr val="848484"/>
                </a:solidFill>
                <a:effectLst/>
                <a:latin typeface="Lato"/>
              </a:rPr>
              <a:t>The outcome of the Sprint Planning Meeting is to get a Sprint Goal and Sprint Backlog that everyone agrees is realistic and achievable.</a:t>
            </a:r>
          </a:p>
          <a:p>
            <a:endParaRPr lang="en-US" altLang="en-US" dirty="0"/>
          </a:p>
        </p:txBody>
      </p:sp>
    </p:spTree>
    <p:extLst>
      <p:ext uri="{BB962C8B-B14F-4D97-AF65-F5344CB8AC3E}">
        <p14:creationId xmlns:p14="http://schemas.microsoft.com/office/powerpoint/2010/main" val="40434754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41976065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algn="l"/>
            <a:r>
              <a:rPr lang="en-US" b="0" i="0" dirty="0">
                <a:solidFill>
                  <a:srgbClr val="848484"/>
                </a:solidFill>
                <a:effectLst/>
                <a:latin typeface="Lato"/>
              </a:rPr>
              <a:t>Scrum seeks to efficiently use your time and resources and the Daily Scrum event is no exception. The Daily Scrum is time boxed to 15 minutes. Standing up is not compulsory. However, many teams find this a useful technique to keep the meeting short and to the point.</a:t>
            </a:r>
          </a:p>
          <a:p>
            <a:pPr algn="l"/>
            <a:r>
              <a:rPr lang="en-US" b="0" i="0" dirty="0">
                <a:solidFill>
                  <a:srgbClr val="848484"/>
                </a:solidFill>
                <a:effectLst/>
                <a:latin typeface="Lato"/>
              </a:rPr>
              <a:t>The Daily Scrum is an opportunity for the Development Team to check in, assess progress towards achieving the Sprint Goal and to review and plan their activities for the next 24 hours.</a:t>
            </a:r>
          </a:p>
          <a:p>
            <a:endParaRPr lang="en-US" altLang="en-US" dirty="0"/>
          </a:p>
        </p:txBody>
      </p:sp>
    </p:spTree>
    <p:extLst>
      <p:ext uri="{BB962C8B-B14F-4D97-AF65-F5344CB8AC3E}">
        <p14:creationId xmlns:p14="http://schemas.microsoft.com/office/powerpoint/2010/main" val="35048251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263105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848484"/>
                </a:solidFill>
                <a:effectLst/>
                <a:latin typeface="Lato"/>
              </a:rPr>
              <a:t>A Sprint Review usually takes place on the last day of the Sprint and allows you the opportunity to show the “done” Increment to stakeholders (customers, management and anyone else considered relevant and interested). As well as demonstrating working features produced during the Sprint, you’re also after useful feedback that can be incorporated the Product Backlog that may help guide the work for future sprints.</a:t>
            </a:r>
            <a:endParaRPr lang="en-US" altLang="en-US" dirty="0"/>
          </a:p>
        </p:txBody>
      </p:sp>
    </p:spTree>
    <p:extLst>
      <p:ext uri="{BB962C8B-B14F-4D97-AF65-F5344CB8AC3E}">
        <p14:creationId xmlns:p14="http://schemas.microsoft.com/office/powerpoint/2010/main" val="13338103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749916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848484"/>
                </a:solidFill>
                <a:effectLst/>
                <a:latin typeface="Lato"/>
              </a:rPr>
              <a:t>The final meeting in the Sprint is the Sprint Retrospective. This is when the Scrum team reviews what could be improved for future Sprints and how they should do it. The ethos of Scrum dictates that no matter how good the Scrum team is, there will always be opportunity to improve and the Sprint Retrospective gives the team a dedicated time in which to identify, discuss and plan this. The whole Scrum Team should take part including the Development Team, the Scrum Master and the Product Owner. The meeting should be a collaborative effort, just like the entire Scrum and Agile process.</a:t>
            </a:r>
            <a:endParaRPr lang="en-US" altLang="en-US" dirty="0"/>
          </a:p>
        </p:txBody>
      </p:sp>
    </p:spTree>
    <p:extLst>
      <p:ext uri="{BB962C8B-B14F-4D97-AF65-F5344CB8AC3E}">
        <p14:creationId xmlns:p14="http://schemas.microsoft.com/office/powerpoint/2010/main" val="16777541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550065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482840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171450" indent="-171450">
              <a:buFont typeface="Arial" panose="020B0604020202020204" pitchFamily="34" charset="0"/>
              <a:buChar char="•"/>
            </a:pPr>
            <a:r>
              <a:rPr lang="en-US" altLang="en-US" dirty="0"/>
              <a:t>Scrum’s Artifacts represents work or value to provide transparency and opportunities for inspection and adaptation.</a:t>
            </a:r>
          </a:p>
          <a:p>
            <a:pPr marL="171450" indent="-171450">
              <a:buFont typeface="Arial" panose="020B0604020202020204" pitchFamily="34" charset="0"/>
              <a:buChar char="•"/>
            </a:pPr>
            <a:r>
              <a:rPr lang="en-US" altLang="en-US" dirty="0"/>
              <a:t>Artifacts defined by scrum are specifically designed to maximize transparency of key information so that everybody has the same understanding of the artifacts.</a:t>
            </a:r>
          </a:p>
        </p:txBody>
      </p:sp>
    </p:spTree>
    <p:extLst>
      <p:ext uri="{BB962C8B-B14F-4D97-AF65-F5344CB8AC3E}">
        <p14:creationId xmlns:p14="http://schemas.microsoft.com/office/powerpoint/2010/main" val="39219572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What is a Product  </a:t>
            </a:r>
          </a:p>
          <a:p>
            <a:pPr marL="0" marR="0">
              <a:spcBef>
                <a:spcPts val="0"/>
              </a:spcBef>
              <a:spcAft>
                <a:spcPts val="0"/>
              </a:spcAft>
            </a:pPr>
            <a:r>
              <a:rPr lang="en-US" sz="2800" b="0" i="0" dirty="0">
                <a:effectLst/>
                <a:latin typeface="Roboto"/>
              </a:rPr>
              <a:t>Product Backlog is really the king, because none of these Scrum-related actions couldn’t happen without it.</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 product is something of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Value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that a customer would be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willing to pay for </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and something “we” would be willing to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“package”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up and sell.</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171450" indent="-171450">
              <a:buFont typeface="Arial" panose="020B0604020202020204" pitchFamily="34" charset="0"/>
              <a:buChar char="•"/>
            </a:pPr>
            <a:endParaRPr lang="en-US" altLang="en-US" dirty="0"/>
          </a:p>
        </p:txBody>
      </p:sp>
    </p:spTree>
    <p:extLst>
      <p:ext uri="{BB962C8B-B14F-4D97-AF65-F5344CB8AC3E}">
        <p14:creationId xmlns:p14="http://schemas.microsoft.com/office/powerpoint/2010/main" val="17320549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Font typeface="Arial" panose="020B0604020202020204" pitchFamily="34" charset="0"/>
              <a:buNone/>
            </a:pPr>
            <a:r>
              <a:rPr lang="en-US" b="1" i="0" dirty="0">
                <a:effectLst/>
                <a:latin typeface="Roboto"/>
              </a:rPr>
              <a:t>The Product Backlog is an ordered list of everything that is known to be needed in the product.</a:t>
            </a:r>
          </a:p>
          <a:p>
            <a:pPr marL="0" indent="0">
              <a:buFont typeface="Arial" panose="020B0604020202020204" pitchFamily="34" charset="0"/>
              <a:buNone/>
            </a:pPr>
            <a:r>
              <a:rPr lang="en-US" b="0" i="0" dirty="0">
                <a:effectLst/>
                <a:latin typeface="Roboto"/>
              </a:rPr>
              <a:t>First of all, it is </a:t>
            </a:r>
            <a:r>
              <a:rPr lang="en-US" b="1" i="0" dirty="0">
                <a:effectLst/>
                <a:latin typeface="Roboto"/>
              </a:rPr>
              <a:t>one source of truth</a:t>
            </a:r>
            <a:r>
              <a:rPr lang="en-US" b="0" i="0" dirty="0">
                <a:effectLst/>
                <a:latin typeface="Roboto"/>
              </a:rPr>
              <a:t> that will tell you what is required for a product.</a:t>
            </a:r>
          </a:p>
          <a:p>
            <a:pPr marL="0" indent="0">
              <a:buFont typeface="Arial" panose="020B0604020202020204" pitchFamily="34" charset="0"/>
              <a:buNone/>
            </a:pPr>
            <a:r>
              <a:rPr lang="en-US" b="0" i="1" dirty="0">
                <a:effectLst/>
                <a:latin typeface="Roboto"/>
              </a:rPr>
              <a:t>The Product Backlog lists all features, functions, requirements, enhancements, and fixes that constitute the changes to be made to the product in future releases.</a:t>
            </a:r>
            <a:endParaRPr lang="en-US" altLang="en-US" b="1" i="0" dirty="0"/>
          </a:p>
        </p:txBody>
      </p:sp>
    </p:spTree>
    <p:extLst>
      <p:ext uri="{BB962C8B-B14F-4D97-AF65-F5344CB8AC3E}">
        <p14:creationId xmlns:p14="http://schemas.microsoft.com/office/powerpoint/2010/main" val="22434938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78426788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Font typeface="Arial" panose="020B0604020202020204" pitchFamily="34" charset="0"/>
              <a:buNone/>
            </a:pPr>
            <a:r>
              <a:rPr lang="en-US" b="0" i="0" dirty="0">
                <a:solidFill>
                  <a:schemeClr val="tx1"/>
                </a:solidFill>
                <a:effectLst/>
                <a:latin typeface="Roboto"/>
              </a:rPr>
              <a:t>If Product Backlog is a king or queen of the Scrum Artifacts, Sprint Backlog can be called their beloved child.</a:t>
            </a:r>
          </a:p>
          <a:p>
            <a:pPr marL="0" indent="0">
              <a:buFont typeface="Arial" panose="020B0604020202020204" pitchFamily="34" charset="0"/>
              <a:buNone/>
            </a:pPr>
            <a:r>
              <a:rPr lang="en-US" b="0" i="0" dirty="0">
                <a:solidFill>
                  <a:schemeClr val="tx1"/>
                </a:solidFill>
                <a:effectLst/>
                <a:latin typeface="Roboto"/>
              </a:rPr>
              <a:t>The Sprint Backlog is the </a:t>
            </a:r>
            <a:r>
              <a:rPr lang="en-US" b="1" i="0" dirty="0">
                <a:solidFill>
                  <a:schemeClr val="tx1"/>
                </a:solidFill>
                <a:effectLst/>
                <a:latin typeface="Roboto"/>
              </a:rPr>
              <a:t>set of Product Backlog items selected for the Sprint, </a:t>
            </a:r>
            <a:r>
              <a:rPr lang="en-US" b="0" i="0" dirty="0">
                <a:solidFill>
                  <a:schemeClr val="tx1"/>
                </a:solidFill>
                <a:effectLst/>
                <a:latin typeface="Roboto"/>
              </a:rPr>
              <a:t>plus a plan for delivering the product Increment and realizing the Sprint Goal.</a:t>
            </a:r>
          </a:p>
          <a:p>
            <a:pPr marL="0" indent="0">
              <a:buFont typeface="Arial" panose="020B0604020202020204" pitchFamily="34" charset="0"/>
              <a:buNone/>
            </a:pPr>
            <a:r>
              <a:rPr lang="en-US" b="0" i="0" dirty="0">
                <a:solidFill>
                  <a:schemeClr val="tx1"/>
                </a:solidFill>
                <a:effectLst/>
                <a:latin typeface="Roboto"/>
              </a:rPr>
              <a:t>The Sprint Backlog makes visible all the work that the Development Team identifies as necessary to meet the </a:t>
            </a:r>
            <a:r>
              <a:rPr lang="en-US" b="0" i="0" u="none" strike="noStrike" dirty="0">
                <a:solidFill>
                  <a:schemeClr val="tx1"/>
                </a:solidFill>
                <a:effectLst/>
                <a:latin typeface="Roboto"/>
                <a:hlinkClick r:id="rId3">
                  <a:extLst>
                    <a:ext uri="{A12FA001-AC4F-418D-AE19-62706E023703}">
                      <ahyp:hlinkClr xmlns:ahyp="http://schemas.microsoft.com/office/drawing/2018/hyperlinkcolor" val="tx"/>
                    </a:ext>
                  </a:extLst>
                </a:hlinkClick>
              </a:rPr>
              <a:t>Sprint Goal</a:t>
            </a:r>
            <a:r>
              <a:rPr lang="en-US" b="0" i="0" dirty="0">
                <a:solidFill>
                  <a:schemeClr val="tx1"/>
                </a:solidFill>
                <a:effectLst/>
                <a:latin typeface="Roboto"/>
              </a:rPr>
              <a:t>.</a:t>
            </a:r>
            <a:endParaRPr lang="en-US" altLang="en-US" i="0" dirty="0">
              <a:solidFill>
                <a:schemeClr val="tx1"/>
              </a:solidFill>
            </a:endParaRPr>
          </a:p>
        </p:txBody>
      </p:sp>
    </p:spTree>
    <p:extLst>
      <p:ext uri="{BB962C8B-B14F-4D97-AF65-F5344CB8AC3E}">
        <p14:creationId xmlns:p14="http://schemas.microsoft.com/office/powerpoint/2010/main" val="193437997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568269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pPr marL="0" indent="0">
              <a:buFont typeface="Arial" panose="020B0604020202020204" pitchFamily="34" charset="0"/>
              <a:buNone/>
            </a:pPr>
            <a:r>
              <a:rPr lang="en-US" b="0" i="0" dirty="0">
                <a:effectLst/>
                <a:latin typeface="Roboto"/>
              </a:rPr>
              <a:t>Artifacts in Scrum which is the result of all actions in the</a:t>
            </a:r>
            <a:r>
              <a:rPr lang="en-US" b="0" i="0" dirty="0">
                <a:solidFill>
                  <a:schemeClr val="tx1"/>
                </a:solidFill>
                <a:effectLst/>
                <a:latin typeface="Roboto"/>
              </a:rPr>
              <a:t> </a:t>
            </a:r>
            <a:r>
              <a:rPr lang="en-US" b="0" i="0" u="none" strike="noStrike" dirty="0">
                <a:solidFill>
                  <a:schemeClr val="tx1"/>
                </a:solidFill>
                <a:effectLst/>
                <a:latin typeface="Roboto"/>
              </a:rPr>
              <a:t>sprint</a:t>
            </a:r>
            <a:r>
              <a:rPr lang="en-US" b="0" i="0" dirty="0">
                <a:solidFill>
                  <a:schemeClr val="tx1"/>
                </a:solidFill>
                <a:effectLst/>
                <a:latin typeface="Roboto"/>
              </a:rPr>
              <a:t> - </a:t>
            </a:r>
            <a:r>
              <a:rPr lang="en-US" b="1" i="0" dirty="0">
                <a:effectLst/>
                <a:latin typeface="Roboto"/>
              </a:rPr>
              <a:t>the Increment</a:t>
            </a:r>
            <a:r>
              <a:rPr lang="en-US" b="0" i="0" dirty="0">
                <a:effectLst/>
                <a:latin typeface="Roboto"/>
              </a:rPr>
              <a:t>.</a:t>
            </a:r>
          </a:p>
          <a:p>
            <a:pPr marL="0" indent="0">
              <a:buFont typeface="Arial" panose="020B0604020202020204" pitchFamily="34" charset="0"/>
              <a:buNone/>
            </a:pPr>
            <a:r>
              <a:rPr lang="en-US" b="1" i="0" dirty="0">
                <a:effectLst/>
                <a:latin typeface="Roboto"/>
              </a:rPr>
              <a:t>The Increment is the sum of all the Product Backlog items completed during a Sprint and the value of the increments of all previous Sprints</a:t>
            </a:r>
            <a:endParaRPr lang="en-US" altLang="en-US" b="1" i="0" dirty="0"/>
          </a:p>
        </p:txBody>
      </p:sp>
    </p:spTree>
    <p:extLst>
      <p:ext uri="{BB962C8B-B14F-4D97-AF65-F5344CB8AC3E}">
        <p14:creationId xmlns:p14="http://schemas.microsoft.com/office/powerpoint/2010/main" val="21278077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696274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737C85"/>
                </a:solidFill>
                <a:effectLst/>
                <a:latin typeface="Open Sans"/>
              </a:rPr>
              <a:t>A burn down chart is a graphical representation of </a:t>
            </a:r>
            <a:r>
              <a:rPr lang="en-US" b="1" i="0" dirty="0">
                <a:solidFill>
                  <a:srgbClr val="737C85"/>
                </a:solidFill>
                <a:effectLst/>
                <a:latin typeface="Open Sans"/>
              </a:rPr>
              <a:t>work left to do</a:t>
            </a:r>
            <a:r>
              <a:rPr lang="en-US" b="0" i="0" dirty="0">
                <a:solidFill>
                  <a:srgbClr val="737C85"/>
                </a:solidFill>
                <a:effectLst/>
                <a:latin typeface="Open Sans"/>
              </a:rPr>
              <a:t> versus </a:t>
            </a:r>
            <a:r>
              <a:rPr lang="en-US" b="1" i="0" dirty="0">
                <a:solidFill>
                  <a:srgbClr val="737C85"/>
                </a:solidFill>
                <a:effectLst/>
                <a:latin typeface="Open Sans"/>
              </a:rPr>
              <a:t>time. (remaining) </a:t>
            </a:r>
          </a:p>
          <a:p>
            <a:endParaRPr lang="en-US" altLang="en-US" b="1" dirty="0"/>
          </a:p>
        </p:txBody>
      </p:sp>
    </p:spTree>
    <p:extLst>
      <p:ext uri="{BB962C8B-B14F-4D97-AF65-F5344CB8AC3E}">
        <p14:creationId xmlns:p14="http://schemas.microsoft.com/office/powerpoint/2010/main" val="27542076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6510711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3/7/2021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r>
              <a:rPr lang="en-US" b="0" i="0" dirty="0">
                <a:solidFill>
                  <a:srgbClr val="000000"/>
                </a:solidFill>
                <a:effectLst/>
                <a:latin typeface="Rubik"/>
              </a:rPr>
              <a:t>It is a visual representation of a team’s work process</a:t>
            </a:r>
            <a:r>
              <a:rPr lang="en-US" b="1" i="0" dirty="0">
                <a:solidFill>
                  <a:srgbClr val="000000"/>
                </a:solidFill>
                <a:effectLst/>
                <a:latin typeface="Rubik"/>
              </a:rPr>
              <a:t>. It displays the scope of a project and the work completed.</a:t>
            </a:r>
          </a:p>
          <a:p>
            <a:r>
              <a:rPr lang="en-US" b="0" i="0" dirty="0">
                <a:solidFill>
                  <a:srgbClr val="000000"/>
                </a:solidFill>
                <a:effectLst/>
                <a:latin typeface="Rubik"/>
              </a:rPr>
              <a:t>A burn-down chart shows the amount of work remaining on a project (the </a:t>
            </a:r>
            <a:r>
              <a:rPr lang="en-US" b="1" i="0" dirty="0">
                <a:solidFill>
                  <a:srgbClr val="000000"/>
                </a:solidFill>
                <a:effectLst/>
                <a:latin typeface="Rubik"/>
              </a:rPr>
              <a:t>remaining effort</a:t>
            </a:r>
            <a:r>
              <a:rPr lang="en-US" b="0" i="0" dirty="0">
                <a:solidFill>
                  <a:srgbClr val="000000"/>
                </a:solidFill>
                <a:effectLst/>
                <a:latin typeface="Rubik"/>
              </a:rPr>
              <a:t>), whereas a burn-up chart shows how much work has </a:t>
            </a:r>
            <a:r>
              <a:rPr lang="en-US" b="1" i="0" dirty="0">
                <a:solidFill>
                  <a:srgbClr val="000000"/>
                </a:solidFill>
                <a:effectLst/>
                <a:latin typeface="Rubik"/>
              </a:rPr>
              <a:t>been completed </a:t>
            </a:r>
            <a:r>
              <a:rPr lang="en-US" b="0" i="0" dirty="0">
                <a:solidFill>
                  <a:srgbClr val="000000"/>
                </a:solidFill>
                <a:effectLst/>
                <a:latin typeface="Rubik"/>
              </a:rPr>
              <a:t>and the total scope of the project. In a burn-down chart, the line goes from top to bottom as a team makes progress, while in a burn-up chart the line climbs from the bottom upwards. Both charts use the same axis.  </a:t>
            </a:r>
            <a:endParaRPr lang="en-US" altLang="en-US" b="1" dirty="0"/>
          </a:p>
        </p:txBody>
      </p:sp>
    </p:spTree>
    <p:extLst>
      <p:ext uri="{BB962C8B-B14F-4D97-AF65-F5344CB8AC3E}">
        <p14:creationId xmlns:p14="http://schemas.microsoft.com/office/powerpoint/2010/main" val="8845697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3.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userDrawn="1"/>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userDrawn="1"/>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userDrawn="1"/>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ound Single Corner Rectangle 6"/>
          <p:cNvSpPr/>
          <p:nvPr userDrawn="1"/>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userDrawn="1"/>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userDrawn="1"/>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userDrawn="1"/>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userDrawn="1"/>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userDrawn="1"/>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Arc 10"/>
          <p:cNvSpPr>
            <a:spLocks noChangeAspect="1"/>
          </p:cNvSpPr>
          <p:nvPr userDrawn="1"/>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userDrawn="1"/>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userDrawn="1"/>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0450552-B38F-4EEB-B3F7-964F287A877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96243A8C-8571-4B1B-865B-0AE06F5B3A38}"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63DD3FC1-8B8F-46A3-B85E-093632260D0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Oval 8"/>
          <p:cNvSpPr/>
          <p:nvPr userDrawn="1"/>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userDrawn="1"/>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userDrawn="1"/>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userDrawn="1"/>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Oval 5"/>
          <p:cNvSpPr/>
          <p:nvPr userDrawn="1"/>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userDrawn="1"/>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userDrawn="1"/>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userDrawn="1"/>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userDrawn="1"/>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userDrawn="1"/>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userDrawn="1"/>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userDrawn="1"/>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userDrawn="1"/>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DCC19A6C-97F2-40B8-B2C9-6A0CE13C5205}"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userDrawn="1"/>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userDrawn="1"/>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userDrawn="1"/>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userDrawn="1"/>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userDrawn="1"/>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userDrawn="1"/>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userDrawn="1"/>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userDrawn="1"/>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772400" cy="685800"/>
          </a:xfrm>
        </p:spPr>
        <p:txBody>
          <a:bodyPr/>
          <a:lstStyle/>
          <a:p>
            <a:r>
              <a:rPr lang="en-US" noProof="1"/>
              <a:t>Click to edit Master title style</a:t>
            </a:r>
          </a:p>
        </p:txBody>
      </p:sp>
      <p:sp>
        <p:nvSpPr>
          <p:cNvPr id="3" name="SmartArt Placeholder 2"/>
          <p:cNvSpPr>
            <a:spLocks noGrp="1"/>
          </p:cNvSpPr>
          <p:nvPr>
            <p:ph type="pic" idx="1"/>
          </p:nvPr>
        </p:nvSpPr>
        <p:spPr>
          <a:xfrm>
            <a:off x="381000" y="1219200"/>
            <a:ext cx="7924800" cy="4648200"/>
          </a:xfrm>
        </p:spPr>
        <p:txBody>
          <a:bodyPr rtlCol="0">
            <a:normAutofit/>
          </a:bodyPr>
          <a:lstStyle/>
          <a:p>
            <a:pPr lvl="0"/>
            <a:endParaRPr lang="en-US" noProof="0"/>
          </a:p>
        </p:txBody>
      </p:sp>
      <p:sp>
        <p:nvSpPr>
          <p:cNvPr id="4" name="Rectangle 1029"/>
          <p:cNvSpPr>
            <a:spLocks noGrp="1" noChangeArrowheads="1"/>
          </p:cNvSpPr>
          <p:nvPr>
            <p:ph type="dt" sz="half" idx="10"/>
          </p:nvPr>
        </p:nvSpPr>
        <p:spPr>
          <a:xfrm>
            <a:off x="0" y="0"/>
            <a:ext cx="0" cy="0"/>
          </a:xfrm>
        </p:spPr>
        <p:txBody>
          <a:bodyPr/>
          <a:lstStyle>
            <a:lvl1pPr>
              <a:defRPr/>
            </a:lvl1pPr>
          </a:lstStyle>
          <a:p>
            <a:pPr>
              <a:defRPr/>
            </a:pPr>
            <a:endParaRPr lang="en-US"/>
          </a:p>
        </p:txBody>
      </p:sp>
      <p:sp>
        <p:nvSpPr>
          <p:cNvPr id="5" name="Rectangle 1031"/>
          <p:cNvSpPr>
            <a:spLocks noGrp="1" noChangeArrowheads="1"/>
          </p:cNvSpPr>
          <p:nvPr>
            <p:ph type="sldNum" sz="quarter" idx="11"/>
          </p:nvPr>
        </p:nvSpPr>
        <p:spPr>
          <a:xfrm>
            <a:off x="0" y="0"/>
            <a:ext cx="0" cy="0"/>
          </a:xfrm>
        </p:spPr>
        <p:txBody>
          <a:bodyPr/>
          <a:lstStyle>
            <a:lvl1pPr>
              <a:defRPr/>
            </a:lvl1pPr>
          </a:lstStyle>
          <a:p>
            <a:pPr>
              <a:defRPr/>
            </a:pPr>
            <a:fld id="{557C4883-017D-421A-9754-0B089E9ECB85}"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3.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2051"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2052"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FB28ABBC-DA78-4D5A-81AA-B36017CC35B4}" type="slidenum">
              <a:rPr lang="en-GB" sz="790" smtClean="0">
                <a:solidFill>
                  <a:schemeClr val="bg1">
                    <a:lumMod val="50000"/>
                  </a:schemeClr>
                </a:solidFill>
              </a:rPr>
              <a:t>‹#›</a:t>
            </a:fld>
            <a:endParaRPr lang="en-GB" sz="790" dirty="0">
              <a:solidFill>
                <a:schemeClr val="bg1">
                  <a:lumMod val="50000"/>
                </a:schemeClr>
              </a:solidFill>
            </a:endParaRPr>
          </a:p>
        </p:txBody>
      </p:sp>
      <p:pic>
        <p:nvPicPr>
          <p:cNvPr id="2055"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a:off x="5113338" y="2514600"/>
            <a:ext cx="4030662" cy="1149350"/>
          </a:xfrm>
        </p:spPr>
        <p:txBody>
          <a:bodyPr/>
          <a:lstStyle/>
          <a:p>
            <a:pPr algn="ctr" eaLnBrk="1" hangingPunct="1"/>
            <a:r>
              <a:rPr lang="en-US" altLang="de-DE" sz="4000" dirty="0"/>
              <a:t>Agile-DB Systel</a:t>
            </a:r>
            <a:br>
              <a:rPr lang="en-US" altLang="de-DE" sz="4000" dirty="0"/>
            </a:br>
            <a:r>
              <a:rPr lang="en-US" altLang="de-DE" sz="4000" dirty="0"/>
              <a:t>Basics </a:t>
            </a:r>
          </a:p>
        </p:txBody>
      </p:sp>
      <p:sp>
        <p:nvSpPr>
          <p:cNvPr id="3" name="Text Placeholder 2"/>
          <p:cNvSpPr>
            <a:spLocks noGrp="1"/>
          </p:cNvSpPr>
          <p:nvPr>
            <p:ph type="body" sz="quarter" idx="16"/>
          </p:nvPr>
        </p:nvSpPr>
        <p:spPr>
          <a:xfrm>
            <a:off x="7159505" y="5270444"/>
            <a:ext cx="1984375" cy="292100"/>
          </a:xfrm>
        </p:spPr>
        <p:txBody>
          <a:bodyPr rtlCol="0"/>
          <a:lstStyle/>
          <a:p>
            <a:pPr eaLnBrk="1" fontAlgn="auto" hangingPunct="1">
              <a:spcAft>
                <a:spcPts val="0"/>
              </a:spcAft>
              <a:defRPr/>
            </a:pPr>
            <a:r>
              <a:rPr lang="en-US" dirty="0"/>
              <a:t>Neeraj Vohra</a:t>
            </a:r>
          </a:p>
        </p:txBody>
      </p:sp>
      <p:pic>
        <p:nvPicPr>
          <p:cNvPr id="29700" name="Picture 11" descr="DB-MNL_rgb_M"/>
          <p:cNvPicPr>
            <a:picLocks noChangeAspect="1" noChangeArrowheads="1"/>
          </p:cNvPicPr>
          <p:nvPr/>
        </p:nvPicPr>
        <p:blipFill>
          <a:blip r:embed="rId3">
            <a:extLst>
              <a:ext uri="{28A0092B-C50C-407E-A947-70E740481C1C}">
                <a14:useLocalDpi xmlns:a14="http://schemas.microsoft.com/office/drawing/2010/main" val="0"/>
              </a:ext>
            </a:extLst>
          </a:blip>
          <a:srcRect l="-2255" t="-46503" r="-16711" b="-14403"/>
          <a:stretch>
            <a:fillRect/>
          </a:stretch>
        </p:blipFill>
        <p:spPr bwMode="auto">
          <a:xfrm>
            <a:off x="4570413" y="5791200"/>
            <a:ext cx="19843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Recap….</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86700" cy="5029122"/>
          </a:xfrm>
        </p:spPr>
        <p:txBody>
          <a:bodyPr/>
          <a:lstStyle/>
          <a:p>
            <a:r>
              <a:rPr lang="en-US" sz="1800" dirty="0">
                <a:latin typeface="Calibri" panose="020F0502020204030204" pitchFamily="34" charset="0"/>
                <a:ea typeface="SimSun" panose="02010600030101010101" pitchFamily="2" charset="-122"/>
                <a:cs typeface="Times New Roman" panose="02020603050405020304" pitchFamily="18" charset="0"/>
              </a:rPr>
              <a:t>As a S/W professional , our main goal is developing a S/W, deliver the S/W to the customer and maintain the S/W, ensure that must be used by end users.</a:t>
            </a:r>
          </a:p>
          <a:p>
            <a:r>
              <a:rPr lang="en-US" sz="1800" dirty="0">
                <a:effectLst/>
                <a:latin typeface="Calibri" panose="020F0502020204030204" pitchFamily="34" charset="0"/>
                <a:ea typeface="SimSun" panose="02010600030101010101" pitchFamily="2" charset="-122"/>
                <a:cs typeface="Times New Roman" panose="02020603050405020304" pitchFamily="18" charset="0"/>
              </a:rPr>
              <a:t>S/W is a piece of code serves some business requirements.</a:t>
            </a:r>
          </a:p>
          <a:p>
            <a:r>
              <a:rPr lang="en-US" sz="1800" dirty="0">
                <a:effectLst/>
                <a:latin typeface="Calibri" panose="020F0502020204030204" pitchFamily="34" charset="0"/>
                <a:ea typeface="SimSun" panose="02010600030101010101" pitchFamily="2" charset="-122"/>
                <a:cs typeface="Times New Roman" panose="02020603050405020304" pitchFamily="18" charset="0"/>
              </a:rPr>
              <a:t>To deliver the same, we are following some processes called SDLC models.</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556B6714-3557-4892-977B-F7E9FF863454}"/>
              </a:ext>
            </a:extLst>
          </p:cNvPr>
          <p:cNvPicPr>
            <a:picLocks noChangeAspect="1"/>
          </p:cNvPicPr>
          <p:nvPr/>
        </p:nvPicPr>
        <p:blipFill>
          <a:blip r:embed="rId3"/>
          <a:stretch>
            <a:fillRect/>
          </a:stretch>
        </p:blipFill>
        <p:spPr>
          <a:xfrm>
            <a:off x="1295486" y="2828843"/>
            <a:ext cx="5524500" cy="372427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Recap….</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86700" cy="5029122"/>
          </a:xfrm>
        </p:spPr>
        <p:txBody>
          <a:bodyPr/>
          <a:lstStyle/>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19" name="Picture 18">
            <a:extLst>
              <a:ext uri="{FF2B5EF4-FFF2-40B4-BE49-F238E27FC236}">
                <a16:creationId xmlns:a16="http://schemas.microsoft.com/office/drawing/2014/main" id="{A152FD35-051B-4F10-8092-5178527CCF5B}"/>
              </a:ext>
            </a:extLst>
          </p:cNvPr>
          <p:cNvPicPr/>
          <p:nvPr/>
        </p:nvPicPr>
        <p:blipFill>
          <a:blip r:embed="rId3"/>
          <a:stretch>
            <a:fillRect/>
          </a:stretch>
        </p:blipFill>
        <p:spPr>
          <a:xfrm>
            <a:off x="685800" y="1066722"/>
            <a:ext cx="7326313" cy="4667328"/>
          </a:xfrm>
          <a:prstGeom prst="rect">
            <a:avLst/>
          </a:prstGeom>
        </p:spPr>
      </p:pic>
    </p:spTree>
    <p:extLst>
      <p:ext uri="{BB962C8B-B14F-4D97-AF65-F5344CB8AC3E}">
        <p14:creationId xmlns:p14="http://schemas.microsoft.com/office/powerpoint/2010/main" val="40839112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3200" dirty="0"/>
              <a:t>Various SDLC Models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381110" y="1200206"/>
            <a:ext cx="7881147" cy="4629094"/>
          </a:xfrm>
        </p:spPr>
        <p:txBody>
          <a:bodyPr/>
          <a:lstStyle/>
          <a:p>
            <a:r>
              <a:rPr lang="en-US" sz="1800" dirty="0">
                <a:effectLst/>
                <a:latin typeface="Calibri" panose="020F0502020204030204" pitchFamily="34" charset="0"/>
                <a:ea typeface="SimSun" panose="02010600030101010101" pitchFamily="2" charset="-122"/>
                <a:cs typeface="Times New Roman" panose="02020603050405020304" pitchFamily="18" charset="0"/>
              </a:rPr>
              <a:t>How we are delivering the S/W to the customer over the years.</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18" name="Picture 17">
            <a:extLst>
              <a:ext uri="{FF2B5EF4-FFF2-40B4-BE49-F238E27FC236}">
                <a16:creationId xmlns:a16="http://schemas.microsoft.com/office/drawing/2014/main" id="{16C21123-F442-46DF-B727-67E39C2E4932}"/>
              </a:ext>
            </a:extLst>
          </p:cNvPr>
          <p:cNvPicPr/>
          <p:nvPr/>
        </p:nvPicPr>
        <p:blipFill>
          <a:blip r:embed="rId3"/>
          <a:stretch>
            <a:fillRect/>
          </a:stretch>
        </p:blipFill>
        <p:spPr>
          <a:xfrm>
            <a:off x="1696085" y="1981238"/>
            <a:ext cx="5751830" cy="2908935"/>
          </a:xfrm>
          <a:prstGeom prst="rect">
            <a:avLst/>
          </a:prstGeom>
          <a:noFill/>
          <a:ln>
            <a:noFill/>
          </a:ln>
        </p:spPr>
      </p:pic>
    </p:spTree>
    <p:extLst>
      <p:ext uri="{BB962C8B-B14F-4D97-AF65-F5344CB8AC3E}">
        <p14:creationId xmlns:p14="http://schemas.microsoft.com/office/powerpoint/2010/main" val="5567112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r>
              <a:rPr lang="en-US" sz="3200"/>
              <a:t>Waterfall</a:t>
            </a: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0" name="Picture 19">
            <a:extLst>
              <a:ext uri="{FF2B5EF4-FFF2-40B4-BE49-F238E27FC236}">
                <a16:creationId xmlns:a16="http://schemas.microsoft.com/office/drawing/2014/main" id="{BAA7B206-04C6-4CB8-A30D-3B8026F0DF9E}"/>
              </a:ext>
            </a:extLst>
          </p:cNvPr>
          <p:cNvPicPr/>
          <p:nvPr/>
        </p:nvPicPr>
        <p:blipFill>
          <a:blip r:embed="rId3"/>
          <a:stretch>
            <a:fillRect/>
          </a:stretch>
        </p:blipFill>
        <p:spPr>
          <a:xfrm>
            <a:off x="685800" y="1600248"/>
            <a:ext cx="7615238" cy="3352711"/>
          </a:xfrm>
          <a:prstGeom prst="rect">
            <a:avLst/>
          </a:prstGeom>
        </p:spPr>
      </p:pic>
    </p:spTree>
    <p:extLst>
      <p:ext uri="{BB962C8B-B14F-4D97-AF65-F5344CB8AC3E}">
        <p14:creationId xmlns:p14="http://schemas.microsoft.com/office/powerpoint/2010/main" val="31253430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Title 1">
            <a:extLst>
              <a:ext uri="{FF2B5EF4-FFF2-40B4-BE49-F238E27FC236}">
                <a16:creationId xmlns:a16="http://schemas.microsoft.com/office/drawing/2014/main" id="{CEC6BFF8-D610-4680-9719-94D5EB74BC26}"/>
              </a:ext>
            </a:extLst>
          </p:cNvPr>
          <p:cNvSpPr txBox="1"/>
          <p:nvPr/>
        </p:nvSpPr>
        <p:spPr bwMode="auto">
          <a:xfrm>
            <a:off x="2627313" y="1828848"/>
            <a:ext cx="5983287" cy="1765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Autofit/>
          </a:bodyPr>
          <a:lstStyle>
            <a:lvl1pPr algn="l" rtl="0" eaLnBrk="0" fontAlgn="base" hangingPunct="0">
              <a:spcBef>
                <a:spcPct val="0"/>
              </a:spcBef>
              <a:spcAft>
                <a:spcPct val="0"/>
              </a:spcAft>
              <a:defRPr sz="2400" b="1" kern="1200">
                <a:solidFill>
                  <a:srgbClr val="0070C0"/>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9pPr>
          </a:lstStyle>
          <a:p>
            <a:r>
              <a:rPr lang="en-US" sz="9600" dirty="0">
                <a:solidFill>
                  <a:srgbClr val="F6B000"/>
                </a:solidFill>
                <a:latin typeface="+mn-lt"/>
                <a:ea typeface="+mn-ea"/>
                <a:cs typeface="Arial" panose="020B0604020202020204" pitchFamily="34" charset="0"/>
              </a:rPr>
              <a:t>AGILE</a:t>
            </a:r>
          </a:p>
        </p:txBody>
      </p:sp>
      <p:sp>
        <p:nvSpPr>
          <p:cNvPr id="3" name="TextBox 2">
            <a:extLst>
              <a:ext uri="{FF2B5EF4-FFF2-40B4-BE49-F238E27FC236}">
                <a16:creationId xmlns:a16="http://schemas.microsoft.com/office/drawing/2014/main" id="{525A8D54-F6C9-4D8D-A4DA-7B4FBC42F68D}"/>
              </a:ext>
            </a:extLst>
          </p:cNvPr>
          <p:cNvSpPr txBox="1"/>
          <p:nvPr/>
        </p:nvSpPr>
        <p:spPr>
          <a:xfrm>
            <a:off x="4913313" y="2964407"/>
            <a:ext cx="2819400" cy="769441"/>
          </a:xfrm>
          <a:prstGeom prst="rect">
            <a:avLst/>
          </a:prstGeom>
          <a:noFill/>
        </p:spPr>
        <p:txBody>
          <a:bodyPr wrap="square" rtlCol="0">
            <a:spAutoFit/>
          </a:bodyPr>
          <a:lstStyle/>
          <a:p>
            <a:r>
              <a:rPr lang="en-US" sz="4400" b="1" dirty="0">
                <a:solidFill>
                  <a:schemeClr val="tx2">
                    <a:lumMod val="40000"/>
                    <a:lumOff val="60000"/>
                  </a:schemeClr>
                </a:solidFill>
                <a:latin typeface="+mn-lt"/>
              </a:rPr>
              <a:t>Iterative</a:t>
            </a:r>
            <a:endParaRPr lang="en-US" sz="4400" b="1" dirty="0">
              <a:solidFill>
                <a:schemeClr val="tx2">
                  <a:lumMod val="40000"/>
                  <a:lumOff val="60000"/>
                </a:schemeClr>
              </a:solidFill>
              <a:effectLst>
                <a:innerShdw blurRad="63500" dist="50800" dir="16200000">
                  <a:prstClr val="black">
                    <a:alpha val="50000"/>
                  </a:prstClr>
                </a:innerShdw>
              </a:effectLst>
              <a:latin typeface="+mn-lt"/>
            </a:endParaRPr>
          </a:p>
        </p:txBody>
      </p:sp>
      <p:sp>
        <p:nvSpPr>
          <p:cNvPr id="4" name="TextBox 3">
            <a:extLst>
              <a:ext uri="{FF2B5EF4-FFF2-40B4-BE49-F238E27FC236}">
                <a16:creationId xmlns:a16="http://schemas.microsoft.com/office/drawing/2014/main" id="{E2486F36-33FB-4038-9A73-D1CBC72D8FE4}"/>
              </a:ext>
            </a:extLst>
          </p:cNvPr>
          <p:cNvSpPr txBox="1"/>
          <p:nvPr/>
        </p:nvSpPr>
        <p:spPr>
          <a:xfrm>
            <a:off x="4267200" y="1770792"/>
            <a:ext cx="2819400" cy="584775"/>
          </a:xfrm>
          <a:prstGeom prst="rect">
            <a:avLst/>
          </a:prstGeom>
          <a:noFill/>
        </p:spPr>
        <p:txBody>
          <a:bodyPr wrap="square" rtlCol="0">
            <a:spAutoFit/>
          </a:bodyPr>
          <a:lstStyle/>
          <a:p>
            <a:r>
              <a:rPr lang="en-US" sz="3200" b="1" dirty="0">
                <a:solidFill>
                  <a:schemeClr val="accent3">
                    <a:lumMod val="40000"/>
                    <a:lumOff val="60000"/>
                  </a:schemeClr>
                </a:solidFill>
                <a:latin typeface="+mn-lt"/>
              </a:rPr>
              <a:t>Adaptable</a:t>
            </a:r>
            <a:endParaRPr lang="en-US" sz="3800" b="1" dirty="0">
              <a:solidFill>
                <a:schemeClr val="accent3">
                  <a:lumMod val="40000"/>
                  <a:lumOff val="60000"/>
                </a:schemeClr>
              </a:solidFill>
              <a:effectLst>
                <a:innerShdw blurRad="63500" dist="50800" dir="16200000">
                  <a:prstClr val="black">
                    <a:alpha val="50000"/>
                  </a:prstClr>
                </a:innerShdw>
              </a:effectLst>
              <a:latin typeface="+mn-lt"/>
            </a:endParaRPr>
          </a:p>
        </p:txBody>
      </p:sp>
      <p:sp>
        <p:nvSpPr>
          <p:cNvPr id="5" name="TextBox 4">
            <a:extLst>
              <a:ext uri="{FF2B5EF4-FFF2-40B4-BE49-F238E27FC236}">
                <a16:creationId xmlns:a16="http://schemas.microsoft.com/office/drawing/2014/main" id="{C6D4030B-11FE-4DE7-93BD-EFDBA3CCF4B4}"/>
              </a:ext>
            </a:extLst>
          </p:cNvPr>
          <p:cNvSpPr txBox="1"/>
          <p:nvPr/>
        </p:nvSpPr>
        <p:spPr>
          <a:xfrm>
            <a:off x="2627313" y="1600248"/>
            <a:ext cx="2819400" cy="769441"/>
          </a:xfrm>
          <a:prstGeom prst="rect">
            <a:avLst/>
          </a:prstGeom>
          <a:noFill/>
        </p:spPr>
        <p:txBody>
          <a:bodyPr wrap="square" rtlCol="0">
            <a:spAutoFit/>
          </a:bodyPr>
          <a:lstStyle/>
          <a:p>
            <a:r>
              <a:rPr lang="en-US" sz="4400" b="1" dirty="0">
                <a:solidFill>
                  <a:schemeClr val="accent6">
                    <a:lumMod val="40000"/>
                    <a:lumOff val="60000"/>
                  </a:schemeClr>
                </a:solidFill>
                <a:latin typeface="+mn-lt"/>
              </a:rPr>
              <a:t>Rapid</a:t>
            </a:r>
            <a:endParaRPr lang="en-US" sz="4400" b="1" dirty="0">
              <a:solidFill>
                <a:schemeClr val="accent6">
                  <a:lumMod val="40000"/>
                  <a:lumOff val="60000"/>
                </a:schemeClr>
              </a:solidFill>
              <a:effectLst>
                <a:innerShdw blurRad="63500" dist="50800" dir="16200000">
                  <a:prstClr val="black">
                    <a:alpha val="50000"/>
                  </a:prstClr>
                </a:innerShdw>
              </a:effectLst>
              <a:latin typeface="+mn-lt"/>
            </a:endParaRPr>
          </a:p>
        </p:txBody>
      </p:sp>
      <p:sp>
        <p:nvSpPr>
          <p:cNvPr id="6" name="TextBox 5">
            <a:extLst>
              <a:ext uri="{FF2B5EF4-FFF2-40B4-BE49-F238E27FC236}">
                <a16:creationId xmlns:a16="http://schemas.microsoft.com/office/drawing/2014/main" id="{F0E9C9E5-C36E-4B97-AFC2-70643C5131D4}"/>
              </a:ext>
            </a:extLst>
          </p:cNvPr>
          <p:cNvSpPr txBox="1"/>
          <p:nvPr/>
        </p:nvSpPr>
        <p:spPr>
          <a:xfrm>
            <a:off x="1828800" y="2848476"/>
            <a:ext cx="3810000" cy="769441"/>
          </a:xfrm>
          <a:prstGeom prst="rect">
            <a:avLst/>
          </a:prstGeom>
          <a:noFill/>
        </p:spPr>
        <p:txBody>
          <a:bodyPr wrap="square" rtlCol="0">
            <a:spAutoFit/>
          </a:bodyPr>
          <a:lstStyle/>
          <a:p>
            <a:r>
              <a:rPr lang="en-US" sz="4400" b="1" dirty="0">
                <a:solidFill>
                  <a:schemeClr val="accent5">
                    <a:lumMod val="40000"/>
                    <a:lumOff val="60000"/>
                  </a:schemeClr>
                </a:solidFill>
                <a:latin typeface="+mn-lt"/>
              </a:rPr>
              <a:t>Cooperative</a:t>
            </a:r>
            <a:endParaRPr lang="en-US" sz="4400" b="1" dirty="0">
              <a:solidFill>
                <a:schemeClr val="accent5">
                  <a:lumMod val="40000"/>
                  <a:lumOff val="60000"/>
                </a:schemeClr>
              </a:solidFill>
              <a:effectLst>
                <a:innerShdw blurRad="63500" dist="50800" dir="16200000">
                  <a:prstClr val="black">
                    <a:alpha val="50000"/>
                  </a:prstClr>
                </a:innerShdw>
              </a:effectLst>
              <a:latin typeface="+mn-lt"/>
            </a:endParaRPr>
          </a:p>
        </p:txBody>
      </p:sp>
      <p:sp>
        <p:nvSpPr>
          <p:cNvPr id="10" name="TextBox 9">
            <a:extLst>
              <a:ext uri="{FF2B5EF4-FFF2-40B4-BE49-F238E27FC236}">
                <a16:creationId xmlns:a16="http://schemas.microsoft.com/office/drawing/2014/main" id="{75D6D2DA-CA27-4041-9F3C-A796702CBEBD}"/>
              </a:ext>
            </a:extLst>
          </p:cNvPr>
          <p:cNvSpPr txBox="1"/>
          <p:nvPr/>
        </p:nvSpPr>
        <p:spPr>
          <a:xfrm>
            <a:off x="5675313" y="2438448"/>
            <a:ext cx="2819400" cy="461665"/>
          </a:xfrm>
          <a:prstGeom prst="rect">
            <a:avLst/>
          </a:prstGeom>
          <a:noFill/>
        </p:spPr>
        <p:txBody>
          <a:bodyPr wrap="square" rtlCol="0">
            <a:spAutoFit/>
          </a:bodyPr>
          <a:lstStyle/>
          <a:p>
            <a:r>
              <a:rPr lang="en-US" sz="2400" b="1" dirty="0">
                <a:solidFill>
                  <a:schemeClr val="accent2">
                    <a:lumMod val="40000"/>
                    <a:lumOff val="60000"/>
                  </a:schemeClr>
                </a:solidFill>
                <a:latin typeface="+mn-lt"/>
              </a:rPr>
              <a:t>Quality-driven</a:t>
            </a:r>
            <a:endParaRPr lang="en-US" sz="2400" b="1" dirty="0">
              <a:solidFill>
                <a:schemeClr val="accent2">
                  <a:lumMod val="40000"/>
                  <a:lumOff val="60000"/>
                </a:schemeClr>
              </a:solidFill>
              <a:effectLst>
                <a:innerShdw blurRad="63500" dist="50800" dir="16200000">
                  <a:prstClr val="black">
                    <a:alpha val="50000"/>
                  </a:prstClr>
                </a:innerShdw>
              </a:effectLst>
              <a:latin typeface="+mn-lt"/>
            </a:endParaRPr>
          </a:p>
        </p:txBody>
      </p:sp>
      <p:sp>
        <p:nvSpPr>
          <p:cNvPr id="11" name="TextBox 10">
            <a:extLst>
              <a:ext uri="{FF2B5EF4-FFF2-40B4-BE49-F238E27FC236}">
                <a16:creationId xmlns:a16="http://schemas.microsoft.com/office/drawing/2014/main" id="{EA7756FD-109C-403C-9C74-E7A7D71450FB}"/>
              </a:ext>
            </a:extLst>
          </p:cNvPr>
          <p:cNvSpPr txBox="1"/>
          <p:nvPr/>
        </p:nvSpPr>
        <p:spPr>
          <a:xfrm>
            <a:off x="381000" y="4199740"/>
            <a:ext cx="8458200" cy="677108"/>
          </a:xfrm>
          <a:prstGeom prst="rect">
            <a:avLst/>
          </a:prstGeom>
          <a:noFill/>
        </p:spPr>
        <p:txBody>
          <a:bodyPr wrap="square" rtlCol="0">
            <a:spAutoFit/>
          </a:bodyPr>
          <a:lstStyle/>
          <a:p>
            <a:r>
              <a:rPr lang="en-US" sz="3200" b="1" dirty="0">
                <a:latin typeface="+mn-lt"/>
              </a:rPr>
              <a:t>Not a process</a:t>
            </a:r>
            <a:r>
              <a:rPr lang="en-US" sz="2400" dirty="0">
                <a:latin typeface="+mn-lt"/>
              </a:rPr>
              <a:t>, it's a </a:t>
            </a:r>
            <a:r>
              <a:rPr lang="en-US" sz="3800" b="1" dirty="0">
                <a:solidFill>
                  <a:srgbClr val="F6B000"/>
                </a:solidFill>
                <a:latin typeface="+mn-lt"/>
              </a:rPr>
              <a:t>philosophy </a:t>
            </a:r>
            <a:r>
              <a:rPr lang="en-US" sz="2400" dirty="0">
                <a:latin typeface="+mn-lt"/>
              </a:rPr>
              <a:t>or </a:t>
            </a:r>
            <a:r>
              <a:rPr lang="en-US" sz="3800" b="1" dirty="0">
                <a:solidFill>
                  <a:srgbClr val="F6B000"/>
                </a:solidFill>
                <a:latin typeface="+mn-lt"/>
              </a:rPr>
              <a:t>set of values</a:t>
            </a:r>
          </a:p>
        </p:txBody>
      </p:sp>
    </p:spTree>
    <p:extLst>
      <p:ext uri="{BB962C8B-B14F-4D97-AF65-F5344CB8AC3E}">
        <p14:creationId xmlns:p14="http://schemas.microsoft.com/office/powerpoint/2010/main" val="414116933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r>
              <a:rPr lang="en-US" sz="3200">
                <a:cs typeface="Calibri" panose="020F0502020204030204" pitchFamily="34" charset="0"/>
              </a:rPr>
              <a:t>Agile Manifesto</a:t>
            </a: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4F3C9BD4-381C-4DFB-89D4-8A3793FE4949}"/>
              </a:ext>
            </a:extLst>
          </p:cNvPr>
          <p:cNvPicPr>
            <a:picLocks noChangeAspect="1"/>
          </p:cNvPicPr>
          <p:nvPr/>
        </p:nvPicPr>
        <p:blipFill>
          <a:blip r:embed="rId3"/>
          <a:stretch>
            <a:fillRect/>
          </a:stretch>
        </p:blipFill>
        <p:spPr>
          <a:xfrm>
            <a:off x="466725" y="1947849"/>
            <a:ext cx="8210550" cy="4300477"/>
          </a:xfrm>
          <a:prstGeom prst="rect">
            <a:avLst/>
          </a:prstGeom>
        </p:spPr>
      </p:pic>
      <p:sp>
        <p:nvSpPr>
          <p:cNvPr id="2" name="TextBox 1">
            <a:extLst>
              <a:ext uri="{FF2B5EF4-FFF2-40B4-BE49-F238E27FC236}">
                <a16:creationId xmlns:a16="http://schemas.microsoft.com/office/drawing/2014/main" id="{1ECB963C-B45D-46C9-8B35-A32EE4CE6DC6}"/>
              </a:ext>
            </a:extLst>
          </p:cNvPr>
          <p:cNvSpPr txBox="1"/>
          <p:nvPr/>
        </p:nvSpPr>
        <p:spPr>
          <a:xfrm>
            <a:off x="381110" y="1143060"/>
            <a:ext cx="914400" cy="914400"/>
          </a:xfrm>
          <a:prstGeom prst="rect">
            <a:avLst/>
          </a:prstGeom>
        </p:spPr>
        <p:txBody>
          <a:bodyPr vert="horz" wrap="none" lIns="91440" tIns="45720" rIns="91440" bIns="45720" rtlCol="0" anchor="ctr">
            <a:noAutofit/>
          </a:bodyPr>
          <a:lstStyle/>
          <a:p>
            <a:r>
              <a:rPr lang="en-US" altLang="en-US" sz="1400" b="1" dirty="0"/>
              <a:t>Manifesto</a:t>
            </a:r>
            <a:r>
              <a:rPr lang="en-US" altLang="en-US" sz="1400" dirty="0"/>
              <a:t>: A written statement of the beliefs, aims, and policies of an organization, especially a political party:</a:t>
            </a:r>
          </a:p>
          <a:p>
            <a:r>
              <a:rPr lang="en-US" altLang="en-US" sz="1400" dirty="0"/>
              <a:t>We are uncovering better ways of developing software by doing it and helping others to do it .</a:t>
            </a:r>
          </a:p>
          <a:p>
            <a:r>
              <a:rPr lang="en-US" altLang="en-US" sz="1400" dirty="0"/>
              <a:t>Through this work we have to come to value.</a:t>
            </a:r>
          </a:p>
          <a:p>
            <a:r>
              <a:rPr lang="en-US" sz="1400" b="0" i="0" dirty="0">
                <a:solidFill>
                  <a:srgbClr val="444444"/>
                </a:solidFill>
                <a:effectLst/>
                <a:latin typeface="Lato"/>
              </a:rPr>
              <a:t>Our </a:t>
            </a:r>
            <a:r>
              <a:rPr lang="en-US" sz="1400" b="1" i="0" dirty="0">
                <a:solidFill>
                  <a:srgbClr val="444444"/>
                </a:solidFill>
                <a:effectLst/>
                <a:latin typeface="Lato"/>
              </a:rPr>
              <a:t>highest priority </a:t>
            </a:r>
            <a:r>
              <a:rPr lang="en-US" sz="1400" b="0" i="0" dirty="0">
                <a:solidFill>
                  <a:srgbClr val="444444"/>
                </a:solidFill>
                <a:effectLst/>
                <a:latin typeface="Lato"/>
              </a:rPr>
              <a:t>is to satisfy the customer through early and continuous delivery of </a:t>
            </a:r>
            <a:r>
              <a:rPr lang="en-US" sz="1400" b="1" i="0" dirty="0">
                <a:solidFill>
                  <a:srgbClr val="444444"/>
                </a:solidFill>
                <a:effectLst/>
                <a:latin typeface="Lato"/>
              </a:rPr>
              <a:t>valuable</a:t>
            </a:r>
            <a:r>
              <a:rPr lang="en-US" sz="1400" b="0" i="0" dirty="0">
                <a:solidFill>
                  <a:srgbClr val="444444"/>
                </a:solidFill>
                <a:effectLst/>
                <a:latin typeface="Lato"/>
              </a:rPr>
              <a:t> software .</a:t>
            </a:r>
            <a:endParaRPr lang="en-US" altLang="en-US" sz="1400" i="0" dirty="0"/>
          </a:p>
          <a:p>
            <a:pPr algn="l"/>
            <a:endParaRPr lang="en-US" sz="4000" dirty="0">
              <a:solidFill>
                <a:srgbClr val="F68B1F"/>
              </a:solidFill>
            </a:endParaRPr>
          </a:p>
        </p:txBody>
      </p:sp>
    </p:spTree>
    <p:extLst>
      <p:ext uri="{BB962C8B-B14F-4D97-AF65-F5344CB8AC3E}">
        <p14:creationId xmlns:p14="http://schemas.microsoft.com/office/powerpoint/2010/main" val="102353752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 Principles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91364" cy="4724330"/>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 Our highest priority is to satisfy the customer through early and continuous delivery of valuable software.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2. Welcome changing requirements, even late in development. Agile processes harness change for the customer’s competitive advantage.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3. Deliver working software frequently, from a couple of weeks to a couple of months, with a preference for the shorter timescale.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4. Businesspeople and developers must work together daily throughout the project.</a:t>
            </a:r>
          </a:p>
          <a:p>
            <a:pPr marL="0" indent="0">
              <a:buNone/>
            </a:pP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127F380D-9A2D-4E5A-AE44-124E5F72BC8F}"/>
              </a:ext>
            </a:extLst>
          </p:cNvPr>
          <p:cNvPicPr>
            <a:picLocks noChangeAspect="1"/>
          </p:cNvPicPr>
          <p:nvPr/>
        </p:nvPicPr>
        <p:blipFill>
          <a:blip r:embed="rId3"/>
          <a:stretch>
            <a:fillRect/>
          </a:stretch>
        </p:blipFill>
        <p:spPr>
          <a:xfrm>
            <a:off x="533506" y="3971873"/>
            <a:ext cx="7620000" cy="1666869"/>
          </a:xfrm>
          <a:prstGeom prst="rect">
            <a:avLst/>
          </a:prstGeom>
        </p:spPr>
      </p:pic>
    </p:spTree>
    <p:extLst>
      <p:ext uri="{BB962C8B-B14F-4D97-AF65-F5344CB8AC3E}">
        <p14:creationId xmlns:p14="http://schemas.microsoft.com/office/powerpoint/2010/main" val="228586073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 Principles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91364" cy="4724330"/>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5. Build projects around motivated individuals. Give them the environment and support they need, then trust them to get the job done.</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6. The most efficient and effective method of conveying information to and within the development team is face-to-face conversation.</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7. Working software is the primary measure of progress.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8. Agile processes promote sustainable development. The sponsors, developers, and users should be able to maintain a constant pace indefinitely.</a:t>
            </a:r>
          </a:p>
          <a:p>
            <a:pPr marL="0" indent="0">
              <a:buNone/>
            </a:pP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6189ABEE-5614-46DD-B493-8231D1A3C101}"/>
              </a:ext>
            </a:extLst>
          </p:cNvPr>
          <p:cNvPicPr>
            <a:picLocks noChangeAspect="1"/>
          </p:cNvPicPr>
          <p:nvPr/>
        </p:nvPicPr>
        <p:blipFill>
          <a:blip r:embed="rId3"/>
          <a:stretch>
            <a:fillRect/>
          </a:stretch>
        </p:blipFill>
        <p:spPr>
          <a:xfrm>
            <a:off x="466633" y="3657556"/>
            <a:ext cx="7610475" cy="1676394"/>
          </a:xfrm>
          <a:prstGeom prst="rect">
            <a:avLst/>
          </a:prstGeom>
        </p:spPr>
      </p:pic>
    </p:spTree>
    <p:extLst>
      <p:ext uri="{BB962C8B-B14F-4D97-AF65-F5344CB8AC3E}">
        <p14:creationId xmlns:p14="http://schemas.microsoft.com/office/powerpoint/2010/main" val="295749253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cs typeface="Calibri" panose="020F0502020204030204" pitchFamily="34" charset="0"/>
              </a:rPr>
              <a:t>Agile Principles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600"/>
            <a:ext cx="7891364" cy="4724330"/>
          </a:xfrm>
        </p:spPr>
        <p:txBody>
          <a:bodyPr/>
          <a:lstStyle/>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9. Continuous attention to technical excellence and good design enhances agility.</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10. Simplicity — the art of maximizing the amount of work not done — is essential.</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11. The best architectures, requirements, and designs emerge from self-organizing teams.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12. At regular intervals, the team reflects on how to become more effective, then tunes and adjusts its behavior accordingly.</a:t>
            </a:r>
          </a:p>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E7F7F01E-13F5-4B56-ADDF-DF7DECD44CD8}"/>
              </a:ext>
            </a:extLst>
          </p:cNvPr>
          <p:cNvPicPr>
            <a:picLocks noChangeAspect="1"/>
          </p:cNvPicPr>
          <p:nvPr/>
        </p:nvPicPr>
        <p:blipFill>
          <a:blip r:embed="rId3"/>
          <a:stretch>
            <a:fillRect/>
          </a:stretch>
        </p:blipFill>
        <p:spPr>
          <a:xfrm>
            <a:off x="533506" y="3571833"/>
            <a:ext cx="7591425" cy="1685919"/>
          </a:xfrm>
          <a:prstGeom prst="rect">
            <a:avLst/>
          </a:prstGeom>
        </p:spPr>
      </p:pic>
    </p:spTree>
    <p:extLst>
      <p:ext uri="{BB962C8B-B14F-4D97-AF65-F5344CB8AC3E}">
        <p14:creationId xmlns:p14="http://schemas.microsoft.com/office/powerpoint/2010/main" val="13417537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a:br>
            <a:r>
              <a:rPr lang="en-US" sz="3200"/>
              <a:t>Agile is Iterative and Incremental</a:t>
            </a:r>
            <a:br>
              <a:rPr lang="en-US" sz="180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TextBox 1">
            <a:extLst>
              <a:ext uri="{FF2B5EF4-FFF2-40B4-BE49-F238E27FC236}">
                <a16:creationId xmlns:a16="http://schemas.microsoft.com/office/drawing/2014/main" id="{3415F1FB-79B3-413C-842C-CCA65414F161}"/>
              </a:ext>
            </a:extLst>
          </p:cNvPr>
          <p:cNvSpPr txBox="1"/>
          <p:nvPr/>
        </p:nvSpPr>
        <p:spPr>
          <a:xfrm>
            <a:off x="304792" y="1143060"/>
            <a:ext cx="8839208" cy="761980"/>
          </a:xfrm>
          <a:prstGeom prst="rect">
            <a:avLst/>
          </a:prstGeom>
        </p:spPr>
        <p:txBody>
          <a:bodyPr vert="horz" wrap="none" lIns="91440" tIns="45720" rIns="91440" bIns="45720" rtlCol="0" anchor="ctr">
            <a:noAutofit/>
          </a:bodyPr>
          <a:lstStyle/>
          <a:p>
            <a:r>
              <a:rPr lang="en-US" sz="1800" b="0" i="0" dirty="0">
                <a:solidFill>
                  <a:srgbClr val="222222"/>
                </a:solidFill>
                <a:effectLst/>
                <a:latin typeface="arial" panose="020B0604020202020204" pitchFamily="34" charset="0"/>
              </a:rPr>
              <a:t>Scrum and </a:t>
            </a:r>
            <a:r>
              <a:rPr lang="en-US" sz="1800" b="1" i="0" dirty="0">
                <a:solidFill>
                  <a:srgbClr val="222222"/>
                </a:solidFill>
                <a:effectLst/>
                <a:latin typeface="arial" panose="020B0604020202020204" pitchFamily="34" charset="0"/>
              </a:rPr>
              <a:t>agile</a:t>
            </a:r>
            <a:r>
              <a:rPr lang="en-US" sz="1800" b="0" i="0" dirty="0">
                <a:solidFill>
                  <a:srgbClr val="222222"/>
                </a:solidFill>
                <a:effectLst/>
                <a:latin typeface="arial" panose="020B0604020202020204" pitchFamily="34" charset="0"/>
              </a:rPr>
              <a:t> are both </a:t>
            </a:r>
            <a:r>
              <a:rPr lang="en-US" sz="1800" b="1" i="0" dirty="0">
                <a:solidFill>
                  <a:srgbClr val="222222"/>
                </a:solidFill>
                <a:effectLst/>
                <a:latin typeface="arial" panose="020B0604020202020204" pitchFamily="34" charset="0"/>
              </a:rPr>
              <a:t>incremental</a:t>
            </a:r>
            <a:r>
              <a:rPr lang="en-US" sz="1800" b="0" i="0" dirty="0">
                <a:solidFill>
                  <a:srgbClr val="222222"/>
                </a:solidFill>
                <a:effectLst/>
                <a:latin typeface="arial" panose="020B0604020202020204" pitchFamily="34" charset="0"/>
              </a:rPr>
              <a:t> and </a:t>
            </a:r>
            <a:r>
              <a:rPr lang="en-US" sz="1800" b="1" i="0" dirty="0">
                <a:solidFill>
                  <a:srgbClr val="222222"/>
                </a:solidFill>
                <a:effectLst/>
                <a:latin typeface="arial" panose="020B0604020202020204" pitchFamily="34" charset="0"/>
              </a:rPr>
              <a:t>iterative</a:t>
            </a:r>
            <a:r>
              <a:rPr lang="en-US" sz="1800" b="0" i="0" dirty="0">
                <a:solidFill>
                  <a:srgbClr val="222222"/>
                </a:solidFill>
                <a:effectLst/>
                <a:latin typeface="arial" panose="020B0604020202020204" pitchFamily="34" charset="0"/>
              </a:rPr>
              <a:t>. They are </a:t>
            </a:r>
            <a:r>
              <a:rPr lang="en-US" sz="1800" b="1" i="0" dirty="0">
                <a:solidFill>
                  <a:srgbClr val="222222"/>
                </a:solidFill>
                <a:effectLst/>
                <a:latin typeface="arial" panose="020B0604020202020204" pitchFamily="34" charset="0"/>
              </a:rPr>
              <a:t>iterative</a:t>
            </a:r>
            <a:r>
              <a:rPr lang="en-US" sz="1800" b="0" i="0" dirty="0">
                <a:solidFill>
                  <a:srgbClr val="222222"/>
                </a:solidFill>
                <a:effectLst/>
                <a:latin typeface="arial" panose="020B0604020202020204" pitchFamily="34" charset="0"/>
              </a:rPr>
              <a:t> in </a:t>
            </a:r>
          </a:p>
          <a:p>
            <a:r>
              <a:rPr lang="en-US" sz="1800" b="0" i="0" dirty="0">
                <a:solidFill>
                  <a:srgbClr val="222222"/>
                </a:solidFill>
                <a:effectLst/>
                <a:latin typeface="arial" panose="020B0604020202020204" pitchFamily="34" charset="0"/>
              </a:rPr>
              <a:t>that they plan for the work of one </a:t>
            </a:r>
            <a:r>
              <a:rPr lang="en-US" sz="1800" b="1" i="0" dirty="0">
                <a:solidFill>
                  <a:srgbClr val="222222"/>
                </a:solidFill>
                <a:effectLst/>
                <a:latin typeface="arial" panose="020B0604020202020204" pitchFamily="34" charset="0"/>
              </a:rPr>
              <a:t>iteration</a:t>
            </a:r>
            <a:r>
              <a:rPr lang="en-US" sz="1800" b="0" i="0" dirty="0">
                <a:solidFill>
                  <a:srgbClr val="222222"/>
                </a:solidFill>
                <a:effectLst/>
                <a:latin typeface="arial" panose="020B0604020202020204" pitchFamily="34" charset="0"/>
              </a:rPr>
              <a:t> to be improved upon in subsequent </a:t>
            </a:r>
          </a:p>
          <a:p>
            <a:r>
              <a:rPr lang="en-US" sz="1800" b="1" i="0" dirty="0">
                <a:solidFill>
                  <a:srgbClr val="222222"/>
                </a:solidFill>
                <a:effectLst/>
                <a:latin typeface="arial" panose="020B0604020202020204" pitchFamily="34" charset="0"/>
              </a:rPr>
              <a:t>iterations</a:t>
            </a:r>
            <a:r>
              <a:rPr lang="en-US" sz="1800" b="0" i="0" dirty="0">
                <a:solidFill>
                  <a:srgbClr val="222222"/>
                </a:solidFill>
                <a:effectLst/>
                <a:latin typeface="arial" panose="020B0604020202020204" pitchFamily="34" charset="0"/>
              </a:rPr>
              <a:t>. They are </a:t>
            </a:r>
            <a:r>
              <a:rPr lang="en-US" sz="1800" b="1" i="0" dirty="0">
                <a:solidFill>
                  <a:srgbClr val="222222"/>
                </a:solidFill>
                <a:effectLst/>
                <a:latin typeface="arial" panose="020B0604020202020204" pitchFamily="34" charset="0"/>
              </a:rPr>
              <a:t>incremental</a:t>
            </a:r>
            <a:r>
              <a:rPr lang="en-US" sz="1800" b="0" i="0" dirty="0">
                <a:solidFill>
                  <a:srgbClr val="222222"/>
                </a:solidFill>
                <a:effectLst/>
                <a:latin typeface="arial" panose="020B0604020202020204" pitchFamily="34" charset="0"/>
              </a:rPr>
              <a:t> because completed work is delivered throughout </a:t>
            </a:r>
          </a:p>
          <a:p>
            <a:r>
              <a:rPr lang="en-US" sz="1800" b="0" i="0" dirty="0">
                <a:solidFill>
                  <a:srgbClr val="222222"/>
                </a:solidFill>
                <a:effectLst/>
                <a:latin typeface="arial" panose="020B0604020202020204" pitchFamily="34" charset="0"/>
              </a:rPr>
              <a:t>the project.</a:t>
            </a:r>
            <a:endParaRPr lang="en-US" altLang="en-US" sz="1800" dirty="0"/>
          </a:p>
          <a:p>
            <a:pPr algn="l"/>
            <a:endParaRPr lang="en-US" dirty="0">
              <a:solidFill>
                <a:srgbClr val="F68B1F"/>
              </a:solidFill>
            </a:endParaRPr>
          </a:p>
        </p:txBody>
      </p:sp>
      <p:pic>
        <p:nvPicPr>
          <p:cNvPr id="5" name="Picture 4">
            <a:extLst>
              <a:ext uri="{FF2B5EF4-FFF2-40B4-BE49-F238E27FC236}">
                <a16:creationId xmlns:a16="http://schemas.microsoft.com/office/drawing/2014/main" id="{45DD8DB3-1D31-42E0-8FC7-2FB2EEC5C8F1}"/>
              </a:ext>
            </a:extLst>
          </p:cNvPr>
          <p:cNvPicPr>
            <a:picLocks noChangeAspect="1"/>
          </p:cNvPicPr>
          <p:nvPr/>
        </p:nvPicPr>
        <p:blipFill>
          <a:blip r:embed="rId3"/>
          <a:stretch>
            <a:fillRect/>
          </a:stretch>
        </p:blipFill>
        <p:spPr>
          <a:xfrm>
            <a:off x="1401647" y="2190849"/>
            <a:ext cx="5380095" cy="3749763"/>
          </a:xfrm>
          <a:prstGeom prst="rect">
            <a:avLst/>
          </a:prstGeom>
        </p:spPr>
      </p:pic>
    </p:spTree>
    <p:extLst>
      <p:ext uri="{BB962C8B-B14F-4D97-AF65-F5344CB8AC3E}">
        <p14:creationId xmlns:p14="http://schemas.microsoft.com/office/powerpoint/2010/main" val="412470200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1" name="Picture 10">
            <a:extLst>
              <a:ext uri="{FF2B5EF4-FFF2-40B4-BE49-F238E27FC236}">
                <a16:creationId xmlns:a16="http://schemas.microsoft.com/office/drawing/2014/main" id="{D06C6D94-72A4-4E1D-AC14-9AB8D05654B0}"/>
              </a:ext>
            </a:extLst>
          </p:cNvPr>
          <p:cNvPicPr>
            <a:picLocks noChangeAspect="1"/>
          </p:cNvPicPr>
          <p:nvPr/>
        </p:nvPicPr>
        <p:blipFill>
          <a:blip r:embed="rId3"/>
          <a:stretch>
            <a:fillRect/>
          </a:stretch>
        </p:blipFill>
        <p:spPr>
          <a:xfrm>
            <a:off x="674798" y="1371654"/>
            <a:ext cx="7707102" cy="4068606"/>
          </a:xfrm>
          <a:prstGeom prst="rect">
            <a:avLst/>
          </a:prstGeom>
        </p:spPr>
      </p:pic>
    </p:spTree>
    <p:extLst>
      <p:ext uri="{BB962C8B-B14F-4D97-AF65-F5344CB8AC3E}">
        <p14:creationId xmlns:p14="http://schemas.microsoft.com/office/powerpoint/2010/main" val="8446048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6FB26FFA-8DCF-46EF-AD2C-FEA4FCB41640}"/>
              </a:ext>
            </a:extLst>
          </p:cNvPr>
          <p:cNvPicPr>
            <a:picLocks noChangeAspect="1"/>
          </p:cNvPicPr>
          <p:nvPr/>
        </p:nvPicPr>
        <p:blipFill>
          <a:blip r:embed="rId3"/>
          <a:stretch>
            <a:fillRect/>
          </a:stretch>
        </p:blipFill>
        <p:spPr>
          <a:xfrm>
            <a:off x="816175" y="1066862"/>
            <a:ext cx="7746387" cy="5029068"/>
          </a:xfrm>
          <a:prstGeom prst="rect">
            <a:avLst/>
          </a:prstGeom>
        </p:spPr>
      </p:pic>
    </p:spTree>
    <p:extLst>
      <p:ext uri="{BB962C8B-B14F-4D97-AF65-F5344CB8AC3E}">
        <p14:creationId xmlns:p14="http://schemas.microsoft.com/office/powerpoint/2010/main" val="23897459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Vs Waterfall (Team)</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6E5DC135-BB03-43B9-96F5-43489F34C59F}"/>
              </a:ext>
            </a:extLst>
          </p:cNvPr>
          <p:cNvPicPr>
            <a:picLocks noChangeAspect="1"/>
          </p:cNvPicPr>
          <p:nvPr/>
        </p:nvPicPr>
        <p:blipFill>
          <a:blip r:embed="rId3"/>
          <a:stretch>
            <a:fillRect/>
          </a:stretch>
        </p:blipFill>
        <p:spPr>
          <a:xfrm>
            <a:off x="394880" y="1066862"/>
            <a:ext cx="8020070" cy="3657504"/>
          </a:xfrm>
          <a:prstGeom prst="rect">
            <a:avLst/>
          </a:prstGeom>
        </p:spPr>
      </p:pic>
      <p:pic>
        <p:nvPicPr>
          <p:cNvPr id="8" name="Picture 7">
            <a:extLst>
              <a:ext uri="{FF2B5EF4-FFF2-40B4-BE49-F238E27FC236}">
                <a16:creationId xmlns:a16="http://schemas.microsoft.com/office/drawing/2014/main" id="{F188E903-7A01-425B-8867-16905249D41B}"/>
              </a:ext>
            </a:extLst>
          </p:cNvPr>
          <p:cNvPicPr>
            <a:picLocks noChangeAspect="1"/>
          </p:cNvPicPr>
          <p:nvPr/>
        </p:nvPicPr>
        <p:blipFill>
          <a:blip r:embed="rId4"/>
          <a:stretch>
            <a:fillRect/>
          </a:stretch>
        </p:blipFill>
        <p:spPr>
          <a:xfrm>
            <a:off x="1985962" y="4390943"/>
            <a:ext cx="5172075" cy="2162175"/>
          </a:xfrm>
          <a:prstGeom prst="rect">
            <a:avLst/>
          </a:prstGeom>
        </p:spPr>
      </p:pic>
    </p:spTree>
    <p:extLst>
      <p:ext uri="{BB962C8B-B14F-4D97-AF65-F5344CB8AC3E}">
        <p14:creationId xmlns:p14="http://schemas.microsoft.com/office/powerpoint/2010/main" val="2182694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Waterfall Vs Agile Projects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9C26ABB7-2D9F-4729-8B1F-D9787D0DA299}"/>
              </a:ext>
            </a:extLst>
          </p:cNvPr>
          <p:cNvPicPr>
            <a:picLocks noChangeAspect="1"/>
          </p:cNvPicPr>
          <p:nvPr/>
        </p:nvPicPr>
        <p:blipFill>
          <a:blip r:embed="rId3"/>
          <a:stretch>
            <a:fillRect/>
          </a:stretch>
        </p:blipFill>
        <p:spPr>
          <a:xfrm>
            <a:off x="295269" y="928407"/>
            <a:ext cx="8772413" cy="4024553"/>
          </a:xfrm>
          <a:prstGeom prst="rect">
            <a:avLst/>
          </a:prstGeom>
        </p:spPr>
      </p:pic>
      <p:pic>
        <p:nvPicPr>
          <p:cNvPr id="8" name="Picture 7">
            <a:extLst>
              <a:ext uri="{FF2B5EF4-FFF2-40B4-BE49-F238E27FC236}">
                <a16:creationId xmlns:a16="http://schemas.microsoft.com/office/drawing/2014/main" id="{B52AF71A-2D7E-46DE-997A-B55C777A9443}"/>
              </a:ext>
            </a:extLst>
          </p:cNvPr>
          <p:cNvPicPr>
            <a:picLocks noChangeAspect="1"/>
          </p:cNvPicPr>
          <p:nvPr/>
        </p:nvPicPr>
        <p:blipFill>
          <a:blip r:embed="rId4"/>
          <a:stretch>
            <a:fillRect/>
          </a:stretch>
        </p:blipFill>
        <p:spPr>
          <a:xfrm>
            <a:off x="199320" y="4800564"/>
            <a:ext cx="8487372" cy="1683210"/>
          </a:xfrm>
          <a:prstGeom prst="rect">
            <a:avLst/>
          </a:prstGeom>
        </p:spPr>
      </p:pic>
    </p:spTree>
    <p:extLst>
      <p:ext uri="{BB962C8B-B14F-4D97-AF65-F5344CB8AC3E}">
        <p14:creationId xmlns:p14="http://schemas.microsoft.com/office/powerpoint/2010/main" val="7425608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Agile Vs Waterfall Projects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5" name="Picture 4">
            <a:extLst>
              <a:ext uri="{FF2B5EF4-FFF2-40B4-BE49-F238E27FC236}">
                <a16:creationId xmlns:a16="http://schemas.microsoft.com/office/drawing/2014/main" id="{20BD3D55-5B0B-4EC8-AB37-4254C125DA07}"/>
              </a:ext>
            </a:extLst>
          </p:cNvPr>
          <p:cNvPicPr>
            <a:picLocks noChangeAspect="1"/>
          </p:cNvPicPr>
          <p:nvPr/>
        </p:nvPicPr>
        <p:blipFill>
          <a:blip r:embed="rId3"/>
          <a:stretch>
            <a:fillRect/>
          </a:stretch>
        </p:blipFill>
        <p:spPr>
          <a:xfrm>
            <a:off x="1166812" y="1809750"/>
            <a:ext cx="6810375" cy="3238500"/>
          </a:xfrm>
          <a:prstGeom prst="rect">
            <a:avLst/>
          </a:prstGeom>
        </p:spPr>
      </p:pic>
    </p:spTree>
    <p:extLst>
      <p:ext uri="{BB962C8B-B14F-4D97-AF65-F5344CB8AC3E}">
        <p14:creationId xmlns:p14="http://schemas.microsoft.com/office/powerpoint/2010/main" val="203166834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Benefits Of Agile Project Management</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13C6C740-D295-4528-8806-C1F8C835E59B}"/>
              </a:ext>
            </a:extLst>
          </p:cNvPr>
          <p:cNvPicPr/>
          <p:nvPr/>
        </p:nvPicPr>
        <p:blipFill>
          <a:blip r:embed="rId3"/>
          <a:stretch>
            <a:fillRect/>
          </a:stretch>
        </p:blipFill>
        <p:spPr>
          <a:xfrm>
            <a:off x="762100" y="1219258"/>
            <a:ext cx="7543602" cy="4190890"/>
          </a:xfrm>
          <a:prstGeom prst="rect">
            <a:avLst/>
          </a:prstGeom>
        </p:spPr>
      </p:pic>
    </p:spTree>
    <p:extLst>
      <p:ext uri="{BB962C8B-B14F-4D97-AF65-F5344CB8AC3E}">
        <p14:creationId xmlns:p14="http://schemas.microsoft.com/office/powerpoint/2010/main" val="272232575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Benefits Of Agile Project Management</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B4267518-6E3A-48B9-A57B-DFC7A97BA878}"/>
              </a:ext>
            </a:extLst>
          </p:cNvPr>
          <p:cNvPicPr>
            <a:picLocks noChangeAspect="1"/>
          </p:cNvPicPr>
          <p:nvPr/>
        </p:nvPicPr>
        <p:blipFill>
          <a:blip r:embed="rId3"/>
          <a:stretch>
            <a:fillRect/>
          </a:stretch>
        </p:blipFill>
        <p:spPr>
          <a:xfrm>
            <a:off x="1376362" y="1276350"/>
            <a:ext cx="6391275" cy="4305300"/>
          </a:xfrm>
          <a:prstGeom prst="rect">
            <a:avLst/>
          </a:prstGeom>
        </p:spPr>
      </p:pic>
    </p:spTree>
    <p:extLst>
      <p:ext uri="{BB962C8B-B14F-4D97-AF65-F5344CB8AC3E}">
        <p14:creationId xmlns:p14="http://schemas.microsoft.com/office/powerpoint/2010/main" val="2758741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Agile- Benefits(High Product Quality)</a:t>
            </a:r>
            <a:br>
              <a:rPr lang="en-US" sz="16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304912" y="685872"/>
            <a:ext cx="8686572" cy="5559360"/>
          </a:xfrm>
        </p:spPr>
        <p:txBody>
          <a:bodyPr/>
          <a:lstStyle/>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In Agile development, </a:t>
            </a:r>
            <a:r>
              <a:rPr lang="en-US" sz="2000" b="1" dirty="0">
                <a:latin typeface="Calibri" panose="020F0502020204030204" pitchFamily="34" charset="0"/>
                <a:ea typeface="SimSun" panose="02010600030101010101" pitchFamily="2" charset="-122"/>
                <a:cs typeface="Times New Roman" panose="02020603050405020304" pitchFamily="18" charset="0"/>
              </a:rPr>
              <a:t>testing is integrated during the cycle</a:t>
            </a:r>
            <a:r>
              <a:rPr lang="en-US" sz="2000" dirty="0">
                <a:latin typeface="Calibri" panose="020F0502020204030204" pitchFamily="34" charset="0"/>
                <a:ea typeface="SimSun" panose="02010600030101010101" pitchFamily="2" charset="-122"/>
                <a:cs typeface="Times New Roman" panose="02020603050405020304" pitchFamily="18" charset="0"/>
              </a:rPr>
              <a:t>, which means that there are regular checkups to see that the product is working during the development. This enables the product owner to make changes if needed and the team is aware if there are any issues.</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Defining and elaborating </a:t>
            </a:r>
            <a:r>
              <a:rPr lang="en-US" sz="2000" dirty="0">
                <a:latin typeface="Calibri" panose="020F0502020204030204" pitchFamily="34" charset="0"/>
                <a:ea typeface="SimSun" panose="02010600030101010101" pitchFamily="2" charset="-122"/>
                <a:cs typeface="Times New Roman" panose="02020603050405020304" pitchFamily="18" charset="0"/>
              </a:rPr>
              <a:t>requirements just in time so that the knowledge of the product features is as relevant as possible.</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Incorporating continuous integration</a:t>
            </a:r>
            <a:r>
              <a:rPr lang="en-US" sz="2000" dirty="0">
                <a:latin typeface="Calibri" panose="020F0502020204030204" pitchFamily="34" charset="0"/>
                <a:ea typeface="SimSun" panose="02010600030101010101" pitchFamily="2" charset="-122"/>
                <a:cs typeface="Times New Roman" panose="02020603050405020304" pitchFamily="18" charset="0"/>
              </a:rPr>
              <a:t> and daily testing into the development process, allowing the development team to address issues while they’re still fresh.</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Taking advantage of </a:t>
            </a:r>
            <a:r>
              <a:rPr lang="en-US" sz="2000" b="1" dirty="0">
                <a:latin typeface="Calibri" panose="020F0502020204030204" pitchFamily="34" charset="0"/>
                <a:ea typeface="SimSun" panose="02010600030101010101" pitchFamily="2" charset="-122"/>
                <a:cs typeface="Times New Roman" panose="02020603050405020304" pitchFamily="18" charset="0"/>
              </a:rPr>
              <a:t>automated testing tools</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Conducting sprint retrospectives</a:t>
            </a:r>
            <a:r>
              <a:rPr lang="en-US" sz="2000" dirty="0">
                <a:latin typeface="Calibri" panose="020F0502020204030204" pitchFamily="34" charset="0"/>
                <a:ea typeface="SimSun" panose="02010600030101010101" pitchFamily="2" charset="-122"/>
                <a:cs typeface="Times New Roman" panose="02020603050405020304" pitchFamily="18" charset="0"/>
              </a:rPr>
              <a:t>, allowing the scrum team to continuously improve processes and work.</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Completing work using the definition of done </a:t>
            </a:r>
            <a:r>
              <a:rPr lang="en-US" sz="2000" dirty="0">
                <a:latin typeface="Calibri" panose="020F0502020204030204" pitchFamily="34" charset="0"/>
                <a:ea typeface="SimSun" panose="02010600030101010101" pitchFamily="2" charset="-122"/>
                <a:cs typeface="Times New Roman" panose="02020603050405020304" pitchFamily="18" charset="0"/>
              </a:rPr>
              <a:t>developed, tested, integrated, and documented.</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Software is developed in incremental, rapid cycles. This results in </a:t>
            </a:r>
            <a:r>
              <a:rPr lang="en-US" sz="2000" b="1" dirty="0">
                <a:latin typeface="Calibri" panose="020F0502020204030204" pitchFamily="34" charset="0"/>
                <a:ea typeface="SimSun" panose="02010600030101010101" pitchFamily="2" charset="-122"/>
                <a:cs typeface="Times New Roman" panose="02020603050405020304" pitchFamily="18" charset="0"/>
              </a:rPr>
              <a:t>small incremental releases </a:t>
            </a:r>
            <a:r>
              <a:rPr lang="en-US" sz="2000" dirty="0">
                <a:latin typeface="Calibri" panose="020F0502020204030204" pitchFamily="34" charset="0"/>
                <a:ea typeface="SimSun" panose="02010600030101010101" pitchFamily="2" charset="-122"/>
                <a:cs typeface="Times New Roman" panose="02020603050405020304" pitchFamily="18" charset="0"/>
              </a:rPr>
              <a:t>with each release building on previous functionality. Each release is thoroughly tested to ensure software quality is maintained.</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162192541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400" dirty="0"/>
              <a:t>Agile- Benefits(Higher Customer Satisfaction)</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5178425"/>
          </a:xfrm>
        </p:spPr>
        <p:txBody>
          <a:bodyPr/>
          <a:lstStyle/>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The product owner is always involved</a:t>
            </a:r>
            <a:r>
              <a:rPr lang="en-US" sz="2000" dirty="0">
                <a:latin typeface="Calibri" panose="020F0502020204030204" pitchFamily="34" charset="0"/>
                <a:ea typeface="SimSun" panose="02010600030101010101" pitchFamily="2" charset="-122"/>
                <a:cs typeface="Times New Roman" panose="02020603050405020304" pitchFamily="18" charset="0"/>
              </a:rPr>
              <a:t>, the progress of development has high visibility and flexibility to change is highly important. This implies engagement and customer satisfaction.</a:t>
            </a:r>
          </a:p>
          <a:p>
            <a:pPr marL="0" indent="0">
              <a:buNone/>
            </a:pP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Demonstrating working functionalities to customers in every sprint review</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Delivering products to market quicker and more </a:t>
            </a:r>
            <a:r>
              <a:rPr lang="en-US" sz="2000" dirty="0">
                <a:latin typeface="Calibri" panose="020F0502020204030204" pitchFamily="34" charset="0"/>
                <a:ea typeface="SimSun" panose="02010600030101010101" pitchFamily="2" charset="-122"/>
                <a:cs typeface="Times New Roman" panose="02020603050405020304" pitchFamily="18" charset="0"/>
              </a:rPr>
              <a:t>often with every release. The clients get early access to the product during the life cycle.</a:t>
            </a:r>
          </a:p>
          <a:p>
            <a:pPr marL="0" indent="0">
              <a:buNone/>
            </a:pP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Keeping </a:t>
            </a:r>
            <a:r>
              <a:rPr lang="en-US" sz="2000" b="1" dirty="0">
                <a:latin typeface="Calibri" panose="020F0502020204030204" pitchFamily="34" charset="0"/>
                <a:ea typeface="SimSun" panose="02010600030101010101" pitchFamily="2" charset="-122"/>
                <a:cs typeface="Times New Roman" panose="02020603050405020304" pitchFamily="18" charset="0"/>
              </a:rPr>
              <a:t>customers involved and engaged throughout projects</a:t>
            </a:r>
            <a:r>
              <a:rPr lang="en-US" sz="2000" dirty="0">
                <a:latin typeface="Calibri" panose="020F0502020204030204" pitchFamily="34" charset="0"/>
                <a:ea typeface="SimSun" panose="02010600030101010101" pitchFamily="2" charset="-122"/>
                <a:cs typeface="Times New Roman" panose="02020603050405020304" pitchFamily="18" charset="0"/>
              </a:rPr>
              <a:t>.</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63854930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Agile- Benefits(Increased Project Control)</a:t>
            </a:r>
            <a:br>
              <a:rPr lang="en-US" sz="16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1295421"/>
          </a:xfrm>
        </p:spPr>
        <p:txBody>
          <a:bodyPr/>
          <a:lstStyle/>
          <a:p>
            <a:pPr marL="0" indent="0">
              <a:buNone/>
            </a:pPr>
            <a:r>
              <a:rPr lang="en-US" sz="2000" dirty="0">
                <a:effectLst/>
                <a:latin typeface="Calibri" panose="020F0502020204030204" pitchFamily="34" charset="0"/>
                <a:ea typeface="SimSun" panose="02010600030101010101" pitchFamily="2" charset="-122"/>
                <a:cs typeface="Times New Roman" panose="02020603050405020304" pitchFamily="18" charset="0"/>
              </a:rPr>
              <a:t>Sprint meetings.</a:t>
            </a:r>
          </a:p>
          <a:p>
            <a:pPr marL="0" indent="0">
              <a:buNone/>
            </a:pPr>
            <a:r>
              <a:rPr lang="en-US" sz="2000" dirty="0">
                <a:effectLst/>
                <a:latin typeface="Calibri" panose="020F0502020204030204" pitchFamily="34" charset="0"/>
                <a:ea typeface="SimSun" panose="02010600030101010101" pitchFamily="2" charset="-122"/>
                <a:cs typeface="Times New Roman" panose="02020603050405020304" pitchFamily="18" charset="0"/>
              </a:rPr>
              <a:t>Transparency.</a:t>
            </a:r>
          </a:p>
          <a:p>
            <a:pPr marL="0" indent="0">
              <a:buNone/>
            </a:pPr>
            <a:r>
              <a:rPr lang="en-US" sz="2000" dirty="0">
                <a:effectLst/>
                <a:latin typeface="Calibri" panose="020F0502020204030204" pitchFamily="34" charset="0"/>
                <a:ea typeface="SimSun" panose="02010600030101010101" pitchFamily="2" charset="-122"/>
                <a:cs typeface="Times New Roman" panose="02020603050405020304" pitchFamily="18" charset="0"/>
              </a:rPr>
              <a:t>Jira usage (visibility of each step of the project for both parties).</a:t>
            </a:r>
          </a:p>
          <a:p>
            <a:pPr marL="0" indent="0">
              <a:buNone/>
            </a:pP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
        <p:nvSpPr>
          <p:cNvPr id="18" name="Rectangle 16">
            <a:extLst>
              <a:ext uri="{FF2B5EF4-FFF2-40B4-BE49-F238E27FC236}">
                <a16:creationId xmlns:a16="http://schemas.microsoft.com/office/drawing/2014/main" id="{3023250F-4CFF-4216-82E4-973053A13670}"/>
              </a:ext>
            </a:extLst>
          </p:cNvPr>
          <p:cNvSpPr txBox="1">
            <a:spLocks noChangeArrowheads="1"/>
          </p:cNvSpPr>
          <p:nvPr/>
        </p:nvSpPr>
        <p:spPr bwMode="auto">
          <a:xfrm>
            <a:off x="369805" y="3184517"/>
            <a:ext cx="835985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lst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a:lstStyle>
          <a:p>
            <a:pPr algn="ctr" eaLnBrk="1" hangingPunct="1"/>
            <a:br>
              <a:rPr lang="en-US" sz="3200" dirty="0"/>
            </a:br>
            <a:r>
              <a:rPr lang="en-US" sz="2800" dirty="0"/>
              <a:t>Allows for Change</a:t>
            </a:r>
            <a:br>
              <a:rPr lang="en-US" sz="1600" dirty="0">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20" name="TextBox 19">
            <a:extLst>
              <a:ext uri="{FF2B5EF4-FFF2-40B4-BE49-F238E27FC236}">
                <a16:creationId xmlns:a16="http://schemas.microsoft.com/office/drawing/2014/main" id="{6A2DC941-4EC0-4D26-B37A-4EF5C8809723}"/>
              </a:ext>
            </a:extLst>
          </p:cNvPr>
          <p:cNvSpPr txBox="1"/>
          <p:nvPr/>
        </p:nvSpPr>
        <p:spPr>
          <a:xfrm>
            <a:off x="369805" y="3931328"/>
            <a:ext cx="8359857" cy="1631216"/>
          </a:xfrm>
          <a:prstGeom prst="rect">
            <a:avLst/>
          </a:prstGeom>
          <a:noFill/>
        </p:spPr>
        <p:txBody>
          <a:bodyPr wrap="square">
            <a:spAutoFit/>
          </a:bodyPr>
          <a:lstStyle/>
          <a:p>
            <a:r>
              <a:rPr lang="en-US" sz="2000" dirty="0">
                <a:latin typeface="+mn-lt"/>
              </a:rPr>
              <a:t>While the team needs to pay attention to distributing an agreed-to subset of the manufactured good’s features during each pass, there is an occasion to constantly purify and reprioritize the general product backlog. Original or changed log jam items can be designed for the next pass, providing the opportunity to initiate alterations within a few weeks.</a:t>
            </a:r>
          </a:p>
        </p:txBody>
      </p:sp>
    </p:spTree>
    <p:extLst>
      <p:ext uri="{BB962C8B-B14F-4D97-AF65-F5344CB8AC3E}">
        <p14:creationId xmlns:p14="http://schemas.microsoft.com/office/powerpoint/2010/main" val="20260136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Benefits(Reduced Risk)</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381110" y="685872"/>
            <a:ext cx="8653344" cy="5787955"/>
          </a:xfrm>
        </p:spPr>
        <p:txBody>
          <a:bodyPr/>
          <a:lstStyle/>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Agile methodologies </a:t>
            </a:r>
            <a:r>
              <a:rPr lang="en-US" sz="2000" b="1" dirty="0">
                <a:latin typeface="Calibri" panose="020F0502020204030204" pitchFamily="34" charset="0"/>
                <a:ea typeface="SimSun" panose="02010600030101010101" pitchFamily="2" charset="-122"/>
                <a:cs typeface="Times New Roman" panose="02020603050405020304" pitchFamily="18" charset="0"/>
              </a:rPr>
              <a:t>virtually eliminate the chances of absolute project failure</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Always having a working product</a:t>
            </a:r>
            <a:r>
              <a:rPr lang="en-US" sz="2000" dirty="0">
                <a:latin typeface="Calibri" panose="020F0502020204030204" pitchFamily="34" charset="0"/>
                <a:ea typeface="SimSun" panose="02010600030101010101" pitchFamily="2" charset="-122"/>
                <a:cs typeface="Times New Roman" panose="02020603050405020304" pitchFamily="18" charset="0"/>
              </a:rPr>
              <a:t>, starting with the very first sprint, so that no agile project fails completely.</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Developing in sprints, </a:t>
            </a:r>
            <a:r>
              <a:rPr lang="en-US" sz="2000" b="1" dirty="0">
                <a:latin typeface="Calibri" panose="020F0502020204030204" pitchFamily="34" charset="0"/>
                <a:ea typeface="SimSun" panose="02010600030101010101" pitchFamily="2" charset="-122"/>
                <a:cs typeface="Times New Roman" panose="02020603050405020304" pitchFamily="18" charset="0"/>
              </a:rPr>
              <a:t>ensuring a short time between initial project investment and either failing fast or knowing that a product or an approach will work</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Generating revenue early with self-funding projects, allowing organizations to pay for a project with little up-front expense.</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Agile </a:t>
            </a:r>
            <a:r>
              <a:rPr lang="en-US" sz="2000" b="1" dirty="0">
                <a:latin typeface="Calibri" panose="020F0502020204030204" pitchFamily="34" charset="0"/>
                <a:ea typeface="SimSun" panose="02010600030101010101" pitchFamily="2" charset="-122"/>
                <a:cs typeface="Times New Roman" panose="02020603050405020304" pitchFamily="18" charset="0"/>
              </a:rPr>
              <a:t>gives freedom when new changes need to be implemented</a:t>
            </a:r>
            <a:r>
              <a:rPr lang="en-US" sz="2000" dirty="0">
                <a:latin typeface="Calibri" panose="020F0502020204030204" pitchFamily="34" charset="0"/>
                <a:ea typeface="SimSun" panose="02010600030101010101" pitchFamily="2" charset="-122"/>
                <a:cs typeface="Times New Roman" panose="02020603050405020304" pitchFamily="18" charset="0"/>
              </a:rPr>
              <a:t>. They can be implemented at very little cost because of the frequency of new increments that are produced.</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Adaptation to the client’s needs and preferences through the development process. Agile commonly uses </a:t>
            </a:r>
            <a:r>
              <a:rPr lang="en-US" sz="2000" b="1" dirty="0">
                <a:latin typeface="Calibri" panose="020F0502020204030204" pitchFamily="34" charset="0"/>
                <a:ea typeface="SimSun" panose="02010600030101010101" pitchFamily="2" charset="-122"/>
                <a:cs typeface="Times New Roman" panose="02020603050405020304" pitchFamily="18" charset="0"/>
              </a:rPr>
              <a:t>user stories with business-focused acceptance criteria to define product features</a:t>
            </a:r>
            <a:r>
              <a:rPr lang="en-US" sz="2000" dirty="0">
                <a:latin typeface="Calibri" panose="020F0502020204030204" pitchFamily="34" charset="0"/>
                <a:ea typeface="SimSun" panose="02010600030101010101" pitchFamily="2" charset="-122"/>
                <a:cs typeface="Times New Roman" panose="02020603050405020304" pitchFamily="18" charset="0"/>
              </a:rPr>
              <a:t>. By </a:t>
            </a:r>
            <a:r>
              <a:rPr lang="en-US" sz="2000" b="1" dirty="0">
                <a:latin typeface="Calibri" panose="020F0502020204030204" pitchFamily="34" charset="0"/>
                <a:ea typeface="SimSun" panose="02010600030101010101" pitchFamily="2" charset="-122"/>
                <a:cs typeface="Times New Roman" panose="02020603050405020304" pitchFamily="18" charset="0"/>
              </a:rPr>
              <a:t>focusing features on the needs of real customers, each feature incrementally delivers value, not just an IT component</a:t>
            </a:r>
            <a:r>
              <a:rPr lang="en-US" sz="2000" dirty="0">
                <a:latin typeface="Calibri" panose="020F0502020204030204" pitchFamily="34" charset="0"/>
                <a:ea typeface="SimSun" panose="02010600030101010101" pitchFamily="2" charset="-122"/>
                <a:cs typeface="Times New Roman" panose="02020603050405020304" pitchFamily="18" charset="0"/>
              </a:rPr>
              <a:t>. This also provides the opportunity to beta test software after each iteration, gaining valuable feedback early in the project and providing the ability to make changes as needed.</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214588617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Benefits(Faster ROI)</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066862"/>
            <a:ext cx="8500948" cy="5181538"/>
          </a:xfrm>
        </p:spPr>
        <p:txBody>
          <a:bodyPr/>
          <a:lstStyle/>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The fact that agile development is iterative means that the </a:t>
            </a:r>
            <a:r>
              <a:rPr lang="en-US" sz="2000" b="1" dirty="0">
                <a:latin typeface="Calibri" panose="020F0502020204030204" pitchFamily="34" charset="0"/>
                <a:ea typeface="SimSun" panose="02010600030101010101" pitchFamily="2" charset="-122"/>
                <a:cs typeface="Times New Roman" panose="02020603050405020304" pitchFamily="18" charset="0"/>
              </a:rPr>
              <a:t>features are delivered incrementally, therefore benefits are realized early while the product is in development process</a:t>
            </a:r>
            <a:r>
              <a:rPr lang="en-US" sz="2000" dirty="0">
                <a:latin typeface="Calibri" panose="020F0502020204030204" pitchFamily="34" charset="0"/>
                <a:ea typeface="SimSun" panose="02010600030101010101" pitchFamily="2" charset="-122"/>
                <a:cs typeface="Times New Roman" panose="02020603050405020304" pitchFamily="18" charset="0"/>
              </a:rPr>
              <a:t>.</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Development starts early.</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A functional ‘ready to market’ product after few iterations.</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First Mover Advantage.</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Long delivery cycles are often a problem for businesses, particularly those in fast-moving markets.</a:t>
            </a:r>
          </a:p>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Agile means </a:t>
            </a:r>
            <a:r>
              <a:rPr lang="en-US" sz="2000" b="1" dirty="0">
                <a:latin typeface="Calibri" panose="020F0502020204030204" pitchFamily="34" charset="0"/>
                <a:ea typeface="SimSun" panose="02010600030101010101" pitchFamily="2" charset="-122"/>
                <a:cs typeface="Times New Roman" panose="02020603050405020304" pitchFamily="18" charset="0"/>
              </a:rPr>
              <a:t>fast product releases and ability to gauge customer reaction and alter accordingly</a:t>
            </a:r>
            <a:r>
              <a:rPr lang="en-US" sz="2000" dirty="0">
                <a:latin typeface="Calibri" panose="020F0502020204030204" pitchFamily="34" charset="0"/>
                <a:ea typeface="SimSun" panose="02010600030101010101" pitchFamily="2" charset="-122"/>
                <a:cs typeface="Times New Roman" panose="02020603050405020304" pitchFamily="18" charset="0"/>
              </a:rPr>
              <a:t>, keeping you ahead of the competition.</a:t>
            </a:r>
          </a:p>
          <a:p>
            <a:pPr marL="0" indent="0">
              <a:buNone/>
            </a:pPr>
            <a:r>
              <a:rPr lang="en-US" sz="2000" b="1" dirty="0">
                <a:latin typeface="Calibri" panose="020F0502020204030204" pitchFamily="34" charset="0"/>
                <a:ea typeface="SimSun" panose="02010600030101010101" pitchFamily="2" charset="-122"/>
                <a:cs typeface="Times New Roman" panose="02020603050405020304" pitchFamily="18" charset="0"/>
              </a:rPr>
              <a:t>Focusing on Business value</a:t>
            </a:r>
            <a:r>
              <a:rPr lang="en-US" sz="2000" dirty="0">
                <a:latin typeface="Calibri" panose="020F0502020204030204" pitchFamily="34" charset="0"/>
                <a:ea typeface="SimSun" panose="02010600030101010101" pitchFamily="2" charset="-122"/>
                <a:cs typeface="Times New Roman" panose="02020603050405020304" pitchFamily="18" charset="0"/>
              </a:rPr>
              <a:t>. By allowing the client to determine the priority of features, the team understands what’s most important to the client’s business and can deliver features in the most valuable order.</a:t>
            </a: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0805252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Stakeholder Engagement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066862"/>
            <a:ext cx="8500948" cy="5181538"/>
          </a:xfrm>
        </p:spPr>
        <p:txBody>
          <a:bodyPr/>
          <a:lstStyle/>
          <a:p>
            <a:pPr marL="0" indent="0">
              <a:buNone/>
            </a:pPr>
            <a:r>
              <a:rPr lang="en-US" sz="2000" dirty="0">
                <a:latin typeface="Calibri" panose="020F0502020204030204" pitchFamily="34" charset="0"/>
                <a:ea typeface="SimSun" panose="02010600030101010101" pitchFamily="2" charset="-122"/>
                <a:cs typeface="Times New Roman" panose="02020603050405020304" pitchFamily="18" charset="0"/>
              </a:rPr>
              <a:t>Agile presents multiple prospects for </a:t>
            </a:r>
            <a:r>
              <a:rPr lang="en-US" sz="2000" b="1" dirty="0">
                <a:latin typeface="Calibri" panose="020F0502020204030204" pitchFamily="34" charset="0"/>
                <a:ea typeface="SimSun" panose="02010600030101010101" pitchFamily="2" charset="-122"/>
                <a:cs typeface="Times New Roman" panose="02020603050405020304" pitchFamily="18" charset="0"/>
              </a:rPr>
              <a:t>team engagement and stakeholder – after, before, and during each Sprint</a:t>
            </a:r>
            <a:r>
              <a:rPr lang="en-US" sz="2000" dirty="0">
                <a:latin typeface="Calibri" panose="020F0502020204030204" pitchFamily="34" charset="0"/>
                <a:ea typeface="SimSun" panose="02010600030101010101" pitchFamily="2" charset="-122"/>
                <a:cs typeface="Times New Roman" panose="02020603050405020304" pitchFamily="18" charset="0"/>
              </a:rPr>
              <a:t>. By linking the client with each step of the project, there is an elevated amount of collaboration between the project team and client, providing more chances for the team to really understand the client’s perspective. “Bringing working software near the beginning and commonly increases stakeholders’ faith in the team’s capability to deliver high-quality working software and supports them to be more deeply occupied in the project.”</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
        <p:nvSpPr>
          <p:cNvPr id="18" name="Rectangle 16">
            <a:extLst>
              <a:ext uri="{FF2B5EF4-FFF2-40B4-BE49-F238E27FC236}">
                <a16:creationId xmlns:a16="http://schemas.microsoft.com/office/drawing/2014/main" id="{5AF3F9E1-0FB6-412C-8083-02B69CE6737E}"/>
              </a:ext>
            </a:extLst>
          </p:cNvPr>
          <p:cNvSpPr txBox="1">
            <a:spLocks noChangeArrowheads="1"/>
          </p:cNvSpPr>
          <p:nvPr/>
        </p:nvSpPr>
        <p:spPr bwMode="auto">
          <a:xfrm>
            <a:off x="446003" y="3657594"/>
            <a:ext cx="846928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lst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a:lstStyle>
          <a:p>
            <a:pPr algn="ctr" eaLnBrk="1" hangingPunct="1"/>
            <a:r>
              <a:rPr lang="en-US" sz="3200" dirty="0"/>
              <a:t>Transparency</a:t>
            </a:r>
            <a:endParaRPr lang="en-US" altLang="de-DE" sz="3200" dirty="0"/>
          </a:p>
        </p:txBody>
      </p:sp>
      <p:sp>
        <p:nvSpPr>
          <p:cNvPr id="20" name="TextBox 19">
            <a:extLst>
              <a:ext uri="{FF2B5EF4-FFF2-40B4-BE49-F238E27FC236}">
                <a16:creationId xmlns:a16="http://schemas.microsoft.com/office/drawing/2014/main" id="{7426F152-2675-432B-908B-179B4786E3AB}"/>
              </a:ext>
            </a:extLst>
          </p:cNvPr>
          <p:cNvSpPr txBox="1"/>
          <p:nvPr/>
        </p:nvSpPr>
        <p:spPr>
          <a:xfrm>
            <a:off x="446003" y="4097807"/>
            <a:ext cx="8045535" cy="2000548"/>
          </a:xfrm>
          <a:prstGeom prst="rect">
            <a:avLst/>
          </a:prstGeom>
          <a:noFill/>
        </p:spPr>
        <p:txBody>
          <a:bodyPr wrap="square">
            <a:spAutoFit/>
          </a:bodyPr>
          <a:lstStyle/>
          <a:p>
            <a:r>
              <a:rPr lang="en-US" sz="2000" dirty="0">
                <a:latin typeface="+mn-lt"/>
              </a:rPr>
              <a:t>An exclusive opportunity for </a:t>
            </a:r>
            <a:r>
              <a:rPr lang="en-US" sz="2000" b="1" dirty="0">
                <a:latin typeface="+mn-lt"/>
              </a:rPr>
              <a:t>customers to be involved all through the project,</a:t>
            </a:r>
            <a:r>
              <a:rPr lang="en-US" sz="2000" dirty="0">
                <a:latin typeface="+mn-lt"/>
              </a:rPr>
              <a:t> from prioritizing characteristics to iteration planning and evaluation sessions to recurrent software builds enclosing new characteristics, these all are provided by agile development. However, this also involves clients to appreciate that they are seeing a job in progress in trade for this added benefit of lucidity</a:t>
            </a:r>
            <a:r>
              <a:rPr lang="en-US" dirty="0">
                <a:latin typeface="+mn-lt"/>
              </a:rPr>
              <a:t>.</a:t>
            </a:r>
          </a:p>
        </p:txBody>
      </p:sp>
    </p:spTree>
    <p:extLst>
      <p:ext uri="{BB962C8B-B14F-4D97-AF65-F5344CB8AC3E}">
        <p14:creationId xmlns:p14="http://schemas.microsoft.com/office/powerpoint/2010/main" val="196774687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Early and Predictable Delivery</a:t>
            </a:r>
            <a:br>
              <a:rPr lang="en-US" sz="2400" b="0" i="0" dirty="0">
                <a:solidFill>
                  <a:srgbClr val="2B4C55"/>
                </a:solidFill>
                <a:effectLst/>
                <a:latin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 name="TextBox 19">
            <a:extLst>
              <a:ext uri="{FF2B5EF4-FFF2-40B4-BE49-F238E27FC236}">
                <a16:creationId xmlns:a16="http://schemas.microsoft.com/office/drawing/2014/main" id="{A17CCF4E-C542-4C01-9BA5-148F0A822D65}"/>
              </a:ext>
            </a:extLst>
          </p:cNvPr>
          <p:cNvSpPr txBox="1"/>
          <p:nvPr/>
        </p:nvSpPr>
        <p:spPr>
          <a:xfrm>
            <a:off x="381110" y="886393"/>
            <a:ext cx="8762890" cy="1323439"/>
          </a:xfrm>
          <a:prstGeom prst="rect">
            <a:avLst/>
          </a:prstGeom>
          <a:noFill/>
        </p:spPr>
        <p:txBody>
          <a:bodyPr wrap="square">
            <a:spAutoFit/>
          </a:bodyPr>
          <a:lstStyle/>
          <a:p>
            <a:r>
              <a:rPr lang="en-US" sz="2000" b="0" i="0" dirty="0">
                <a:solidFill>
                  <a:srgbClr val="464646"/>
                </a:solidFill>
                <a:effectLst/>
                <a:latin typeface="+mn-lt"/>
              </a:rPr>
              <a:t>By means of time-boxed, unchanging schedule Sprints of 1-6 weeks, new attributes are delivered quickly and frequently, with a high level of predictability. This also offers the occasion to release or alpha test the software previous than planned if there is sufficient business value.</a:t>
            </a:r>
            <a:endParaRPr lang="en-US" sz="2000" dirty="0">
              <a:latin typeface="+mn-lt"/>
            </a:endParaRPr>
          </a:p>
        </p:txBody>
      </p:sp>
      <p:sp>
        <p:nvSpPr>
          <p:cNvPr id="23" name="Rectangle 16">
            <a:extLst>
              <a:ext uri="{FF2B5EF4-FFF2-40B4-BE49-F238E27FC236}">
                <a16:creationId xmlns:a16="http://schemas.microsoft.com/office/drawing/2014/main" id="{6FFD1727-CFB3-4A0E-9D7C-F236F5B43C85}"/>
              </a:ext>
            </a:extLst>
          </p:cNvPr>
          <p:cNvSpPr txBox="1">
            <a:spLocks noChangeArrowheads="1"/>
          </p:cNvSpPr>
          <p:nvPr/>
        </p:nvSpPr>
        <p:spPr bwMode="auto">
          <a:xfrm>
            <a:off x="446003" y="2727329"/>
            <a:ext cx="83168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ctr" anchorCtr="0" compatLnSpc="1"/>
          <a:lst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a:lstStyle>
          <a:p>
            <a:pPr algn="ctr" eaLnBrk="1" hangingPunct="1"/>
            <a:br>
              <a:rPr lang="en-US" sz="3200" dirty="0"/>
            </a:br>
            <a:r>
              <a:rPr lang="en-US" sz="3200" dirty="0"/>
              <a:t>Inevitable Costs and Schedule</a:t>
            </a:r>
            <a:br>
              <a:rPr lang="en-US" sz="2400" b="0" dirty="0">
                <a:solidFill>
                  <a:srgbClr val="2B4C55"/>
                </a:solidFill>
                <a:latin typeface="Times New Roman" panose="02020603050405020304" pitchFamily="18" charset="0"/>
              </a:rPr>
            </a:br>
            <a:br>
              <a:rPr lang="en-US" sz="1800" dirty="0">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25" name="TextBox 24">
            <a:extLst>
              <a:ext uri="{FF2B5EF4-FFF2-40B4-BE49-F238E27FC236}">
                <a16:creationId xmlns:a16="http://schemas.microsoft.com/office/drawing/2014/main" id="{1A555D70-A024-459A-8271-935A5CE2F17E}"/>
              </a:ext>
            </a:extLst>
          </p:cNvPr>
          <p:cNvSpPr txBox="1"/>
          <p:nvPr/>
        </p:nvSpPr>
        <p:spPr>
          <a:xfrm>
            <a:off x="446004" y="3429000"/>
            <a:ext cx="8316886" cy="1938992"/>
          </a:xfrm>
          <a:prstGeom prst="rect">
            <a:avLst/>
          </a:prstGeom>
          <a:noFill/>
        </p:spPr>
        <p:txBody>
          <a:bodyPr wrap="square">
            <a:spAutoFit/>
          </a:bodyPr>
          <a:lstStyle/>
          <a:p>
            <a:r>
              <a:rPr lang="en-US" sz="2000" dirty="0">
                <a:solidFill>
                  <a:srgbClr val="464646"/>
                </a:solidFill>
                <a:latin typeface="+mn-lt"/>
              </a:rPr>
              <a:t>Because each cycle is a fixed duration, the rate is predictable and partial to the amount of work that can be performed by the team in the fixed-schedule time period. Shared with the estimates provided to the customer prior to each cycle, the client can more gladly understand the estimated cost of each feature, which further improves conclusion making about the precedence of features and the need for additional iterations.</a:t>
            </a:r>
          </a:p>
        </p:txBody>
      </p:sp>
    </p:spTree>
    <p:extLst>
      <p:ext uri="{BB962C8B-B14F-4D97-AF65-F5344CB8AC3E}">
        <p14:creationId xmlns:p14="http://schemas.microsoft.com/office/powerpoint/2010/main" val="352928461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Agile Umbrella</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B4F3E507-94FC-4AE9-BB2F-9934C37A81BB}"/>
              </a:ext>
            </a:extLst>
          </p:cNvPr>
          <p:cNvPicPr>
            <a:picLocks noChangeAspect="1"/>
          </p:cNvPicPr>
          <p:nvPr/>
        </p:nvPicPr>
        <p:blipFill>
          <a:blip r:embed="rId3"/>
          <a:stretch>
            <a:fillRect/>
          </a:stretch>
        </p:blipFill>
        <p:spPr>
          <a:xfrm>
            <a:off x="685801" y="905793"/>
            <a:ext cx="6934120" cy="5411253"/>
          </a:xfrm>
          <a:prstGeom prst="rect">
            <a:avLst/>
          </a:prstGeom>
        </p:spPr>
      </p:pic>
    </p:spTree>
    <p:extLst>
      <p:ext uri="{BB962C8B-B14F-4D97-AF65-F5344CB8AC3E}">
        <p14:creationId xmlns:p14="http://schemas.microsoft.com/office/powerpoint/2010/main" val="34252774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8A979F98-81C1-4BB0-A12D-B44340E25988}"/>
              </a:ext>
            </a:extLst>
          </p:cNvPr>
          <p:cNvPicPr>
            <a:picLocks noChangeAspect="1"/>
          </p:cNvPicPr>
          <p:nvPr/>
        </p:nvPicPr>
        <p:blipFill>
          <a:blip r:embed="rId3"/>
          <a:stretch>
            <a:fillRect/>
          </a:stretch>
        </p:blipFill>
        <p:spPr>
          <a:xfrm>
            <a:off x="1117590" y="1295456"/>
            <a:ext cx="6273736" cy="4506240"/>
          </a:xfrm>
          <a:prstGeom prst="rect">
            <a:avLst/>
          </a:prstGeom>
        </p:spPr>
      </p:pic>
    </p:spTree>
    <p:extLst>
      <p:ext uri="{BB962C8B-B14F-4D97-AF65-F5344CB8AC3E}">
        <p14:creationId xmlns:p14="http://schemas.microsoft.com/office/powerpoint/2010/main" val="183853375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E912F5E2-E11F-445F-898A-B1546EA6699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58"/>
            <a:ext cx="7673863" cy="4571880"/>
          </a:xfrm>
          <a:prstGeom prst="rect">
            <a:avLst/>
          </a:prstGeom>
          <a:noFill/>
          <a:ln>
            <a:noFill/>
          </a:ln>
        </p:spPr>
      </p:pic>
    </p:spTree>
    <p:extLst>
      <p:ext uri="{BB962C8B-B14F-4D97-AF65-F5344CB8AC3E}">
        <p14:creationId xmlns:p14="http://schemas.microsoft.com/office/powerpoint/2010/main" val="2288971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TextBox 1">
            <a:extLst>
              <a:ext uri="{FF2B5EF4-FFF2-40B4-BE49-F238E27FC236}">
                <a16:creationId xmlns:a16="http://schemas.microsoft.com/office/drawing/2014/main" id="{9C9810F5-F7D4-4EA0-953F-E87C45BF520C}"/>
              </a:ext>
            </a:extLst>
          </p:cNvPr>
          <p:cNvSpPr txBox="1"/>
          <p:nvPr/>
        </p:nvSpPr>
        <p:spPr>
          <a:xfrm>
            <a:off x="533386" y="533476"/>
            <a:ext cx="8610494" cy="1066772"/>
          </a:xfrm>
          <a:prstGeom prst="rect">
            <a:avLst/>
          </a:prstGeom>
        </p:spPr>
        <p:txBody>
          <a:bodyPr vert="horz" wrap="none" lIns="91440" tIns="45720" rIns="91440" bIns="45720" rtlCol="0" anchor="ctr">
            <a:noAutofit/>
          </a:bodyPr>
          <a:lstStyle/>
          <a:p>
            <a:endParaRPr lang="en-US" sz="18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endParaRPr>
          </a:p>
          <a:p>
            <a:endParaRPr lang="en-US" sz="18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endParaRPr>
          </a:p>
          <a:p>
            <a:r>
              <a:rPr lang="en-US" b="1" dirty="0">
                <a:solidFill>
                  <a:srgbClr val="263B4F"/>
                </a:solidFill>
                <a:effectLst/>
                <a:latin typeface="Calibri" panose="020F0502020204030204" pitchFamily="34" charset="0"/>
                <a:ea typeface="Times New Roman" panose="02020603050405020304" pitchFamily="18" charset="0"/>
                <a:cs typeface="Calibri" panose="020F0502020204030204" pitchFamily="34" charset="0"/>
              </a:rPr>
              <a:t>Commitment</a:t>
            </a:r>
            <a:r>
              <a:rPr lang="en-US" b="1" dirty="0">
                <a:latin typeface="Calibri" panose="020F0502020204030204" pitchFamily="34" charset="0"/>
                <a:ea typeface="Times New Roman" panose="02020603050405020304" pitchFamily="18" charset="0"/>
                <a:cs typeface="Times New Roman" panose="02020603050405020304" pitchFamily="18" charset="0"/>
              </a:rPr>
              <a:t>:</a:t>
            </a:r>
            <a:endParaRPr lang="en-US" dirty="0">
              <a:solidFill>
                <a:srgbClr val="415970"/>
              </a:solidFill>
              <a:latin typeface="Calibri" panose="020F0502020204030204" pitchFamily="34" charset="0"/>
              <a:ea typeface="Times New Roman" panose="02020603050405020304" pitchFamily="18" charset="0"/>
              <a:cs typeface="Calibri" panose="020F0502020204030204" pitchFamily="34" charset="0"/>
            </a:endParaRP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Committing to something that you don’t understand because you are told to by</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 your boss  instead of committing yourself to the team and Sprint Goal.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l"/>
            <a:endParaRPr lang="en-US" sz="4000" dirty="0">
              <a:solidFill>
                <a:srgbClr val="F68B1F"/>
              </a:solidFill>
            </a:endParaRPr>
          </a:p>
        </p:txBody>
      </p:sp>
      <p:sp>
        <p:nvSpPr>
          <p:cNvPr id="19" name="TextBox 18">
            <a:extLst>
              <a:ext uri="{FF2B5EF4-FFF2-40B4-BE49-F238E27FC236}">
                <a16:creationId xmlns:a16="http://schemas.microsoft.com/office/drawing/2014/main" id="{498246D2-4CF6-417F-88F2-F781144CFC58}"/>
              </a:ext>
            </a:extLst>
          </p:cNvPr>
          <p:cNvSpPr txBox="1"/>
          <p:nvPr/>
        </p:nvSpPr>
        <p:spPr>
          <a:xfrm>
            <a:off x="120" y="1219258"/>
            <a:ext cx="8839208" cy="1676356"/>
          </a:xfrm>
          <a:prstGeom prst="rect">
            <a:avLst/>
          </a:prstGeom>
        </p:spPr>
        <p:txBody>
          <a:bodyPr vert="horz" wrap="none" lIns="91440" tIns="45720" rIns="91440" bIns="45720" rtlCol="0" anchor="ctr">
            <a:noAutofit/>
          </a:bodyPr>
          <a:lstStyle/>
          <a:p>
            <a:r>
              <a:rPr lang="en-US" b="1" dirty="0">
                <a:solidFill>
                  <a:srgbClr val="263B4F"/>
                </a:solidFill>
                <a:effectLst/>
                <a:latin typeface="Calibri" panose="020F0502020204030204" pitchFamily="34" charset="0"/>
                <a:ea typeface="Times New Roman" panose="02020603050405020304" pitchFamily="18" charset="0"/>
                <a:cs typeface="Calibri" panose="020F0502020204030204" pitchFamily="34" charset="0"/>
              </a:rPr>
              <a:t>Focus</a:t>
            </a:r>
            <a:r>
              <a:rPr lang="en-US" b="1" dirty="0">
                <a:latin typeface="Calibri" panose="020F0502020204030204" pitchFamily="34" charset="0"/>
                <a:ea typeface="Times New Roman" panose="02020603050405020304" pitchFamily="18" charset="0"/>
                <a:cs typeface="Times New Roman" panose="02020603050405020304" pitchFamily="18" charset="0"/>
              </a:rPr>
              <a:t>:</a:t>
            </a:r>
            <a:endParaRPr lang="en-US" dirty="0">
              <a:solidFill>
                <a:srgbClr val="415970"/>
              </a:solidFill>
              <a:latin typeface="Calibri" panose="020F0502020204030204" pitchFamily="34" charset="0"/>
              <a:ea typeface="Times New Roman" panose="02020603050405020304" pitchFamily="18" charset="0"/>
              <a:cs typeface="Calibri" panose="020F0502020204030204" pitchFamily="34" charset="0"/>
            </a:endParaRP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We focus on what’s most nearby in time as the future is highly uncertain and we </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want to learn from the present to gain experience for future work. We focus on </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the work to get things done. We focus on the simplest thing that might possibly work.</a:t>
            </a:r>
            <a:endParaRPr lang="en-US" sz="4000" dirty="0">
              <a:solidFill>
                <a:srgbClr val="F68B1F"/>
              </a:solidFill>
            </a:endParaRPr>
          </a:p>
        </p:txBody>
      </p:sp>
      <p:sp>
        <p:nvSpPr>
          <p:cNvPr id="20" name="TextBox 19">
            <a:extLst>
              <a:ext uri="{FF2B5EF4-FFF2-40B4-BE49-F238E27FC236}">
                <a16:creationId xmlns:a16="http://schemas.microsoft.com/office/drawing/2014/main" id="{B361C1E6-6C74-4307-ADB8-9B1177338AA8}"/>
              </a:ext>
            </a:extLst>
          </p:cNvPr>
          <p:cNvSpPr txBox="1"/>
          <p:nvPr/>
        </p:nvSpPr>
        <p:spPr>
          <a:xfrm>
            <a:off x="120" y="2667020"/>
            <a:ext cx="8610494" cy="1066772"/>
          </a:xfrm>
          <a:prstGeom prst="rect">
            <a:avLst/>
          </a:prstGeom>
        </p:spPr>
        <p:txBody>
          <a:bodyPr vert="horz" wrap="none" lIns="91440" tIns="45720" rIns="91440" bIns="45720" rtlCol="0" anchor="ctr">
            <a:noAutofit/>
          </a:bodyPr>
          <a:lstStyle/>
          <a:p>
            <a:endParaRPr lang="en-US" sz="18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endParaRPr>
          </a:p>
          <a:p>
            <a:endParaRPr lang="en-US" sz="1800" b="1"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endParaRPr>
          </a:p>
          <a:p>
            <a:r>
              <a:rPr lang="en-US" b="1" dirty="0">
                <a:solidFill>
                  <a:srgbClr val="263B4F"/>
                </a:solidFill>
                <a:latin typeface="Calibri" panose="020F0502020204030204" pitchFamily="34" charset="0"/>
                <a:ea typeface="Times New Roman" panose="02020603050405020304" pitchFamily="18" charset="0"/>
                <a:cs typeface="Calibri" panose="020F0502020204030204" pitchFamily="34" charset="0"/>
              </a:rPr>
              <a:t>Openness</a:t>
            </a:r>
            <a:r>
              <a:rPr lang="en-US" b="1" dirty="0">
                <a:latin typeface="Calibri" panose="020F0502020204030204" pitchFamily="34" charset="0"/>
                <a:ea typeface="Times New Roman" panose="02020603050405020304" pitchFamily="18" charset="0"/>
                <a:cs typeface="Times New Roman" panose="02020603050405020304" pitchFamily="18" charset="0"/>
              </a:rPr>
              <a:t>:</a:t>
            </a:r>
            <a:endParaRPr lang="en-US" dirty="0">
              <a:solidFill>
                <a:srgbClr val="415970"/>
              </a:solidFill>
              <a:latin typeface="Calibri" panose="020F0502020204030204" pitchFamily="34" charset="0"/>
              <a:ea typeface="Times New Roman" panose="02020603050405020304" pitchFamily="18" charset="0"/>
              <a:cs typeface="Calibri" panose="020F0502020204030204" pitchFamily="34" charset="0"/>
            </a:endParaRP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Telling everyone everything about all your work instead of highlighting when you </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have challenges and problems that are stopping you from success. </a:t>
            </a:r>
          </a:p>
          <a:p>
            <a:pPr algn="l"/>
            <a:endParaRPr lang="en-US" sz="4000" dirty="0">
              <a:solidFill>
                <a:srgbClr val="F68B1F"/>
              </a:solidFill>
            </a:endParaRPr>
          </a:p>
        </p:txBody>
      </p:sp>
      <p:sp>
        <p:nvSpPr>
          <p:cNvPr id="21" name="TextBox 20">
            <a:extLst>
              <a:ext uri="{FF2B5EF4-FFF2-40B4-BE49-F238E27FC236}">
                <a16:creationId xmlns:a16="http://schemas.microsoft.com/office/drawing/2014/main" id="{42D64523-C730-4726-89D8-1AB0AB65B623}"/>
              </a:ext>
            </a:extLst>
          </p:cNvPr>
          <p:cNvSpPr txBox="1"/>
          <p:nvPr/>
        </p:nvSpPr>
        <p:spPr>
          <a:xfrm>
            <a:off x="-120" y="3581396"/>
            <a:ext cx="8991604" cy="1066772"/>
          </a:xfrm>
          <a:prstGeom prst="rect">
            <a:avLst/>
          </a:prstGeom>
        </p:spPr>
        <p:txBody>
          <a:bodyPr vert="horz" wrap="none" lIns="91440" tIns="45720" rIns="91440" bIns="45720" rtlCol="0" anchor="ctr">
            <a:noAutofit/>
          </a:bodyPr>
          <a:lstStyle/>
          <a:p>
            <a:endParaRPr lang="en-US" sz="18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endParaRPr>
          </a:p>
          <a:p>
            <a:endParaRPr lang="en-US" sz="1800" b="1"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endParaRPr>
          </a:p>
          <a:p>
            <a:r>
              <a:rPr lang="en-US" b="1" dirty="0">
                <a:solidFill>
                  <a:srgbClr val="263B4F"/>
                </a:solidFill>
                <a:latin typeface="Calibri" panose="020F0502020204030204" pitchFamily="34" charset="0"/>
                <a:ea typeface="Times New Roman" panose="02020603050405020304" pitchFamily="18" charset="0"/>
                <a:cs typeface="Calibri" panose="020F0502020204030204" pitchFamily="34" charset="0"/>
              </a:rPr>
              <a:t>Respect</a:t>
            </a:r>
            <a:r>
              <a:rPr lang="en-US" b="1" dirty="0">
                <a:latin typeface="Calibri" panose="020F0502020204030204" pitchFamily="34" charset="0"/>
                <a:ea typeface="Times New Roman" panose="02020603050405020304" pitchFamily="18" charset="0"/>
                <a:cs typeface="Times New Roman" panose="02020603050405020304" pitchFamily="18" charset="0"/>
              </a:rPr>
              <a:t>:</a:t>
            </a:r>
            <a:endParaRPr lang="en-US" dirty="0">
              <a:solidFill>
                <a:srgbClr val="415970"/>
              </a:solidFill>
              <a:latin typeface="Calibri" panose="020F0502020204030204" pitchFamily="34" charset="0"/>
              <a:ea typeface="Times New Roman" panose="02020603050405020304" pitchFamily="18" charset="0"/>
              <a:cs typeface="Calibri" panose="020F0502020204030204" pitchFamily="34" charset="0"/>
            </a:endParaRP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Thinking you are helping the team by being a hero instead of helping people to learn</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the things that you are good at and not judging the things that others aren’t good at </a:t>
            </a:r>
          </a:p>
          <a:p>
            <a:pPr algn="l"/>
            <a:endParaRPr lang="en-US" sz="4000" dirty="0">
              <a:solidFill>
                <a:srgbClr val="F68B1F"/>
              </a:solidFill>
            </a:endParaRPr>
          </a:p>
        </p:txBody>
      </p:sp>
      <p:sp>
        <p:nvSpPr>
          <p:cNvPr id="22" name="TextBox 21">
            <a:extLst>
              <a:ext uri="{FF2B5EF4-FFF2-40B4-BE49-F238E27FC236}">
                <a16:creationId xmlns:a16="http://schemas.microsoft.com/office/drawing/2014/main" id="{439BF130-479C-4374-94C9-61D307D70F93}"/>
              </a:ext>
            </a:extLst>
          </p:cNvPr>
          <p:cNvSpPr txBox="1"/>
          <p:nvPr/>
        </p:nvSpPr>
        <p:spPr>
          <a:xfrm>
            <a:off x="120" y="4571969"/>
            <a:ext cx="9296156" cy="2286031"/>
          </a:xfrm>
          <a:prstGeom prst="rect">
            <a:avLst/>
          </a:prstGeom>
        </p:spPr>
        <p:txBody>
          <a:bodyPr vert="horz" wrap="none" lIns="91440" tIns="45720" rIns="91440" bIns="45720" rtlCol="0" anchor="ctr">
            <a:noAutofit/>
          </a:bodyPr>
          <a:lstStyle/>
          <a:p>
            <a:r>
              <a:rPr lang="en-US" b="1" dirty="0">
                <a:solidFill>
                  <a:srgbClr val="263B4F"/>
                </a:solidFill>
                <a:latin typeface="Calibri" panose="020F0502020204030204" pitchFamily="34" charset="0"/>
                <a:ea typeface="Times New Roman" panose="02020603050405020304" pitchFamily="18" charset="0"/>
                <a:cs typeface="Calibri" panose="020F0502020204030204" pitchFamily="34" charset="0"/>
              </a:rPr>
              <a:t>Courage</a:t>
            </a:r>
            <a:r>
              <a:rPr lang="en-US" b="1" dirty="0">
                <a:latin typeface="Calibri" panose="020F0502020204030204" pitchFamily="34" charset="0"/>
                <a:ea typeface="Times New Roman" panose="02020603050405020304" pitchFamily="18" charset="0"/>
                <a:cs typeface="Times New Roman" panose="02020603050405020304" pitchFamily="18" charset="0"/>
              </a:rPr>
              <a:t>:</a:t>
            </a:r>
            <a:endParaRPr lang="en-US" dirty="0">
              <a:solidFill>
                <a:srgbClr val="415970"/>
              </a:solidFill>
              <a:latin typeface="Calibri" panose="020F0502020204030204" pitchFamily="34" charset="0"/>
              <a:ea typeface="Times New Roman" panose="02020603050405020304" pitchFamily="18" charset="0"/>
              <a:cs typeface="Calibri" panose="020F0502020204030204" pitchFamily="34" charset="0"/>
            </a:endParaRP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Courage to consider change as a source of inspiration and innovation. Courage to </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not deliver undone software. Courage in sharing all possible information (transparency)</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that might help the team and the organization. Courage in admitting that nobody is</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 perfect. Courage to change direction. Courage to share risks and benefits. Courage </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to promote Scrum and empiricism to deal with complexity. We show courage to</a:t>
            </a:r>
          </a:p>
          <a:p>
            <a:r>
              <a:rPr lang="en-US" sz="2000" dirty="0">
                <a:solidFill>
                  <a:srgbClr val="415970"/>
                </a:solidFill>
                <a:effectLst/>
                <a:latin typeface="Calibri" panose="020F0502020204030204" pitchFamily="34" charset="0"/>
                <a:ea typeface="Times New Roman" panose="02020603050405020304" pitchFamily="18" charset="0"/>
                <a:cs typeface="Calibri" panose="020F0502020204030204" pitchFamily="34" charset="0"/>
              </a:rPr>
              <a:t> support the Scrum Values.</a:t>
            </a:r>
            <a:endParaRPr lang="en-US" sz="4000" dirty="0">
              <a:solidFill>
                <a:srgbClr val="F68B1F"/>
              </a:solidFill>
            </a:endParaRPr>
          </a:p>
        </p:txBody>
      </p:sp>
    </p:spTree>
    <p:extLst>
      <p:ext uri="{BB962C8B-B14F-4D97-AF65-F5344CB8AC3E}">
        <p14:creationId xmlns:p14="http://schemas.microsoft.com/office/powerpoint/2010/main" val="101908081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Defined Vs. Empirical Process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C6AA9C2B-41E2-408A-BD3C-3A8BF66DD315}"/>
              </a:ext>
            </a:extLst>
          </p:cNvPr>
          <p:cNvPicPr>
            <a:picLocks noChangeAspect="1"/>
          </p:cNvPicPr>
          <p:nvPr/>
        </p:nvPicPr>
        <p:blipFill>
          <a:blip r:embed="rId3"/>
          <a:stretch>
            <a:fillRect/>
          </a:stretch>
        </p:blipFill>
        <p:spPr>
          <a:xfrm>
            <a:off x="76318" y="1383114"/>
            <a:ext cx="8915166" cy="4057096"/>
          </a:xfrm>
          <a:prstGeom prst="rect">
            <a:avLst/>
          </a:prstGeom>
        </p:spPr>
      </p:pic>
    </p:spTree>
    <p:extLst>
      <p:ext uri="{BB962C8B-B14F-4D97-AF65-F5344CB8AC3E}">
        <p14:creationId xmlns:p14="http://schemas.microsoft.com/office/powerpoint/2010/main" val="378926455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The Three Pillars of Empiricism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9480C8D7-5A06-4DC8-BD62-F084E7893AD0}"/>
              </a:ext>
            </a:extLst>
          </p:cNvPr>
          <p:cNvPicPr>
            <a:picLocks noChangeAspect="1"/>
          </p:cNvPicPr>
          <p:nvPr/>
        </p:nvPicPr>
        <p:blipFill>
          <a:blip r:embed="rId3"/>
          <a:stretch>
            <a:fillRect/>
          </a:stretch>
        </p:blipFill>
        <p:spPr>
          <a:xfrm>
            <a:off x="121" y="1371654"/>
            <a:ext cx="8964596" cy="3809900"/>
          </a:xfrm>
          <a:prstGeom prst="rect">
            <a:avLst/>
          </a:prstGeom>
        </p:spPr>
      </p:pic>
    </p:spTree>
    <p:extLst>
      <p:ext uri="{BB962C8B-B14F-4D97-AF65-F5344CB8AC3E}">
        <p14:creationId xmlns:p14="http://schemas.microsoft.com/office/powerpoint/2010/main" val="70062007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838298" y="76288"/>
            <a:ext cx="8229384" cy="609494"/>
          </a:xfrm>
        </p:spPr>
        <p:txBody>
          <a:bodyPr lIns="90488" tIns="44450" rIns="90488" bIns="44450"/>
          <a:lstStyle/>
          <a:p>
            <a:pPr algn="ctr" eaLnBrk="1" hangingPunct="1"/>
            <a:br>
              <a:rPr lang="en-US" sz="3200" dirty="0"/>
            </a:br>
            <a:r>
              <a:rPr lang="en-US" sz="3200" dirty="0"/>
              <a:t>The Three Pillars of Empiricism </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76318" y="990574"/>
            <a:ext cx="9067682" cy="6095930"/>
          </a:xfrm>
        </p:spPr>
        <p:txBody>
          <a:bodyPr/>
          <a:lstStyle/>
          <a:p>
            <a:pPr marL="0" indent="0" algn="l">
              <a:buNone/>
            </a:pPr>
            <a:r>
              <a:rPr lang="en-US" sz="1800" b="1" i="0" dirty="0">
                <a:effectLst/>
                <a:latin typeface="+mn-lt"/>
              </a:rPr>
              <a:t>Transparency</a:t>
            </a:r>
            <a:r>
              <a:rPr lang="en-US" sz="1800" b="0" i="0" dirty="0">
                <a:effectLst/>
                <a:latin typeface="+mn-lt"/>
              </a:rPr>
              <a:t>: This means </a:t>
            </a:r>
            <a:r>
              <a:rPr lang="en-US" sz="1800" b="1" i="0" dirty="0">
                <a:effectLst/>
                <a:latin typeface="+mn-lt"/>
              </a:rPr>
              <a:t>presenting the facts as is</a:t>
            </a:r>
            <a:r>
              <a:rPr lang="en-US" sz="1800" b="0" i="0" dirty="0">
                <a:effectLst/>
                <a:latin typeface="+mn-lt"/>
              </a:rPr>
              <a:t>. All people involved—the customer, the CEO, individual contributors—are transparent in their day-to-day dealings with others. They all trust each other, and they have the courage to keep each other abreast of good news as well as bad news. Everyone strives and collectively collaborates for the common organizational objective, and no one has any hidden agenda.</a:t>
            </a:r>
          </a:p>
          <a:p>
            <a:pPr marL="0" indent="0">
              <a:buNone/>
            </a:pPr>
            <a:r>
              <a:rPr lang="en-US" sz="1800" b="1" i="0" dirty="0">
                <a:effectLst/>
                <a:latin typeface="+mn-lt"/>
              </a:rPr>
              <a:t>Inspection</a:t>
            </a:r>
            <a:r>
              <a:rPr lang="en-US" sz="1800" b="0" i="0" dirty="0">
                <a:effectLst/>
                <a:latin typeface="+mn-lt"/>
              </a:rPr>
              <a:t>: Inspection in this context is not an inspection by an inspector or an auditor but an inspection by every- one on the Scrum Team. The inspection can be done for the product, processes, people aspects, practices, and continuous improvements. For example, the team openly and transparently shows the product at the end of each Sprint to the customer in order to gather valuable feedback. If the customer changes the requirements during inspection, the team does not complain but rather adapts by using this as an opportunity to collaborate with the customer to clarify the requirements and test out the new hypothesis.</a:t>
            </a:r>
          </a:p>
          <a:p>
            <a:pPr marL="0" indent="0">
              <a:buNone/>
            </a:pPr>
            <a:r>
              <a:rPr lang="en-US" sz="1800" b="1" i="0" dirty="0">
                <a:effectLst/>
                <a:latin typeface="+mn-lt"/>
              </a:rPr>
              <a:t>Adaptation</a:t>
            </a:r>
            <a:r>
              <a:rPr lang="en-US" sz="1800" b="0" i="0" dirty="0">
                <a:effectLst/>
                <a:latin typeface="+mn-lt"/>
              </a:rPr>
              <a:t>: Adaptation in this context is about </a:t>
            </a:r>
            <a:r>
              <a:rPr lang="en-US" sz="1800" b="1" i="0" dirty="0">
                <a:effectLst/>
                <a:latin typeface="+mn-lt"/>
              </a:rPr>
              <a:t>continuous improvement, the ability to adapt based on the results of the inspection. </a:t>
            </a:r>
            <a:r>
              <a:rPr lang="en-US" sz="1800" b="0" i="0" dirty="0">
                <a:effectLst/>
                <a:latin typeface="+mn-lt"/>
              </a:rPr>
              <a:t>Everyone in the organization must ask this question regularly: Are we better off than yesterday? For profit-based organizations, the value is represented in terms of profit. The adaptation should eventually relay back to one of the reasons for adapting Agile—for example, faster time to market, increased return on investment through value- based delivery, </a:t>
            </a:r>
            <a:r>
              <a:rPr lang="en-US" sz="2000" b="0" i="0" dirty="0">
                <a:effectLst/>
                <a:latin typeface="+mn-lt"/>
              </a:rPr>
              <a:t>reduced total cost of ownership through enhanced software quality, and improved customer and employee satisfaction.</a:t>
            </a:r>
          </a:p>
          <a:p>
            <a:pPr algn="l">
              <a:buFont typeface="Arial" panose="020B0604020202020204" pitchFamily="34" charset="0"/>
              <a:buChar char="•"/>
            </a:pPr>
            <a:endParaRPr lang="en-US" b="0" i="0" dirty="0">
              <a:solidFill>
                <a:srgbClr val="415970"/>
              </a:solidFill>
              <a:effectLst/>
              <a:latin typeface="Raleway"/>
            </a:endParaRPr>
          </a:p>
        </p:txBody>
      </p:sp>
    </p:spTree>
    <p:extLst>
      <p:ext uri="{BB962C8B-B14F-4D97-AF65-F5344CB8AC3E}">
        <p14:creationId xmlns:p14="http://schemas.microsoft.com/office/powerpoint/2010/main" val="364582362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673863" cy="549275"/>
          </a:xfrm>
        </p:spPr>
        <p:txBody>
          <a:bodyPr lIns="90488" tIns="44450" rIns="90488" bIns="44450"/>
          <a:lstStyle/>
          <a:p>
            <a:pPr algn="ctr" eaLnBrk="1" hangingPunct="1"/>
            <a:br>
              <a:rPr lang="en-US" sz="3200" dirty="0"/>
            </a:br>
            <a:r>
              <a:rPr lang="en-US" sz="3200" dirty="0"/>
              <a:t>The Scrum Pillars and Values</a:t>
            </a:r>
            <a:br>
              <a:rPr lang="en-US" sz="3200" dirty="0"/>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5760846D-249C-4360-85F4-04FA9FD3B4F6}"/>
              </a:ext>
            </a:extLst>
          </p:cNvPr>
          <p:cNvPicPr>
            <a:picLocks noChangeAspect="1"/>
          </p:cNvPicPr>
          <p:nvPr/>
        </p:nvPicPr>
        <p:blipFill>
          <a:blip r:embed="rId3"/>
          <a:stretch>
            <a:fillRect/>
          </a:stretch>
        </p:blipFill>
        <p:spPr>
          <a:xfrm>
            <a:off x="883500" y="857250"/>
            <a:ext cx="7574598" cy="5281270"/>
          </a:xfrm>
          <a:prstGeom prst="rect">
            <a:avLst/>
          </a:prstGeom>
        </p:spPr>
      </p:pic>
    </p:spTree>
    <p:extLst>
      <p:ext uri="{BB962C8B-B14F-4D97-AF65-F5344CB8AC3E}">
        <p14:creationId xmlns:p14="http://schemas.microsoft.com/office/powerpoint/2010/main" val="176943236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Scrum-In Nutshell</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87B130F8-E42A-48D7-944B-52B4159197C6}"/>
              </a:ext>
            </a:extLst>
          </p:cNvPr>
          <p:cNvPicPr>
            <a:picLocks noChangeAspect="1"/>
          </p:cNvPicPr>
          <p:nvPr/>
        </p:nvPicPr>
        <p:blipFill>
          <a:blip r:embed="rId3"/>
          <a:stretch>
            <a:fillRect/>
          </a:stretch>
        </p:blipFill>
        <p:spPr>
          <a:xfrm>
            <a:off x="685800" y="907754"/>
            <a:ext cx="7870813" cy="5569166"/>
          </a:xfrm>
          <a:prstGeom prst="rect">
            <a:avLst/>
          </a:prstGeom>
        </p:spPr>
      </p:pic>
    </p:spTree>
    <p:extLst>
      <p:ext uri="{BB962C8B-B14F-4D97-AF65-F5344CB8AC3E}">
        <p14:creationId xmlns:p14="http://schemas.microsoft.com/office/powerpoint/2010/main" val="392605799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Framework</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093B5D35-679F-42CF-A0AB-920B42338D6B}"/>
              </a:ext>
            </a:extLst>
          </p:cNvPr>
          <p:cNvPicPr>
            <a:picLocks noChangeAspect="1"/>
          </p:cNvPicPr>
          <p:nvPr/>
        </p:nvPicPr>
        <p:blipFill>
          <a:blip r:embed="rId3"/>
          <a:stretch>
            <a:fillRect/>
          </a:stretch>
        </p:blipFill>
        <p:spPr>
          <a:xfrm>
            <a:off x="838298" y="751498"/>
            <a:ext cx="7346406" cy="5268233"/>
          </a:xfrm>
          <a:prstGeom prst="rect">
            <a:avLst/>
          </a:prstGeom>
        </p:spPr>
      </p:pic>
    </p:spTree>
    <p:extLst>
      <p:ext uri="{BB962C8B-B14F-4D97-AF65-F5344CB8AC3E}">
        <p14:creationId xmlns:p14="http://schemas.microsoft.com/office/powerpoint/2010/main" val="136611509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a:t>Scrum- Roles(Team)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205B61CF-0F61-43F6-9EB0-1E17CAC58C38}"/>
              </a:ext>
            </a:extLst>
          </p:cNvPr>
          <p:cNvPicPr/>
          <p:nvPr/>
        </p:nvPicPr>
        <p:blipFill>
          <a:blip r:embed="rId3"/>
          <a:stretch>
            <a:fillRect/>
          </a:stretch>
        </p:blipFill>
        <p:spPr>
          <a:xfrm>
            <a:off x="685800" y="1371654"/>
            <a:ext cx="7543704" cy="4343286"/>
          </a:xfrm>
          <a:prstGeom prst="rect">
            <a:avLst/>
          </a:prstGeom>
        </p:spPr>
      </p:pic>
    </p:spTree>
    <p:extLst>
      <p:ext uri="{BB962C8B-B14F-4D97-AF65-F5344CB8AC3E}">
        <p14:creationId xmlns:p14="http://schemas.microsoft.com/office/powerpoint/2010/main" val="213165596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Roles(PO)</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61E83411-35D2-4A03-B12E-CCDB344A535C}"/>
              </a:ext>
            </a:extLst>
          </p:cNvPr>
          <p:cNvPicPr>
            <a:picLocks noChangeAspect="1"/>
          </p:cNvPicPr>
          <p:nvPr/>
        </p:nvPicPr>
        <p:blipFill>
          <a:blip r:embed="rId3"/>
          <a:stretch>
            <a:fillRect/>
          </a:stretch>
        </p:blipFill>
        <p:spPr>
          <a:xfrm>
            <a:off x="654674" y="990664"/>
            <a:ext cx="7834654" cy="4876672"/>
          </a:xfrm>
          <a:prstGeom prst="rect">
            <a:avLst/>
          </a:prstGeom>
        </p:spPr>
      </p:pic>
    </p:spTree>
    <p:extLst>
      <p:ext uri="{BB962C8B-B14F-4D97-AF65-F5344CB8AC3E}">
        <p14:creationId xmlns:p14="http://schemas.microsoft.com/office/powerpoint/2010/main" val="381787465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Roles(PO)</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371599"/>
            <a:ext cx="7886700" cy="5178425"/>
          </a:xfrm>
        </p:spPr>
        <p:txBody>
          <a:bodyPr/>
          <a:lstStyle/>
          <a:p>
            <a:r>
              <a:rPr lang="en-US" sz="1800" dirty="0">
                <a:latin typeface="Calibri" panose="020F0502020204030204" pitchFamily="34" charset="0"/>
                <a:ea typeface="SimSun" panose="02010600030101010101" pitchFamily="2" charset="-122"/>
                <a:cs typeface="Times New Roman" panose="02020603050405020304" pitchFamily="18" charset="0"/>
              </a:rPr>
              <a:t>The </a:t>
            </a:r>
            <a:r>
              <a:rPr lang="en-US" sz="1800" b="1" dirty="0">
                <a:latin typeface="Calibri" panose="020F0502020204030204" pitchFamily="34" charset="0"/>
                <a:ea typeface="SimSun" panose="02010600030101010101" pitchFamily="2" charset="-122"/>
                <a:cs typeface="Times New Roman" panose="02020603050405020304" pitchFamily="18" charset="0"/>
              </a:rPr>
              <a:t>Product Owner </a:t>
            </a:r>
            <a:r>
              <a:rPr lang="en-US" sz="1800" dirty="0">
                <a:latin typeface="Calibri" panose="020F0502020204030204" pitchFamily="34" charset="0"/>
                <a:ea typeface="SimSun" panose="02010600030101010101" pitchFamily="2" charset="-122"/>
                <a:cs typeface="Times New Roman" panose="02020603050405020304" pitchFamily="18" charset="0"/>
              </a:rPr>
              <a:t>is responsible for the features and the ROI of the product.</a:t>
            </a:r>
          </a:p>
          <a:p>
            <a:r>
              <a:rPr lang="en-US" sz="1800" dirty="0">
                <a:latin typeface="Calibri" panose="020F0502020204030204" pitchFamily="34" charset="0"/>
                <a:ea typeface="SimSun" panose="02010600030101010101" pitchFamily="2" charset="-122"/>
                <a:cs typeface="Times New Roman" panose="02020603050405020304" pitchFamily="18" charset="0"/>
              </a:rPr>
              <a:t>Manages the requirements in the product backlog.</a:t>
            </a:r>
          </a:p>
          <a:p>
            <a:r>
              <a:rPr lang="en-US" sz="1800" dirty="0">
                <a:latin typeface="Calibri" panose="020F0502020204030204" pitchFamily="34" charset="0"/>
                <a:ea typeface="SimSun" panose="02010600030101010101" pitchFamily="2" charset="-122"/>
                <a:cs typeface="Times New Roman" panose="02020603050405020304" pitchFamily="18" charset="0"/>
              </a:rPr>
              <a:t>By making the Product Backlog visible to everyone , the product owner ensures the development team works on the </a:t>
            </a:r>
            <a:r>
              <a:rPr lang="en-US" sz="1800" b="1" dirty="0">
                <a:latin typeface="Calibri" panose="020F0502020204030204" pitchFamily="34" charset="0"/>
                <a:ea typeface="SimSun" panose="02010600030101010101" pitchFamily="2" charset="-122"/>
                <a:cs typeface="Times New Roman" panose="02020603050405020304" pitchFamily="18" charset="0"/>
              </a:rPr>
              <a:t>“right things” </a:t>
            </a:r>
            <a:r>
              <a:rPr lang="en-US" sz="1800" dirty="0">
                <a:latin typeface="Calibri" panose="020F0502020204030204" pitchFamily="34" charset="0"/>
                <a:ea typeface="SimSun" panose="02010600030101010101" pitchFamily="2" charset="-122"/>
                <a:cs typeface="Times New Roman" panose="02020603050405020304" pitchFamily="18" charset="0"/>
              </a:rPr>
              <a:t>from the business perspective.</a:t>
            </a:r>
          </a:p>
          <a:p>
            <a:r>
              <a:rPr lang="en-US" sz="1800" dirty="0">
                <a:latin typeface="Calibri" panose="020F0502020204030204" pitchFamily="34" charset="0"/>
                <a:ea typeface="SimSun" panose="02010600030101010101" pitchFamily="2" charset="-122"/>
                <a:cs typeface="Times New Roman" panose="02020603050405020304" pitchFamily="18" charset="0"/>
              </a:rPr>
              <a:t>Identifies what has been done and what has not been done in a Sprint.</a:t>
            </a:r>
          </a:p>
          <a:p>
            <a:r>
              <a:rPr lang="en-US" sz="1800" dirty="0">
                <a:latin typeface="Calibri" panose="020F0502020204030204" pitchFamily="34" charset="0"/>
                <a:ea typeface="SimSun" panose="02010600030101010101" pitchFamily="2" charset="-122"/>
                <a:cs typeface="Times New Roman" panose="02020603050405020304" pitchFamily="18" charset="0"/>
              </a:rPr>
              <a:t>The product owner is a person not a committee and is authorized to make definite decisions about the product, its features and the order of the implementation.</a:t>
            </a:r>
          </a:p>
          <a:p>
            <a:r>
              <a:rPr lang="en-US" sz="1800" dirty="0">
                <a:latin typeface="Calibri" panose="020F0502020204030204" pitchFamily="34" charset="0"/>
                <a:ea typeface="SimSun" panose="02010600030101010101" pitchFamily="2" charset="-122"/>
                <a:cs typeface="Times New Roman" panose="02020603050405020304" pitchFamily="18" charset="0"/>
              </a:rPr>
              <a:t>In short, we can say that the Product Owner is the bridge between the business part and the technical part of the project. Therefore, he is the link between the client and the development team. The Product Owner carries the vision of the Scrum product. Fully integrated to the Scrum team, he is responsible for writing user stories and for keeping the Product Backlog up to date.</a:t>
            </a:r>
          </a:p>
          <a:p>
            <a:pPr marL="0" indent="0">
              <a:buNone/>
            </a:pPr>
            <a:endParaRPr lang="en-US" sz="1800" b="1" dirty="0">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11500675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Roles(Dev Team)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1BBC3051-525B-43F2-994A-165B65DD603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85800" y="1371654"/>
            <a:ext cx="8000892" cy="4419484"/>
          </a:xfrm>
          <a:prstGeom prst="rect">
            <a:avLst/>
          </a:prstGeom>
          <a:noFill/>
          <a:ln>
            <a:noFill/>
          </a:ln>
        </p:spPr>
      </p:pic>
    </p:spTree>
    <p:extLst>
      <p:ext uri="{BB962C8B-B14F-4D97-AF65-F5344CB8AC3E}">
        <p14:creationId xmlns:p14="http://schemas.microsoft.com/office/powerpoint/2010/main" val="202751013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Roles(Dev Team)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533506" y="1371599"/>
            <a:ext cx="7767532" cy="4876801"/>
          </a:xfrm>
        </p:spPr>
        <p:txBody>
          <a:bodyPr/>
          <a:lstStyle/>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Development and Delivery </a:t>
            </a:r>
            <a:r>
              <a:rPr lang="en-US" sz="1800" dirty="0">
                <a:latin typeface="Calibri" panose="020F0502020204030204" pitchFamily="34" charset="0"/>
                <a:ea typeface="SimSun" panose="02010600030101010101" pitchFamily="2" charset="-122"/>
                <a:cs typeface="Times New Roman" panose="02020603050405020304" pitchFamily="18" charset="0"/>
              </a:rPr>
              <a:t>– The Development Team is responsible for creating a done increment based on the ‘Definition of Done’ at the end of each sprint. The done Increment may not necessarily be a part of the next production release, but it is definitely a potentially releasable functionality that an end user can use.</a:t>
            </a:r>
          </a:p>
          <a:p>
            <a:pPr marL="0" indent="0">
              <a:buNone/>
            </a:pPr>
            <a:r>
              <a:rPr lang="en-US" sz="1800" b="1" dirty="0">
                <a:latin typeface="Calibri" panose="020F0502020204030204" pitchFamily="34" charset="0"/>
                <a:ea typeface="SimSun" panose="02010600030101010101" pitchFamily="2" charset="-122"/>
                <a:cs typeface="Times New Roman" panose="02020603050405020304" pitchFamily="18" charset="0"/>
              </a:rPr>
              <a:t>Tasking and Providing Estimations</a:t>
            </a:r>
            <a:r>
              <a:rPr lang="en-US" sz="1800" dirty="0">
                <a:latin typeface="Calibri" panose="020F0502020204030204" pitchFamily="34" charset="0"/>
                <a:ea typeface="SimSun" panose="02010600030101010101" pitchFamily="2" charset="-122"/>
                <a:cs typeface="Times New Roman" panose="02020603050405020304" pitchFamily="18" charset="0"/>
              </a:rPr>
              <a:t> – The Development Team is also responsible for picking up the User Stories/Items from the prioritized Product Backlog to be delivered in the next Sprint. Thus, these Items then constitute a Sprint Backlog. Sprint Backlog is created during a Sprint Planning meeting.</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Another very important responsibility that a Development Team does is to create tasks by breaking down the Sprint Items and providing estimates to these Sprint Items.</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Nobody tells the Development Team what and how to do things. It is the Development Team’s responsibility to pick up the items from the Product Backlog that can be delivered in the next Sprint. Once the Sprint is started, the items cannot be changed/added/removed</a:t>
            </a:r>
            <a:r>
              <a:rPr lang="en-US" sz="2400" b="1" i="1" dirty="0">
                <a:solidFill>
                  <a:srgbClr val="3A3A3A"/>
                </a:solidFill>
                <a:effectLst/>
                <a:latin typeface="Work Sans"/>
              </a:rPr>
              <a:t>.</a:t>
            </a:r>
          </a:p>
          <a:p>
            <a:pPr marL="0" indent="0">
              <a:buNone/>
            </a:pPr>
            <a:r>
              <a:rPr lang="en-US" sz="1800" dirty="0">
                <a:latin typeface="Calibri" panose="020F0502020204030204" pitchFamily="34" charset="0"/>
                <a:ea typeface="SimSun" panose="02010600030101010101" pitchFamily="2" charset="-122"/>
                <a:cs typeface="Times New Roman" panose="02020603050405020304" pitchFamily="18" charset="0"/>
              </a:rPr>
              <a:t>They stay accountable to work on the Sprint Items.</a:t>
            </a:r>
          </a:p>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b="1" dirty="0">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110925364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Roles(Scrum Master)</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533506" y="1371599"/>
            <a:ext cx="7767532" cy="4876801"/>
          </a:xfrm>
        </p:spPr>
        <p:txBody>
          <a:bodyPr/>
          <a:lstStyle/>
          <a:p>
            <a:pPr marL="0" indent="0">
              <a:buNone/>
            </a:pPr>
            <a:endParaRPr lang="en-US" sz="1800" dirty="0">
              <a:latin typeface="Calibri" panose="020F0502020204030204" pitchFamily="34" charset="0"/>
              <a:ea typeface="SimSun" panose="02010600030101010101" pitchFamily="2" charset="-122"/>
              <a:cs typeface="Times New Roman" panose="02020603050405020304" pitchFamily="18" charset="0"/>
            </a:endParaRPr>
          </a:p>
          <a:p>
            <a:pPr marL="0" indent="0">
              <a:buNone/>
            </a:pPr>
            <a:endParaRPr lang="en-US" sz="1800" b="1" dirty="0">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p>
            <a:endParaRPr lang="en-US" dirty="0"/>
          </a:p>
        </p:txBody>
      </p:sp>
      <p:pic>
        <p:nvPicPr>
          <p:cNvPr id="18" name="Picture 17">
            <a:extLst>
              <a:ext uri="{FF2B5EF4-FFF2-40B4-BE49-F238E27FC236}">
                <a16:creationId xmlns:a16="http://schemas.microsoft.com/office/drawing/2014/main" id="{7B31E82D-3002-4D2F-8DB7-CF4ED862691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33506" y="914399"/>
            <a:ext cx="7767532" cy="4876801"/>
          </a:xfrm>
          <a:prstGeom prst="rect">
            <a:avLst/>
          </a:prstGeom>
          <a:noFill/>
          <a:ln>
            <a:noFill/>
          </a:ln>
        </p:spPr>
      </p:pic>
    </p:spTree>
    <p:extLst>
      <p:ext uri="{BB962C8B-B14F-4D97-AF65-F5344CB8AC3E}">
        <p14:creationId xmlns:p14="http://schemas.microsoft.com/office/powerpoint/2010/main" val="85376918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Roles(Scrum Master)</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838267"/>
            <a:ext cx="8110428" cy="5711757"/>
          </a:xfrm>
        </p:spPr>
        <p:txBody>
          <a:bodyPr/>
          <a:lstStyle/>
          <a:p>
            <a:pPr marL="0" indent="0">
              <a:buNone/>
            </a:pPr>
            <a:r>
              <a:rPr lang="en-US" sz="2000" b="1" i="0" dirty="0">
                <a:solidFill>
                  <a:srgbClr val="3A3A3A"/>
                </a:solidFill>
                <a:effectLst/>
                <a:latin typeface="Work Sans"/>
              </a:rPr>
              <a:t>Coach – </a:t>
            </a:r>
            <a:r>
              <a:rPr lang="en-US" sz="2000" b="0" i="0" dirty="0">
                <a:solidFill>
                  <a:srgbClr val="3A3A3A"/>
                </a:solidFill>
                <a:effectLst/>
                <a:latin typeface="Work Sans"/>
              </a:rPr>
              <a:t>The Scrum Master acts as an Agile Coach for both the Development team and the Product Owner. The Scrum Master in a way acts as an enabler for proper communication between the Development Team and the Product Owner. </a:t>
            </a:r>
          </a:p>
          <a:p>
            <a:pPr marL="0" indent="0">
              <a:buNone/>
            </a:pPr>
            <a:r>
              <a:rPr lang="en-US" sz="2000" b="1" i="0" dirty="0">
                <a:solidFill>
                  <a:srgbClr val="3A3A3A"/>
                </a:solidFill>
                <a:effectLst/>
                <a:latin typeface="Work Sans"/>
              </a:rPr>
              <a:t>Facilitator – </a:t>
            </a:r>
            <a:r>
              <a:rPr lang="en-US" sz="2000" b="0" i="0" dirty="0">
                <a:solidFill>
                  <a:srgbClr val="3A3A3A"/>
                </a:solidFill>
                <a:effectLst/>
                <a:latin typeface="Work Sans"/>
              </a:rPr>
              <a:t>The Scrum Master also acts as a facilitator for the Scrum Team. He facilitates and organizes all the Scrum Events requested by the Scrum Team Members. The Scrum Master also facilitates the Team in making important decisions that would increase the productivity of the Scrum Team as a whole.</a:t>
            </a:r>
            <a:endParaRPr lang="en-US" sz="2000" dirty="0">
              <a:solidFill>
                <a:srgbClr val="3A3A3A"/>
              </a:solidFill>
              <a:latin typeface="Work Sans"/>
            </a:endParaRPr>
          </a:p>
          <a:p>
            <a:pPr marL="0" indent="0">
              <a:buNone/>
            </a:pPr>
            <a:r>
              <a:rPr lang="en-US" sz="2000" b="0" i="0" dirty="0">
                <a:solidFill>
                  <a:srgbClr val="3A3A3A"/>
                </a:solidFill>
                <a:effectLst/>
                <a:latin typeface="Work Sans"/>
              </a:rPr>
              <a:t>The Scrum Master never orders the Team Members to do something rather, he helps them in achieving it by coaching and guiding.</a:t>
            </a:r>
          </a:p>
          <a:p>
            <a:pPr marL="0" indent="0">
              <a:buNone/>
            </a:pPr>
            <a:r>
              <a:rPr lang="en-US" sz="2000" b="1" i="0" dirty="0">
                <a:solidFill>
                  <a:srgbClr val="3A3A3A"/>
                </a:solidFill>
                <a:effectLst/>
                <a:latin typeface="Work Sans"/>
              </a:rPr>
              <a:t>Removing Impediments – </a:t>
            </a:r>
            <a:r>
              <a:rPr lang="en-US" sz="2000" b="0" i="0" dirty="0">
                <a:solidFill>
                  <a:srgbClr val="3A3A3A"/>
                </a:solidFill>
                <a:effectLst/>
                <a:latin typeface="Work Sans"/>
              </a:rPr>
              <a:t>The Scrum Master is also responsible for removing the impediments that impact the team’s productivity in delivering business. Any impediment that the team members cannot resolve on their own comes to the Scrum Master for resolution.</a:t>
            </a:r>
            <a:endParaRPr lang="en-US" sz="2000" dirty="0">
              <a:solidFill>
                <a:srgbClr val="3A3A3A"/>
              </a:solidFill>
              <a:latin typeface="Work Sans"/>
            </a:endParaRPr>
          </a:p>
          <a:p>
            <a:pPr marL="0" indent="0">
              <a:buNone/>
            </a:pPr>
            <a:r>
              <a:rPr lang="en-US" sz="2000" b="0" i="0" dirty="0">
                <a:solidFill>
                  <a:srgbClr val="3A3A3A"/>
                </a:solidFill>
                <a:effectLst/>
                <a:latin typeface="Work Sans"/>
              </a:rPr>
              <a:t>The Scrum Master prioritizes these impediments based on their impact on the team’s productivity and business and starts working on them.</a:t>
            </a:r>
          </a:p>
        </p:txBody>
      </p:sp>
    </p:spTree>
    <p:extLst>
      <p:ext uri="{BB962C8B-B14F-4D97-AF65-F5344CB8AC3E}">
        <p14:creationId xmlns:p14="http://schemas.microsoft.com/office/powerpoint/2010/main" val="347890837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Roles(Scrum Master)</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lgn="l">
              <a:buNone/>
            </a:pPr>
            <a:r>
              <a:rPr lang="en-US" sz="2000" b="1" i="0" dirty="0">
                <a:solidFill>
                  <a:srgbClr val="3A3A3A"/>
                </a:solidFill>
                <a:effectLst/>
                <a:latin typeface="+mn-lt"/>
              </a:rPr>
              <a:t>Interference Gatekeeper – </a:t>
            </a:r>
            <a:r>
              <a:rPr lang="en-US" sz="2000" b="0" i="0" dirty="0">
                <a:solidFill>
                  <a:srgbClr val="3A3A3A"/>
                </a:solidFill>
                <a:effectLst/>
                <a:latin typeface="+mn-lt"/>
              </a:rPr>
              <a:t>The Scrum Master also safeguards the Scrum Team from outside interference and distraction so that the team can remain focused on delivering the best value to the business after every sprint.</a:t>
            </a:r>
          </a:p>
          <a:p>
            <a:pPr marL="0" indent="0" algn="l">
              <a:buNone/>
            </a:pPr>
            <a:r>
              <a:rPr lang="en-US" sz="2000" b="0" i="0" dirty="0">
                <a:solidFill>
                  <a:srgbClr val="3A3A3A"/>
                </a:solidFill>
                <a:effectLst/>
                <a:latin typeface="+mn-lt"/>
              </a:rPr>
              <a:t>The interference can be of a greater concern if the team is working in a Scaled Scrum environment where multiple Scrum Team is working together and have the dependencies amongst them.</a:t>
            </a:r>
          </a:p>
          <a:p>
            <a:pPr marL="0" indent="0">
              <a:buNone/>
            </a:pPr>
            <a:r>
              <a:rPr lang="en-US" sz="2000" b="1" i="0" dirty="0">
                <a:solidFill>
                  <a:srgbClr val="3A3A3A"/>
                </a:solidFill>
                <a:effectLst/>
                <a:latin typeface="+mn-lt"/>
              </a:rPr>
              <a:t>Servant Leader – </a:t>
            </a:r>
            <a:r>
              <a:rPr lang="en-US" sz="2000" b="0" i="0" dirty="0">
                <a:solidFill>
                  <a:srgbClr val="3A3A3A"/>
                </a:solidFill>
                <a:effectLst/>
                <a:latin typeface="+mn-lt"/>
              </a:rPr>
              <a:t>The Scrum Master is often referred to as a Servant Leader of the Scrum Team. One of his most important responsibility is to ask the Scrum Teams for their concerns and to make sure that they are addressed.</a:t>
            </a:r>
            <a:endParaRPr lang="en-US" sz="2000" dirty="0">
              <a:solidFill>
                <a:srgbClr val="3A3A3A"/>
              </a:solidFill>
              <a:latin typeface="+mn-lt"/>
            </a:endParaRPr>
          </a:p>
          <a:p>
            <a:pPr marL="0" indent="0">
              <a:buNone/>
            </a:pPr>
            <a:r>
              <a:rPr lang="en-US" sz="2000" b="1" i="0" dirty="0">
                <a:solidFill>
                  <a:srgbClr val="3A3A3A"/>
                </a:solidFill>
                <a:effectLst/>
                <a:latin typeface="+mn-lt"/>
              </a:rPr>
              <a:t>Process Improver – </a:t>
            </a:r>
            <a:r>
              <a:rPr lang="en-US" sz="2000" b="0" i="0" dirty="0">
                <a:solidFill>
                  <a:srgbClr val="3A3A3A"/>
                </a:solidFill>
                <a:effectLst/>
                <a:latin typeface="+mn-lt"/>
              </a:rPr>
              <a:t>The Scrum Master along with the team is also responsible for regularly improvising the processes and practices employed to maximize the value being delivered</a:t>
            </a:r>
            <a:endParaRPr lang="en-US" sz="2000" dirty="0">
              <a:latin typeface="+mn-lt"/>
            </a:endParaRPr>
          </a:p>
        </p:txBody>
      </p:sp>
    </p:spTree>
    <p:extLst>
      <p:ext uri="{BB962C8B-B14F-4D97-AF65-F5344CB8AC3E}">
        <p14:creationId xmlns:p14="http://schemas.microsoft.com/office/powerpoint/2010/main" val="344710617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Ceremonies (Events)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14376"/>
            <a:ext cx="8762890" cy="6095930"/>
          </a:xfrm>
        </p:spPr>
        <p:txBody>
          <a:bodyPr/>
          <a:lstStyle/>
          <a:p>
            <a:r>
              <a:rPr lang="en-US" sz="2000" dirty="0">
                <a:latin typeface="+mn-lt"/>
              </a:rPr>
              <a:t>This Agile approach requires self-organizing teams that can quickly solve challenges in unpredictable environments. </a:t>
            </a:r>
            <a:r>
              <a:rPr lang="en-US" sz="2000" b="1" dirty="0">
                <a:latin typeface="+mn-lt"/>
              </a:rPr>
              <a:t>Holding Scrum meetings provides regular communication and transparency in these conditions</a:t>
            </a:r>
            <a:r>
              <a:rPr lang="en-US" sz="2000" dirty="0">
                <a:latin typeface="+mn-lt"/>
              </a:rPr>
              <a:t>.</a:t>
            </a:r>
          </a:p>
          <a:p>
            <a:r>
              <a:rPr lang="en-US" sz="2000" dirty="0">
                <a:latin typeface="+mn-lt"/>
              </a:rPr>
              <a:t>The most important element to Scrum and Agile is the enthusiasm for </a:t>
            </a:r>
            <a:r>
              <a:rPr lang="en-US" sz="2000" b="1" dirty="0">
                <a:latin typeface="+mn-lt"/>
              </a:rPr>
              <a:t>communication, openness and transparency</a:t>
            </a:r>
            <a:r>
              <a:rPr lang="en-US" sz="2000" dirty="0">
                <a:latin typeface="+mn-lt"/>
              </a:rPr>
              <a:t>. These factors underpin everything we do in our daily work using </a:t>
            </a:r>
            <a:r>
              <a:rPr lang="en-US" sz="2000" b="1" dirty="0">
                <a:latin typeface="+mn-lt"/>
              </a:rPr>
              <a:t>Agile and Scrum practices</a:t>
            </a:r>
            <a:r>
              <a:rPr lang="en-US" sz="2000" dirty="0">
                <a:latin typeface="+mn-lt"/>
              </a:rPr>
              <a:t>; they are why we value customer collaboration over contract negotiations and why we’re not afraid to respond to change as we know that feedback is important.</a:t>
            </a:r>
          </a:p>
          <a:p>
            <a:r>
              <a:rPr lang="en-US" sz="2000" b="1" dirty="0">
                <a:latin typeface="+mn-lt"/>
              </a:rPr>
              <a:t>Agile approaches only asks that we learn from our mistakes and/or identify new ways to improve</a:t>
            </a:r>
            <a:r>
              <a:rPr lang="en-US" sz="2000" dirty="0">
                <a:latin typeface="+mn-lt"/>
              </a:rPr>
              <a:t>. As one of the principles of the Agile Manifesto states: "</a:t>
            </a:r>
            <a:r>
              <a:rPr lang="en-US" sz="2000" b="1" dirty="0">
                <a:latin typeface="+mn-lt"/>
              </a:rPr>
              <a:t>At regular intervals, the team reflects on how to become more effective, then tunes and adjusts its behaviors accordingly</a:t>
            </a:r>
            <a:r>
              <a:rPr lang="en-US" sz="2000" dirty="0">
                <a:latin typeface="+mn-lt"/>
              </a:rPr>
              <a:t>.”</a:t>
            </a:r>
          </a:p>
          <a:p>
            <a:r>
              <a:rPr lang="en-US" sz="2000" dirty="0">
                <a:latin typeface="+mn-lt"/>
              </a:rPr>
              <a:t>It is with this call for open communication that Scrum encourages us to hold five key events during a Sprint, all intended to help us work efficiently and closely together, as well as to improve our knowledge and become more effective in the future.</a:t>
            </a:r>
          </a:p>
          <a:p>
            <a:endParaRPr lang="en-US" sz="2000" dirty="0"/>
          </a:p>
          <a:p>
            <a:endParaRPr lang="en-US" dirty="0"/>
          </a:p>
        </p:txBody>
      </p:sp>
    </p:spTree>
    <p:extLst>
      <p:ext uri="{BB962C8B-B14F-4D97-AF65-F5344CB8AC3E}">
        <p14:creationId xmlns:p14="http://schemas.microsoft.com/office/powerpoint/2010/main" val="3997503881"/>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Scrum – TIMEBOXING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0" name="Picture 19">
            <a:extLst>
              <a:ext uri="{FF2B5EF4-FFF2-40B4-BE49-F238E27FC236}">
                <a16:creationId xmlns:a16="http://schemas.microsoft.com/office/drawing/2014/main" id="{1C2EF6E7-5B8B-4B2F-90CC-D090ED079E13}"/>
              </a:ext>
            </a:extLst>
          </p:cNvPr>
          <p:cNvPicPr/>
          <p:nvPr/>
        </p:nvPicPr>
        <p:blipFill>
          <a:blip r:embed="rId3"/>
          <a:stretch>
            <a:fillRect/>
          </a:stretch>
        </p:blipFill>
        <p:spPr>
          <a:xfrm>
            <a:off x="1295486" y="857250"/>
            <a:ext cx="6553028" cy="5162482"/>
          </a:xfrm>
          <a:prstGeom prst="rect">
            <a:avLst/>
          </a:prstGeom>
        </p:spPr>
      </p:pic>
    </p:spTree>
    <p:extLst>
      <p:ext uri="{BB962C8B-B14F-4D97-AF65-F5344CB8AC3E}">
        <p14:creationId xmlns:p14="http://schemas.microsoft.com/office/powerpoint/2010/main" val="79304657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3200" dirty="0"/>
              <a:t>Scrum – Ceremonies (Sprint Cycle)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60E57121-89B4-4C24-92E6-554B21CA6382}"/>
              </a:ext>
            </a:extLst>
          </p:cNvPr>
          <p:cNvPicPr/>
          <p:nvPr/>
        </p:nvPicPr>
        <p:blipFill>
          <a:blip r:embed="rId3"/>
          <a:stretch>
            <a:fillRect/>
          </a:stretch>
        </p:blipFill>
        <p:spPr>
          <a:xfrm>
            <a:off x="533506" y="838268"/>
            <a:ext cx="8305582" cy="4781491"/>
          </a:xfrm>
          <a:prstGeom prst="rect">
            <a:avLst/>
          </a:prstGeom>
        </p:spPr>
      </p:pic>
    </p:spTree>
    <p:extLst>
      <p:ext uri="{BB962C8B-B14F-4D97-AF65-F5344CB8AC3E}">
        <p14:creationId xmlns:p14="http://schemas.microsoft.com/office/powerpoint/2010/main" val="184804100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#1: Product Backlog Grooming</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C32CD8E7-33AC-4EBE-B7E1-27551B2B4BF4}"/>
              </a:ext>
            </a:extLst>
          </p:cNvPr>
          <p:cNvPicPr>
            <a:picLocks noChangeAspect="1"/>
          </p:cNvPicPr>
          <p:nvPr/>
        </p:nvPicPr>
        <p:blipFill>
          <a:blip r:embed="rId3"/>
          <a:stretch>
            <a:fillRect/>
          </a:stretch>
        </p:blipFill>
        <p:spPr>
          <a:xfrm>
            <a:off x="990694" y="770875"/>
            <a:ext cx="7162612" cy="5316250"/>
          </a:xfrm>
          <a:prstGeom prst="rect">
            <a:avLst/>
          </a:prstGeom>
        </p:spPr>
      </p:pic>
    </p:spTree>
    <p:extLst>
      <p:ext uri="{BB962C8B-B14F-4D97-AF65-F5344CB8AC3E}">
        <p14:creationId xmlns:p14="http://schemas.microsoft.com/office/powerpoint/2010/main" val="165291006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#2: Sprint Planning</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98AB6E57-E645-4035-81E5-D51F5C50C600}"/>
              </a:ext>
            </a:extLst>
          </p:cNvPr>
          <p:cNvPicPr/>
          <p:nvPr/>
        </p:nvPicPr>
        <p:blipFill>
          <a:blip r:embed="rId3"/>
          <a:stretch>
            <a:fillRect/>
          </a:stretch>
        </p:blipFill>
        <p:spPr>
          <a:xfrm>
            <a:off x="652462" y="914466"/>
            <a:ext cx="7839076" cy="4571879"/>
          </a:xfrm>
          <a:prstGeom prst="rect">
            <a:avLst/>
          </a:prstGeom>
        </p:spPr>
      </p:pic>
    </p:spTree>
    <p:extLst>
      <p:ext uri="{BB962C8B-B14F-4D97-AF65-F5344CB8AC3E}">
        <p14:creationId xmlns:p14="http://schemas.microsoft.com/office/powerpoint/2010/main" val="359186380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a:br>
            <a:r>
              <a:rPr lang="en-US" sz="2400"/>
              <a:t>Scrum Ceremony #2: Sprint Planning</a:t>
            </a:r>
            <a:br>
              <a:rPr lang="en-US" sz="2000" b="1" i="0">
                <a:solidFill>
                  <a:srgbClr val="57585A"/>
                </a:solidFill>
                <a:effectLst/>
                <a:latin typeface="Lato"/>
              </a:rPr>
            </a:br>
            <a:br>
              <a:rPr lang="en-US" sz="140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2E303942-6397-4355-8AAD-520E568D4006}"/>
              </a:ext>
            </a:extLst>
          </p:cNvPr>
          <p:cNvPicPr>
            <a:picLocks noChangeAspect="1"/>
          </p:cNvPicPr>
          <p:nvPr/>
        </p:nvPicPr>
        <p:blipFill>
          <a:blip r:embed="rId3"/>
          <a:stretch>
            <a:fillRect/>
          </a:stretch>
        </p:blipFill>
        <p:spPr>
          <a:xfrm>
            <a:off x="531490" y="914466"/>
            <a:ext cx="8423661" cy="3276514"/>
          </a:xfrm>
          <a:prstGeom prst="rect">
            <a:avLst/>
          </a:prstGeom>
        </p:spPr>
      </p:pic>
      <p:pic>
        <p:nvPicPr>
          <p:cNvPr id="6" name="Picture 5">
            <a:extLst>
              <a:ext uri="{FF2B5EF4-FFF2-40B4-BE49-F238E27FC236}">
                <a16:creationId xmlns:a16="http://schemas.microsoft.com/office/drawing/2014/main" id="{87BBADFD-A9E6-422C-B4F8-17F5F2DE1752}"/>
              </a:ext>
            </a:extLst>
          </p:cNvPr>
          <p:cNvPicPr>
            <a:picLocks noChangeAspect="1"/>
          </p:cNvPicPr>
          <p:nvPr/>
        </p:nvPicPr>
        <p:blipFill>
          <a:blip r:embed="rId4"/>
          <a:stretch>
            <a:fillRect/>
          </a:stretch>
        </p:blipFill>
        <p:spPr>
          <a:xfrm>
            <a:off x="19260" y="4190981"/>
            <a:ext cx="9048422" cy="2209742"/>
          </a:xfrm>
          <a:prstGeom prst="rect">
            <a:avLst/>
          </a:prstGeom>
        </p:spPr>
      </p:pic>
    </p:spTree>
    <p:extLst>
      <p:ext uri="{BB962C8B-B14F-4D97-AF65-F5344CB8AC3E}">
        <p14:creationId xmlns:p14="http://schemas.microsoft.com/office/powerpoint/2010/main" val="237066750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#3: Daily Scrum /Daily Standup</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3505DF16-B934-4188-8012-9095F0441FF1}"/>
              </a:ext>
            </a:extLst>
          </p:cNvPr>
          <p:cNvPicPr/>
          <p:nvPr/>
        </p:nvPicPr>
        <p:blipFill>
          <a:blip r:embed="rId3"/>
          <a:stretch>
            <a:fillRect/>
          </a:stretch>
        </p:blipFill>
        <p:spPr>
          <a:xfrm>
            <a:off x="652462" y="838268"/>
            <a:ext cx="7729438" cy="4876672"/>
          </a:xfrm>
          <a:prstGeom prst="rect">
            <a:avLst/>
          </a:prstGeom>
        </p:spPr>
      </p:pic>
    </p:spTree>
    <p:extLst>
      <p:ext uri="{BB962C8B-B14F-4D97-AF65-F5344CB8AC3E}">
        <p14:creationId xmlns:p14="http://schemas.microsoft.com/office/powerpoint/2010/main" val="102032085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#3: Daily Scrum /Daily Standup</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41B207C4-3B5B-4B56-BE10-B47122A37635}"/>
              </a:ext>
            </a:extLst>
          </p:cNvPr>
          <p:cNvPicPr>
            <a:picLocks noChangeAspect="1"/>
          </p:cNvPicPr>
          <p:nvPr/>
        </p:nvPicPr>
        <p:blipFill>
          <a:blip r:embed="rId3"/>
          <a:stretch>
            <a:fillRect/>
          </a:stretch>
        </p:blipFill>
        <p:spPr>
          <a:xfrm>
            <a:off x="685902" y="1066862"/>
            <a:ext cx="6962775" cy="2524125"/>
          </a:xfrm>
          <a:prstGeom prst="rect">
            <a:avLst/>
          </a:prstGeom>
        </p:spPr>
      </p:pic>
      <p:pic>
        <p:nvPicPr>
          <p:cNvPr id="6" name="Picture 5">
            <a:extLst>
              <a:ext uri="{FF2B5EF4-FFF2-40B4-BE49-F238E27FC236}">
                <a16:creationId xmlns:a16="http://schemas.microsoft.com/office/drawing/2014/main" id="{6E53BD87-5745-4332-9F99-F7F5EE345E3C}"/>
              </a:ext>
            </a:extLst>
          </p:cNvPr>
          <p:cNvPicPr>
            <a:picLocks noChangeAspect="1"/>
          </p:cNvPicPr>
          <p:nvPr/>
        </p:nvPicPr>
        <p:blipFill>
          <a:blip r:embed="rId4"/>
          <a:stretch>
            <a:fillRect/>
          </a:stretch>
        </p:blipFill>
        <p:spPr>
          <a:xfrm>
            <a:off x="561975" y="4238567"/>
            <a:ext cx="8020050" cy="1400175"/>
          </a:xfrm>
          <a:prstGeom prst="rect">
            <a:avLst/>
          </a:prstGeom>
        </p:spPr>
      </p:pic>
      <p:pic>
        <p:nvPicPr>
          <p:cNvPr id="22" name="Picture 21">
            <a:extLst>
              <a:ext uri="{FF2B5EF4-FFF2-40B4-BE49-F238E27FC236}">
                <a16:creationId xmlns:a16="http://schemas.microsoft.com/office/drawing/2014/main" id="{008E190F-02D3-4C17-855A-9FD96D73D82A}"/>
              </a:ext>
            </a:extLst>
          </p:cNvPr>
          <p:cNvPicPr>
            <a:picLocks noChangeAspect="1"/>
          </p:cNvPicPr>
          <p:nvPr/>
        </p:nvPicPr>
        <p:blipFill>
          <a:blip r:embed="rId3"/>
          <a:stretch>
            <a:fillRect/>
          </a:stretch>
        </p:blipFill>
        <p:spPr>
          <a:xfrm>
            <a:off x="600884" y="990664"/>
            <a:ext cx="7036585" cy="2550882"/>
          </a:xfrm>
          <a:prstGeom prst="rect">
            <a:avLst/>
          </a:prstGeom>
        </p:spPr>
      </p:pic>
      <p:pic>
        <p:nvPicPr>
          <p:cNvPr id="23" name="Picture 22">
            <a:extLst>
              <a:ext uri="{FF2B5EF4-FFF2-40B4-BE49-F238E27FC236}">
                <a16:creationId xmlns:a16="http://schemas.microsoft.com/office/drawing/2014/main" id="{52C5715A-94B5-4D04-A1A3-4BD03E2828F9}"/>
              </a:ext>
            </a:extLst>
          </p:cNvPr>
          <p:cNvPicPr>
            <a:picLocks noChangeAspect="1"/>
          </p:cNvPicPr>
          <p:nvPr/>
        </p:nvPicPr>
        <p:blipFill>
          <a:blip r:embed="rId4"/>
          <a:stretch>
            <a:fillRect/>
          </a:stretch>
        </p:blipFill>
        <p:spPr>
          <a:xfrm>
            <a:off x="476957" y="4162369"/>
            <a:ext cx="8020050" cy="1400175"/>
          </a:xfrm>
          <a:prstGeom prst="rect">
            <a:avLst/>
          </a:prstGeom>
        </p:spPr>
      </p:pic>
    </p:spTree>
    <p:extLst>
      <p:ext uri="{BB962C8B-B14F-4D97-AF65-F5344CB8AC3E}">
        <p14:creationId xmlns:p14="http://schemas.microsoft.com/office/powerpoint/2010/main" val="224980312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#4: Sprint Review</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A0E3E0C6-9C96-4541-AA42-B1C1158E5ABD}"/>
              </a:ext>
            </a:extLst>
          </p:cNvPr>
          <p:cNvPicPr/>
          <p:nvPr/>
        </p:nvPicPr>
        <p:blipFill>
          <a:blip r:embed="rId3"/>
          <a:stretch>
            <a:fillRect/>
          </a:stretch>
        </p:blipFill>
        <p:spPr>
          <a:xfrm>
            <a:off x="652462" y="990664"/>
            <a:ext cx="7839076" cy="4267088"/>
          </a:xfrm>
          <a:prstGeom prst="rect">
            <a:avLst/>
          </a:prstGeom>
        </p:spPr>
      </p:pic>
    </p:spTree>
    <p:extLst>
      <p:ext uri="{BB962C8B-B14F-4D97-AF65-F5344CB8AC3E}">
        <p14:creationId xmlns:p14="http://schemas.microsoft.com/office/powerpoint/2010/main" val="117692665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#4: Sprint Review</a:t>
            </a: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48A188F8-0108-4305-A2B3-EE7A81510018}"/>
              </a:ext>
            </a:extLst>
          </p:cNvPr>
          <p:cNvPicPr>
            <a:picLocks noChangeAspect="1"/>
          </p:cNvPicPr>
          <p:nvPr/>
        </p:nvPicPr>
        <p:blipFill>
          <a:blip r:embed="rId3"/>
          <a:stretch>
            <a:fillRect/>
          </a:stretch>
        </p:blipFill>
        <p:spPr>
          <a:xfrm>
            <a:off x="1200060" y="1143060"/>
            <a:ext cx="6800850" cy="2552700"/>
          </a:xfrm>
          <a:prstGeom prst="rect">
            <a:avLst/>
          </a:prstGeom>
        </p:spPr>
      </p:pic>
      <p:pic>
        <p:nvPicPr>
          <p:cNvPr id="6" name="Picture 5">
            <a:extLst>
              <a:ext uri="{FF2B5EF4-FFF2-40B4-BE49-F238E27FC236}">
                <a16:creationId xmlns:a16="http://schemas.microsoft.com/office/drawing/2014/main" id="{5508354B-FD46-4EE7-9F65-DD897F7EB9F3}"/>
              </a:ext>
            </a:extLst>
          </p:cNvPr>
          <p:cNvPicPr>
            <a:picLocks noChangeAspect="1"/>
          </p:cNvPicPr>
          <p:nvPr/>
        </p:nvPicPr>
        <p:blipFill>
          <a:blip r:embed="rId4"/>
          <a:stretch>
            <a:fillRect/>
          </a:stretch>
        </p:blipFill>
        <p:spPr>
          <a:xfrm>
            <a:off x="452437" y="4105213"/>
            <a:ext cx="8239125" cy="1685925"/>
          </a:xfrm>
          <a:prstGeom prst="rect">
            <a:avLst/>
          </a:prstGeom>
        </p:spPr>
      </p:pic>
    </p:spTree>
    <p:extLst>
      <p:ext uri="{BB962C8B-B14F-4D97-AF65-F5344CB8AC3E}">
        <p14:creationId xmlns:p14="http://schemas.microsoft.com/office/powerpoint/2010/main" val="643302427"/>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#5: Sprint Retrospective</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7" name="Picture 16">
            <a:extLst>
              <a:ext uri="{FF2B5EF4-FFF2-40B4-BE49-F238E27FC236}">
                <a16:creationId xmlns:a16="http://schemas.microsoft.com/office/drawing/2014/main" id="{51D937B3-9831-4ED9-BD7C-6CA36094A273}"/>
              </a:ext>
            </a:extLst>
          </p:cNvPr>
          <p:cNvPicPr/>
          <p:nvPr/>
        </p:nvPicPr>
        <p:blipFill>
          <a:blip r:embed="rId3"/>
          <a:stretch>
            <a:fillRect/>
          </a:stretch>
        </p:blipFill>
        <p:spPr>
          <a:xfrm>
            <a:off x="652462" y="838268"/>
            <a:ext cx="7729438" cy="4648077"/>
          </a:xfrm>
          <a:prstGeom prst="rect">
            <a:avLst/>
          </a:prstGeom>
        </p:spPr>
      </p:pic>
    </p:spTree>
    <p:extLst>
      <p:ext uri="{BB962C8B-B14F-4D97-AF65-F5344CB8AC3E}">
        <p14:creationId xmlns:p14="http://schemas.microsoft.com/office/powerpoint/2010/main" val="165882930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#5: Sprint Retrospective</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FB76BEDF-DD37-477C-8062-170256965ACF}"/>
              </a:ext>
            </a:extLst>
          </p:cNvPr>
          <p:cNvPicPr>
            <a:picLocks noChangeAspect="1"/>
          </p:cNvPicPr>
          <p:nvPr/>
        </p:nvPicPr>
        <p:blipFill>
          <a:blip r:embed="rId3"/>
          <a:stretch>
            <a:fillRect/>
          </a:stretch>
        </p:blipFill>
        <p:spPr>
          <a:xfrm>
            <a:off x="1071562" y="1143060"/>
            <a:ext cx="7000875" cy="2571750"/>
          </a:xfrm>
          <a:prstGeom prst="rect">
            <a:avLst/>
          </a:prstGeom>
        </p:spPr>
      </p:pic>
      <p:pic>
        <p:nvPicPr>
          <p:cNvPr id="6" name="Picture 5">
            <a:extLst>
              <a:ext uri="{FF2B5EF4-FFF2-40B4-BE49-F238E27FC236}">
                <a16:creationId xmlns:a16="http://schemas.microsoft.com/office/drawing/2014/main" id="{AA97F1BD-E8F5-4CFE-8C3C-76B7C0A47A14}"/>
              </a:ext>
            </a:extLst>
          </p:cNvPr>
          <p:cNvPicPr>
            <a:picLocks noChangeAspect="1"/>
          </p:cNvPicPr>
          <p:nvPr/>
        </p:nvPicPr>
        <p:blipFill>
          <a:blip r:embed="rId4"/>
          <a:stretch>
            <a:fillRect/>
          </a:stretch>
        </p:blipFill>
        <p:spPr>
          <a:xfrm>
            <a:off x="523875" y="3971869"/>
            <a:ext cx="8096250" cy="1590675"/>
          </a:xfrm>
          <a:prstGeom prst="rect">
            <a:avLst/>
          </a:prstGeom>
        </p:spPr>
      </p:pic>
    </p:spTree>
    <p:extLst>
      <p:ext uri="{BB962C8B-B14F-4D97-AF65-F5344CB8AC3E}">
        <p14:creationId xmlns:p14="http://schemas.microsoft.com/office/powerpoint/2010/main" val="229589769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682689"/>
          </a:xfrm>
        </p:spPr>
        <p:txBody>
          <a:bodyPr lIns="90488" tIns="44450" rIns="90488" bIns="44450"/>
          <a:lstStyle/>
          <a:p>
            <a:pPr algn="ctr" eaLnBrk="1" hangingPunct="1"/>
            <a:br>
              <a:rPr lang="en-US" sz="2400" dirty="0"/>
            </a:br>
            <a:r>
              <a:rPr lang="en-US" sz="2400" dirty="0"/>
              <a:t>Scrum Ceremony : Inspection Adaptation</a:t>
            </a:r>
            <a:br>
              <a:rPr lang="en-US" sz="2000" b="1" i="0" dirty="0">
                <a:solidFill>
                  <a:srgbClr val="57585A"/>
                </a:solidFill>
                <a:effectLst/>
                <a:latin typeface="Lato"/>
              </a:rPr>
            </a:br>
            <a:br>
              <a:rPr lang="en-US" sz="14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24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63CC9BC2-DA0E-4381-8950-4A10391995FB}"/>
              </a:ext>
            </a:extLst>
          </p:cNvPr>
          <p:cNvPicPr>
            <a:picLocks noChangeAspect="1"/>
          </p:cNvPicPr>
          <p:nvPr/>
        </p:nvPicPr>
        <p:blipFill>
          <a:blip r:embed="rId3"/>
          <a:stretch>
            <a:fillRect/>
          </a:stretch>
        </p:blipFill>
        <p:spPr>
          <a:xfrm>
            <a:off x="532618" y="1219258"/>
            <a:ext cx="7660898" cy="4190890"/>
          </a:xfrm>
          <a:prstGeom prst="rect">
            <a:avLst/>
          </a:prstGeom>
        </p:spPr>
      </p:pic>
    </p:spTree>
    <p:extLst>
      <p:ext uri="{BB962C8B-B14F-4D97-AF65-F5344CB8AC3E}">
        <p14:creationId xmlns:p14="http://schemas.microsoft.com/office/powerpoint/2010/main" val="3550015053"/>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89439B84-0612-4911-AE34-CFFB1F6451F3}"/>
              </a:ext>
            </a:extLst>
          </p:cNvPr>
          <p:cNvPicPr/>
          <p:nvPr/>
        </p:nvPicPr>
        <p:blipFill>
          <a:blip r:embed="rId3"/>
          <a:stretch>
            <a:fillRect/>
          </a:stretch>
        </p:blipFill>
        <p:spPr>
          <a:xfrm>
            <a:off x="685800" y="857250"/>
            <a:ext cx="7805738" cy="5010085"/>
          </a:xfrm>
          <a:prstGeom prst="rect">
            <a:avLst/>
          </a:prstGeom>
        </p:spPr>
      </p:pic>
    </p:spTree>
    <p:extLst>
      <p:ext uri="{BB962C8B-B14F-4D97-AF65-F5344CB8AC3E}">
        <p14:creationId xmlns:p14="http://schemas.microsoft.com/office/powerpoint/2010/main" val="16346320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Artifacts#1 Product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F6A82DE3-FC8B-43F0-8439-7CE3B566D730}"/>
              </a:ext>
            </a:extLst>
          </p:cNvPr>
          <p:cNvPicPr/>
          <p:nvPr/>
        </p:nvPicPr>
        <p:blipFill>
          <a:blip r:embed="rId3"/>
          <a:stretch>
            <a:fillRect/>
          </a:stretch>
        </p:blipFill>
        <p:spPr>
          <a:xfrm>
            <a:off x="990694" y="1219258"/>
            <a:ext cx="7162612" cy="4648078"/>
          </a:xfrm>
          <a:prstGeom prst="rect">
            <a:avLst/>
          </a:prstGeom>
        </p:spPr>
      </p:pic>
    </p:spTree>
    <p:extLst>
      <p:ext uri="{BB962C8B-B14F-4D97-AF65-F5344CB8AC3E}">
        <p14:creationId xmlns:p14="http://schemas.microsoft.com/office/powerpoint/2010/main" val="328424974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8518844B-3B70-4B74-9B40-5E274FDEEBA0}"/>
              </a:ext>
            </a:extLst>
          </p:cNvPr>
          <p:cNvPicPr>
            <a:picLocks noChangeAspect="1"/>
          </p:cNvPicPr>
          <p:nvPr/>
        </p:nvPicPr>
        <p:blipFill>
          <a:blip r:embed="rId3"/>
          <a:stretch>
            <a:fillRect/>
          </a:stretch>
        </p:blipFill>
        <p:spPr>
          <a:xfrm>
            <a:off x="539896" y="1066862"/>
            <a:ext cx="7785064" cy="3886098"/>
          </a:xfrm>
          <a:prstGeom prst="rect">
            <a:avLst/>
          </a:prstGeom>
        </p:spPr>
      </p:pic>
    </p:spTree>
    <p:extLst>
      <p:ext uri="{BB962C8B-B14F-4D97-AF65-F5344CB8AC3E}">
        <p14:creationId xmlns:p14="http://schemas.microsoft.com/office/powerpoint/2010/main" val="4104771713"/>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Artifacts#1 Product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762069"/>
            <a:ext cx="8686572" cy="5787955"/>
          </a:xfrm>
        </p:spPr>
        <p:txBody>
          <a:bodyPr/>
          <a:lstStyle/>
          <a:p>
            <a:pPr marL="0" marR="0" indent="0">
              <a:spcBef>
                <a:spcPts val="0"/>
              </a:spcBef>
              <a:spcAft>
                <a:spcPts val="0"/>
              </a:spcAft>
              <a:buNone/>
            </a:pPr>
            <a:r>
              <a:rPr lang="en-US" sz="2000" b="1" dirty="0">
                <a:effectLst/>
                <a:latin typeface="+mn-lt"/>
                <a:ea typeface="Times New Roman" panose="02020603050405020304" pitchFamily="18" charset="0"/>
                <a:cs typeface="Times New Roman" panose="02020603050405020304" pitchFamily="18" charset="0"/>
              </a:rPr>
              <a:t>What is a Product  </a:t>
            </a:r>
          </a:p>
          <a:p>
            <a:pPr marL="0" marR="0">
              <a:spcBef>
                <a:spcPts val="0"/>
              </a:spcBef>
              <a:spcAft>
                <a:spcPts val="0"/>
              </a:spcAft>
            </a:pPr>
            <a:r>
              <a:rPr lang="en-US" sz="2000" dirty="0">
                <a:effectLst/>
                <a:latin typeface="+mn-lt"/>
                <a:ea typeface="Times New Roman" panose="02020603050405020304" pitchFamily="18" charset="0"/>
                <a:cs typeface="Times New Roman" panose="02020603050405020304" pitchFamily="18" charset="0"/>
              </a:rPr>
              <a:t>A product is something of </a:t>
            </a:r>
            <a:r>
              <a:rPr lang="en-US" sz="2000" b="1" dirty="0">
                <a:effectLst/>
                <a:latin typeface="+mn-lt"/>
                <a:ea typeface="Times New Roman" panose="02020603050405020304" pitchFamily="18" charset="0"/>
                <a:cs typeface="Times New Roman" panose="02020603050405020304" pitchFamily="18" charset="0"/>
              </a:rPr>
              <a:t>Value </a:t>
            </a:r>
            <a:r>
              <a:rPr lang="en-US" sz="2000" dirty="0">
                <a:effectLst/>
                <a:latin typeface="+mn-lt"/>
                <a:ea typeface="Times New Roman" panose="02020603050405020304" pitchFamily="18" charset="0"/>
                <a:cs typeface="Times New Roman" panose="02020603050405020304" pitchFamily="18" charset="0"/>
              </a:rPr>
              <a:t>that a customer would be </a:t>
            </a:r>
            <a:r>
              <a:rPr lang="en-US" sz="2000" b="1" dirty="0">
                <a:effectLst/>
                <a:latin typeface="+mn-lt"/>
                <a:ea typeface="Times New Roman" panose="02020603050405020304" pitchFamily="18" charset="0"/>
                <a:cs typeface="Times New Roman" panose="02020603050405020304" pitchFamily="18" charset="0"/>
              </a:rPr>
              <a:t>willing to pay for </a:t>
            </a:r>
            <a:r>
              <a:rPr lang="en-US" sz="2000" dirty="0">
                <a:effectLst/>
                <a:latin typeface="+mn-lt"/>
                <a:ea typeface="Times New Roman" panose="02020603050405020304" pitchFamily="18" charset="0"/>
                <a:cs typeface="Times New Roman" panose="02020603050405020304" pitchFamily="18" charset="0"/>
              </a:rPr>
              <a:t>and something “we” would be willing to </a:t>
            </a:r>
            <a:r>
              <a:rPr lang="en-US" sz="2000" b="1" dirty="0">
                <a:effectLst/>
                <a:latin typeface="+mn-lt"/>
                <a:ea typeface="Times New Roman" panose="02020603050405020304" pitchFamily="18" charset="0"/>
                <a:cs typeface="Times New Roman" panose="02020603050405020304" pitchFamily="18" charset="0"/>
              </a:rPr>
              <a:t>“package”</a:t>
            </a:r>
            <a:r>
              <a:rPr lang="en-US" sz="2000" dirty="0">
                <a:effectLst/>
                <a:latin typeface="+mn-lt"/>
                <a:ea typeface="Times New Roman" panose="02020603050405020304" pitchFamily="18" charset="0"/>
                <a:cs typeface="Times New Roman" panose="02020603050405020304" pitchFamily="18" charset="0"/>
              </a:rPr>
              <a:t> </a:t>
            </a:r>
            <a:r>
              <a:rPr lang="en-US" sz="2000" b="1" dirty="0">
                <a:effectLst/>
                <a:latin typeface="+mn-lt"/>
                <a:ea typeface="Times New Roman" panose="02020603050405020304" pitchFamily="18" charset="0"/>
                <a:cs typeface="Times New Roman" panose="02020603050405020304" pitchFamily="18" charset="0"/>
              </a:rPr>
              <a:t>up and sell.</a:t>
            </a:r>
            <a:endParaRPr lang="en-US" sz="2000" dirty="0">
              <a:effectLst/>
              <a:latin typeface="+mn-lt"/>
              <a:ea typeface="Times New Roman" panose="02020603050405020304" pitchFamily="18" charset="0"/>
              <a:cs typeface="Times New Roman" panose="02020603050405020304" pitchFamily="18" charset="0"/>
            </a:endParaRPr>
          </a:p>
          <a:p>
            <a:pPr marL="0" indent="0" algn="l">
              <a:buNone/>
            </a:pPr>
            <a:r>
              <a:rPr lang="en-US" sz="2000" b="1" dirty="0">
                <a:effectLst/>
                <a:latin typeface="+mn-lt"/>
                <a:ea typeface="Times New Roman" panose="02020603050405020304" pitchFamily="18" charset="0"/>
                <a:cs typeface="Times New Roman" panose="02020603050405020304" pitchFamily="18" charset="0"/>
              </a:rPr>
              <a:t>What is a Product Backlog </a:t>
            </a:r>
            <a:endParaRPr lang="en-US" sz="2000" b="0" i="0" dirty="0">
              <a:effectLst/>
              <a:latin typeface="+mn-lt"/>
            </a:endParaRPr>
          </a:p>
          <a:p>
            <a:pPr algn="l">
              <a:buFont typeface="Arial" panose="020B0604020202020204" pitchFamily="34" charset="0"/>
              <a:buChar char="•"/>
            </a:pPr>
            <a:r>
              <a:rPr lang="en-US" sz="2000" b="0" i="0" dirty="0">
                <a:effectLst/>
                <a:latin typeface="+mn-lt"/>
              </a:rPr>
              <a:t>It is the </a:t>
            </a:r>
            <a:r>
              <a:rPr lang="en-US" sz="2000" b="1" i="0" dirty="0">
                <a:effectLst/>
                <a:latin typeface="+mn-lt"/>
              </a:rPr>
              <a:t>ordered list</a:t>
            </a:r>
            <a:r>
              <a:rPr lang="en-US" sz="2000" b="0" i="0" dirty="0">
                <a:effectLst/>
                <a:latin typeface="+mn-lt"/>
              </a:rPr>
              <a:t> that is the single source of everything that is needed for the product.</a:t>
            </a:r>
          </a:p>
          <a:p>
            <a:pPr algn="l">
              <a:buFont typeface="Arial" panose="020B0604020202020204" pitchFamily="34" charset="0"/>
              <a:buChar char="•"/>
            </a:pPr>
            <a:r>
              <a:rPr lang="en-US" sz="2000" b="0" i="0" dirty="0">
                <a:effectLst/>
                <a:latin typeface="+mn-lt"/>
              </a:rPr>
              <a:t>It is the </a:t>
            </a:r>
            <a:r>
              <a:rPr lang="en-US" sz="2000" b="1" i="0" dirty="0">
                <a:effectLst/>
                <a:latin typeface="+mn-lt"/>
              </a:rPr>
              <a:t>living artifact</a:t>
            </a:r>
            <a:r>
              <a:rPr lang="en-US" sz="2000" b="0" i="0" dirty="0">
                <a:effectLst/>
                <a:latin typeface="+mn-lt"/>
              </a:rPr>
              <a:t> that is updated wherever changes occur, and it exists as long as the product exists.</a:t>
            </a:r>
          </a:p>
          <a:p>
            <a:pPr algn="l">
              <a:buFont typeface="Arial" panose="020B0604020202020204" pitchFamily="34" charset="0"/>
              <a:buChar char="•"/>
            </a:pPr>
            <a:r>
              <a:rPr lang="en-US" sz="2000" b="1" dirty="0">
                <a:latin typeface="+mn-lt"/>
              </a:rPr>
              <a:t>Product Owner is </a:t>
            </a:r>
            <a:r>
              <a:rPr lang="en-US" sz="2000" b="0" i="0" dirty="0">
                <a:effectLst/>
                <a:latin typeface="+mn-lt"/>
              </a:rPr>
              <a:t>responsible for managing the Product Backlog: content, order, priority etc.</a:t>
            </a:r>
          </a:p>
          <a:p>
            <a:pPr algn="l">
              <a:buFont typeface="Arial" panose="020B0604020202020204" pitchFamily="34" charset="0"/>
              <a:buChar char="•"/>
            </a:pPr>
            <a:r>
              <a:rPr lang="en-US" sz="2000" b="0" i="0" dirty="0">
                <a:effectLst/>
                <a:latin typeface="+mn-lt"/>
              </a:rPr>
              <a:t>Product Backlog is </a:t>
            </a:r>
            <a:r>
              <a:rPr lang="en-US" sz="2000" b="1" i="0" dirty="0">
                <a:effectLst/>
                <a:latin typeface="+mn-lt"/>
              </a:rPr>
              <a:t>not fixed</a:t>
            </a:r>
            <a:r>
              <a:rPr lang="en-US" sz="2000" b="0" i="0" dirty="0">
                <a:effectLst/>
                <a:latin typeface="+mn-lt"/>
              </a:rPr>
              <a:t> - it is never complete.</a:t>
            </a:r>
          </a:p>
          <a:p>
            <a:pPr algn="l">
              <a:buFont typeface="Arial" panose="020B0604020202020204" pitchFamily="34" charset="0"/>
              <a:buChar char="•"/>
            </a:pPr>
            <a:r>
              <a:rPr lang="en-US" sz="2000" b="0" i="0" dirty="0">
                <a:effectLst/>
                <a:latin typeface="+mn-lt"/>
              </a:rPr>
              <a:t>Product Backlog can contain: </a:t>
            </a:r>
            <a:r>
              <a:rPr lang="en-US" sz="2000" b="1" i="0" dirty="0">
                <a:effectLst/>
                <a:latin typeface="+mn-lt"/>
              </a:rPr>
              <a:t>Epic, Feature, User Story, Task, Bug</a:t>
            </a:r>
            <a:r>
              <a:rPr lang="en-US" sz="2000" b="0" i="0" dirty="0">
                <a:effectLst/>
                <a:latin typeface="+mn-lt"/>
              </a:rPr>
              <a:t>.</a:t>
            </a:r>
          </a:p>
          <a:p>
            <a:pPr algn="l">
              <a:buFont typeface="Arial" panose="020B0604020202020204" pitchFamily="34" charset="0"/>
              <a:buChar char="•"/>
            </a:pPr>
            <a:r>
              <a:rPr lang="en-US" sz="2000" b="0" i="0" dirty="0">
                <a:effectLst/>
                <a:latin typeface="+mn-lt"/>
              </a:rPr>
              <a:t>Product Backlog </a:t>
            </a:r>
            <a:r>
              <a:rPr lang="en-US" sz="2000" b="1" i="0" dirty="0">
                <a:effectLst/>
                <a:latin typeface="+mn-lt"/>
              </a:rPr>
              <a:t>refinement</a:t>
            </a:r>
            <a:r>
              <a:rPr lang="en-US" sz="2000" b="0" i="0" dirty="0">
                <a:effectLst/>
                <a:latin typeface="+mn-lt"/>
              </a:rPr>
              <a:t> is done to update some details of the Product Backlog. It should not take more than 10% of the Development Team’s capacity.</a:t>
            </a:r>
          </a:p>
          <a:p>
            <a:pPr algn="l">
              <a:buFont typeface="Arial" panose="020B0604020202020204" pitchFamily="34" charset="0"/>
              <a:buChar char="•"/>
            </a:pPr>
            <a:r>
              <a:rPr lang="en-US" sz="2000" b="0" i="0" dirty="0">
                <a:effectLst/>
                <a:latin typeface="+mn-lt"/>
              </a:rPr>
              <a:t>The highest ordered items in the Product Backlog should be more detailed to be “Ready” for the Development Team to start working on them.</a:t>
            </a:r>
          </a:p>
          <a:p>
            <a:endParaRPr lang="en-US" dirty="0"/>
          </a:p>
          <a:p>
            <a:endParaRPr lang="en-US" dirty="0"/>
          </a:p>
        </p:txBody>
      </p:sp>
    </p:spTree>
    <p:extLst>
      <p:ext uri="{BB962C8B-B14F-4D97-AF65-F5344CB8AC3E}">
        <p14:creationId xmlns:p14="http://schemas.microsoft.com/office/powerpoint/2010/main" val="1928977638"/>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Artifacts#2 Sprint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8" name="Picture 7">
            <a:extLst>
              <a:ext uri="{FF2B5EF4-FFF2-40B4-BE49-F238E27FC236}">
                <a16:creationId xmlns:a16="http://schemas.microsoft.com/office/drawing/2014/main" id="{209DF502-4ACA-4408-B5A7-37DEBD6E3BEA}"/>
              </a:ext>
            </a:extLst>
          </p:cNvPr>
          <p:cNvPicPr>
            <a:picLocks noChangeAspect="1"/>
          </p:cNvPicPr>
          <p:nvPr/>
        </p:nvPicPr>
        <p:blipFill>
          <a:blip r:embed="rId3"/>
          <a:stretch>
            <a:fillRect/>
          </a:stretch>
        </p:blipFill>
        <p:spPr>
          <a:xfrm>
            <a:off x="1042987" y="1200150"/>
            <a:ext cx="7058025" cy="4457700"/>
          </a:xfrm>
          <a:prstGeom prst="rect">
            <a:avLst/>
          </a:prstGeom>
        </p:spPr>
      </p:pic>
    </p:spTree>
    <p:extLst>
      <p:ext uri="{BB962C8B-B14F-4D97-AF65-F5344CB8AC3E}">
        <p14:creationId xmlns:p14="http://schemas.microsoft.com/office/powerpoint/2010/main" val="309608042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Artifacts#2 Sprint Backlog</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1219258"/>
            <a:ext cx="8610374" cy="4648078"/>
          </a:xfrm>
        </p:spPr>
        <p:txBody>
          <a:bodyPr/>
          <a:lstStyle/>
          <a:p>
            <a:pPr>
              <a:spcBef>
                <a:spcPts val="0"/>
              </a:spcBef>
              <a:spcAft>
                <a:spcPts val="0"/>
              </a:spcAft>
            </a:pP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It is set of Product Backlog items selected for the Sprint p</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lus delivery plan</a:t>
            </a:r>
          </a:p>
          <a:p>
            <a:pPr>
              <a:spcBef>
                <a:spcPts val="0"/>
              </a:spcBef>
              <a:spcAft>
                <a:spcPts val="0"/>
              </a:spcAf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Sprint Backlog is created during the </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Sprint Planning session.</a:t>
            </a:r>
          </a:p>
          <a:p>
            <a:pPr>
              <a:spcBef>
                <a:spcPts val="0"/>
              </a:spcBef>
              <a:spcAft>
                <a:spcPts val="0"/>
              </a:spcAf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It promotes </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transparency</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and supports </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commitment.</a:t>
            </a:r>
          </a:p>
          <a:p>
            <a:pPr>
              <a:spcBef>
                <a:spcPts val="0"/>
              </a:spcBef>
              <a:spcAft>
                <a:spcPts val="0"/>
              </a:spcAf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During Sprint Retrospective, at least one improvement should be selected and included in the Sprint Backlog.</a:t>
            </a:r>
          </a:p>
          <a:p>
            <a:pPr>
              <a:spcBef>
                <a:spcPts val="0"/>
              </a:spcBef>
              <a:spcAft>
                <a:spcPts val="0"/>
              </a:spcAf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Sprint Backlog solely belongs to the </a:t>
            </a:r>
            <a:r>
              <a:rPr lang="en-US" sz="2000" b="1" dirty="0">
                <a:effectLst/>
                <a:latin typeface="Calibri" panose="020F0502020204030204" pitchFamily="34" charset="0"/>
                <a:ea typeface="Times New Roman" panose="02020603050405020304" pitchFamily="18" charset="0"/>
                <a:cs typeface="Times New Roman" panose="02020603050405020304" pitchFamily="18" charset="0"/>
              </a:rPr>
              <a:t>Development Team.</a:t>
            </a:r>
          </a:p>
          <a:p>
            <a:pPr>
              <a:spcBef>
                <a:spcPts val="0"/>
              </a:spcBef>
              <a:spcAft>
                <a:spcPts val="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S</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print Backlog is a great tool for tracking of daily progress.</a:t>
            </a:r>
            <a:endParaRPr lang="en-US" sz="2000" dirty="0"/>
          </a:p>
          <a:p>
            <a:endParaRPr lang="en-US" dirty="0"/>
          </a:p>
        </p:txBody>
      </p:sp>
    </p:spTree>
    <p:extLst>
      <p:ext uri="{BB962C8B-B14F-4D97-AF65-F5344CB8AC3E}">
        <p14:creationId xmlns:p14="http://schemas.microsoft.com/office/powerpoint/2010/main" val="35610852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Artifacts#3 The Increment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005A6DA0-6587-49C0-ADFC-138849436829}"/>
              </a:ext>
            </a:extLst>
          </p:cNvPr>
          <p:cNvPicPr>
            <a:picLocks noChangeAspect="1"/>
          </p:cNvPicPr>
          <p:nvPr/>
        </p:nvPicPr>
        <p:blipFill>
          <a:blip r:embed="rId3"/>
          <a:stretch>
            <a:fillRect/>
          </a:stretch>
        </p:blipFill>
        <p:spPr>
          <a:xfrm>
            <a:off x="132119" y="1219259"/>
            <a:ext cx="8859365" cy="4409332"/>
          </a:xfrm>
          <a:prstGeom prst="rect">
            <a:avLst/>
          </a:prstGeom>
        </p:spPr>
      </p:pic>
    </p:spTree>
    <p:extLst>
      <p:ext uri="{BB962C8B-B14F-4D97-AF65-F5344CB8AC3E}">
        <p14:creationId xmlns:p14="http://schemas.microsoft.com/office/powerpoint/2010/main" val="294459791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Artifacts#3 The Increment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buNone/>
            </a:pPr>
            <a:r>
              <a:rPr lang="en-US" sz="1800" dirty="0">
                <a:latin typeface="+mn-lt"/>
              </a:rPr>
              <a:t>Increment is sum of all items completed within the Sprint + value of increments from previous iterations.</a:t>
            </a:r>
          </a:p>
          <a:p>
            <a:pPr marL="0" indent="0">
              <a:buNone/>
            </a:pPr>
            <a:endParaRPr lang="en-US" sz="1800" dirty="0">
              <a:latin typeface="+mn-lt"/>
            </a:endParaRPr>
          </a:p>
          <a:p>
            <a:pPr marL="0" indent="0">
              <a:buNone/>
            </a:pPr>
            <a:r>
              <a:rPr lang="en-US" sz="1800" dirty="0">
                <a:latin typeface="+mn-lt"/>
              </a:rPr>
              <a:t>When Increment is created, definition of “Done” needs to be met.</a:t>
            </a:r>
          </a:p>
          <a:p>
            <a:pPr marL="0" indent="0">
              <a:buNone/>
            </a:pPr>
            <a:endParaRPr lang="en-US" sz="1800" dirty="0">
              <a:latin typeface="+mn-lt"/>
            </a:endParaRPr>
          </a:p>
          <a:p>
            <a:pPr marL="0" indent="0">
              <a:buNone/>
            </a:pPr>
            <a:r>
              <a:rPr lang="en-US" sz="1800" dirty="0">
                <a:latin typeface="+mn-lt"/>
              </a:rPr>
              <a:t>Decision about releasing the Increment is in the Product Owner’s hands, but it needs to be in useable/releasable state.</a:t>
            </a:r>
          </a:p>
          <a:p>
            <a:pPr marL="0" indent="0">
              <a:buNone/>
            </a:pPr>
            <a:r>
              <a:rPr lang="en-US" sz="1800" dirty="0">
                <a:latin typeface="+mn-lt"/>
              </a:rPr>
              <a:t>Done=“Potential Shippable”</a:t>
            </a:r>
          </a:p>
        </p:txBody>
      </p:sp>
    </p:spTree>
    <p:extLst>
      <p:ext uri="{BB962C8B-B14F-4D97-AF65-F5344CB8AC3E}">
        <p14:creationId xmlns:p14="http://schemas.microsoft.com/office/powerpoint/2010/main" val="3479251391"/>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Artifacts#4 Burndown Chart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36E1E3C6-A881-4753-8334-6114CD9DF132}"/>
              </a:ext>
            </a:extLst>
          </p:cNvPr>
          <p:cNvPicPr>
            <a:picLocks noChangeAspect="1"/>
          </p:cNvPicPr>
          <p:nvPr/>
        </p:nvPicPr>
        <p:blipFill>
          <a:blip r:embed="rId3"/>
          <a:stretch>
            <a:fillRect/>
          </a:stretch>
        </p:blipFill>
        <p:spPr>
          <a:xfrm>
            <a:off x="571500" y="1281112"/>
            <a:ext cx="8001000" cy="4295775"/>
          </a:xfrm>
          <a:prstGeom prst="rect">
            <a:avLst/>
          </a:prstGeom>
        </p:spPr>
      </p:pic>
    </p:spTree>
    <p:extLst>
      <p:ext uri="{BB962C8B-B14F-4D97-AF65-F5344CB8AC3E}">
        <p14:creationId xmlns:p14="http://schemas.microsoft.com/office/powerpoint/2010/main" val="3689773685"/>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Burndown Chart- Example</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 name="Content Placeholder 1">
            <a:extLst>
              <a:ext uri="{FF2B5EF4-FFF2-40B4-BE49-F238E27FC236}">
                <a16:creationId xmlns:a16="http://schemas.microsoft.com/office/drawing/2014/main" id="{40FC898B-C9C5-4867-AEFB-47187470EFA9}"/>
              </a:ext>
            </a:extLst>
          </p:cNvPr>
          <p:cNvSpPr>
            <a:spLocks noGrp="1"/>
          </p:cNvSpPr>
          <p:nvPr>
            <p:ph idx="1"/>
          </p:nvPr>
        </p:nvSpPr>
        <p:spPr>
          <a:xfrm>
            <a:off x="381110" y="990664"/>
            <a:ext cx="7886700" cy="4952870"/>
          </a:xfrm>
        </p:spPr>
        <p:txBody>
          <a:bodyPr/>
          <a:lstStyle/>
          <a:p>
            <a:pPr marL="0" indent="0" algn="l">
              <a:buNone/>
            </a:pPr>
            <a:r>
              <a:rPr lang="en-US" b="1" i="0" dirty="0">
                <a:solidFill>
                  <a:srgbClr val="737C85"/>
                </a:solidFill>
                <a:effectLst/>
                <a:latin typeface="Open Sans"/>
              </a:rPr>
              <a:t>Duration</a:t>
            </a:r>
            <a:r>
              <a:rPr lang="en-US" b="0" i="0" dirty="0">
                <a:solidFill>
                  <a:srgbClr val="737C85"/>
                </a:solidFill>
                <a:effectLst/>
                <a:latin typeface="Open Sans"/>
              </a:rPr>
              <a:t>: 5 days</a:t>
            </a:r>
          </a:p>
          <a:p>
            <a:pPr marL="0" indent="0" algn="l">
              <a:buNone/>
            </a:pPr>
            <a:r>
              <a:rPr lang="en-US" b="1" i="0" dirty="0">
                <a:solidFill>
                  <a:srgbClr val="737C85"/>
                </a:solidFill>
                <a:effectLst/>
                <a:latin typeface="Open Sans"/>
              </a:rPr>
              <a:t>Sprint Backlog</a:t>
            </a:r>
            <a:r>
              <a:rPr lang="en-US" b="0" i="0" dirty="0">
                <a:solidFill>
                  <a:srgbClr val="737C85"/>
                </a:solidFill>
                <a:effectLst/>
                <a:latin typeface="Open Sans"/>
              </a:rPr>
              <a:t>: 8 tasks</a:t>
            </a:r>
          </a:p>
          <a:p>
            <a:pPr marL="0" indent="0" algn="l">
              <a:buNone/>
            </a:pPr>
            <a:r>
              <a:rPr lang="en-US" b="1" i="0" dirty="0">
                <a:solidFill>
                  <a:srgbClr val="737C85"/>
                </a:solidFill>
                <a:effectLst/>
                <a:latin typeface="Open Sans"/>
              </a:rPr>
              <a:t>Velocity</a:t>
            </a:r>
            <a:r>
              <a:rPr lang="en-US" b="0" i="0" dirty="0">
                <a:solidFill>
                  <a:srgbClr val="737C85"/>
                </a:solidFill>
                <a:effectLst/>
                <a:latin typeface="Open Sans"/>
              </a:rPr>
              <a:t>: 80 available hours</a:t>
            </a:r>
            <a:endParaRPr lang="en-US" dirty="0"/>
          </a:p>
        </p:txBody>
      </p:sp>
      <p:pic>
        <p:nvPicPr>
          <p:cNvPr id="4" name="Picture 3">
            <a:extLst>
              <a:ext uri="{FF2B5EF4-FFF2-40B4-BE49-F238E27FC236}">
                <a16:creationId xmlns:a16="http://schemas.microsoft.com/office/drawing/2014/main" id="{77ED0F60-413C-4837-A413-FF2BD0130A03}"/>
              </a:ext>
            </a:extLst>
          </p:cNvPr>
          <p:cNvPicPr>
            <a:picLocks noChangeAspect="1"/>
          </p:cNvPicPr>
          <p:nvPr/>
        </p:nvPicPr>
        <p:blipFill>
          <a:blip r:embed="rId3"/>
          <a:stretch>
            <a:fillRect/>
          </a:stretch>
        </p:blipFill>
        <p:spPr>
          <a:xfrm>
            <a:off x="30946" y="1976811"/>
            <a:ext cx="7886700" cy="1170005"/>
          </a:xfrm>
          <a:prstGeom prst="rect">
            <a:avLst/>
          </a:prstGeom>
        </p:spPr>
      </p:pic>
      <p:graphicFrame>
        <p:nvGraphicFramePr>
          <p:cNvPr id="5" name="Table 4">
            <a:extLst>
              <a:ext uri="{FF2B5EF4-FFF2-40B4-BE49-F238E27FC236}">
                <a16:creationId xmlns:a16="http://schemas.microsoft.com/office/drawing/2014/main" id="{2E338456-ECCB-42EE-B0C9-F6B1C7552298}"/>
              </a:ext>
            </a:extLst>
          </p:cNvPr>
          <p:cNvGraphicFramePr>
            <a:graphicFrameLocks noGrp="1"/>
          </p:cNvGraphicFramePr>
          <p:nvPr>
            <p:extLst>
              <p:ext uri="{D42A27DB-BD31-4B8C-83A1-F6EECF244321}">
                <p14:modId xmlns:p14="http://schemas.microsoft.com/office/powerpoint/2010/main" val="2725830655"/>
              </p:ext>
            </p:extLst>
          </p:nvPr>
        </p:nvGraphicFramePr>
        <p:xfrm>
          <a:off x="372940" y="3467099"/>
          <a:ext cx="8093074" cy="1448562"/>
        </p:xfrm>
        <a:graphic>
          <a:graphicData uri="http://schemas.openxmlformats.org/drawingml/2006/table">
            <a:tbl>
              <a:tblPr/>
              <a:tblGrid>
                <a:gridCol w="4046537">
                  <a:extLst>
                    <a:ext uri="{9D8B030D-6E8A-4147-A177-3AD203B41FA5}">
                      <a16:colId xmlns:a16="http://schemas.microsoft.com/office/drawing/2014/main" val="1751049863"/>
                    </a:ext>
                  </a:extLst>
                </a:gridCol>
                <a:gridCol w="4046537">
                  <a:extLst>
                    <a:ext uri="{9D8B030D-6E8A-4147-A177-3AD203B41FA5}">
                      <a16:colId xmlns:a16="http://schemas.microsoft.com/office/drawing/2014/main" val="1660699292"/>
                    </a:ext>
                  </a:extLst>
                </a:gridCol>
              </a:tblGrid>
              <a:tr h="246126">
                <a:tc>
                  <a:txBody>
                    <a:bodyPr/>
                    <a:lstStyle/>
                    <a:p>
                      <a:r>
                        <a:rPr lang="en-US" sz="1000">
                          <a:effectLst/>
                        </a:rPr>
                        <a:t>X-Axis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a:effectLst/>
                        </a:rPr>
                        <a:t>The project/iteration timeline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638324973"/>
                  </a:ext>
                </a:extLst>
              </a:tr>
              <a:tr h="400812">
                <a:tc>
                  <a:txBody>
                    <a:bodyPr/>
                    <a:lstStyle/>
                    <a:p>
                      <a:r>
                        <a:rPr lang="en-US" sz="1000">
                          <a:effectLst/>
                        </a:rPr>
                        <a:t>Y-Axis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a:effectLst/>
                        </a:rPr>
                        <a:t>The work that needs to be completed for the project. The time or story point estimates for the work remaining will be represented by this axis.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177978241"/>
                  </a:ext>
                </a:extLst>
              </a:tr>
              <a:tr h="400812">
                <a:tc>
                  <a:txBody>
                    <a:bodyPr/>
                    <a:lstStyle/>
                    <a:p>
                      <a:r>
                        <a:rPr lang="en-US" sz="1000" dirty="0">
                          <a:effectLst/>
                        </a:rPr>
                        <a:t>Project Start Point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a:effectLst/>
                        </a:rPr>
                        <a:t>This is the farthest point to the left of the chart and occurs at day 0 of the project/iteration.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655211260"/>
                  </a:ext>
                </a:extLst>
              </a:tr>
              <a:tr h="400812">
                <a:tc>
                  <a:txBody>
                    <a:bodyPr/>
                    <a:lstStyle/>
                    <a:p>
                      <a:r>
                        <a:rPr lang="en-US" sz="1000">
                          <a:effectLst/>
                        </a:rPr>
                        <a:t>Project End Point</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000" dirty="0">
                          <a:effectLst/>
                        </a:rPr>
                        <a:t>This is the point that is farthest to the right of the chart and occurs on the predicted last day of the project/iteration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589357510"/>
                  </a:ext>
                </a:extLst>
              </a:tr>
            </a:tbl>
          </a:graphicData>
        </a:graphic>
      </p:graphicFrame>
    </p:spTree>
    <p:extLst>
      <p:ext uri="{BB962C8B-B14F-4D97-AF65-F5344CB8AC3E}">
        <p14:creationId xmlns:p14="http://schemas.microsoft.com/office/powerpoint/2010/main" val="163246680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Scrum – Artifacts#5 Burnup Chart</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B943EE7C-6626-4524-9A89-D193BC8BB1B1}"/>
              </a:ext>
            </a:extLst>
          </p:cNvPr>
          <p:cNvPicPr>
            <a:picLocks noChangeAspect="1"/>
          </p:cNvPicPr>
          <p:nvPr/>
        </p:nvPicPr>
        <p:blipFill>
          <a:blip r:embed="rId3"/>
          <a:stretch>
            <a:fillRect/>
          </a:stretch>
        </p:blipFill>
        <p:spPr>
          <a:xfrm>
            <a:off x="229834" y="1066861"/>
            <a:ext cx="7618679" cy="4144561"/>
          </a:xfrm>
          <a:prstGeom prst="rect">
            <a:avLst/>
          </a:prstGeom>
        </p:spPr>
      </p:pic>
    </p:spTree>
    <p:extLst>
      <p:ext uri="{BB962C8B-B14F-4D97-AF65-F5344CB8AC3E}">
        <p14:creationId xmlns:p14="http://schemas.microsoft.com/office/powerpoint/2010/main" val="345880978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D156-2C7E-4365-BD74-ED47EFB002DD}"/>
              </a:ext>
            </a:extLst>
          </p:cNvPr>
          <p:cNvSpPr>
            <a:spLocks noGrp="1"/>
          </p:cNvSpPr>
          <p:nvPr>
            <p:ph type="title"/>
          </p:nvPr>
        </p:nvSpPr>
        <p:spPr/>
        <p:txBody>
          <a:bodyPr/>
          <a:lstStyle/>
          <a:p>
            <a:r>
              <a:rPr lang="en-US" dirty="0"/>
              <a:t>Thank</a:t>
            </a:r>
            <a:br>
              <a:rPr lang="en-US" dirty="0"/>
            </a:br>
            <a:r>
              <a:rPr lang="en-US" sz="3600" dirty="0"/>
              <a:t>You</a:t>
            </a:r>
          </a:p>
        </p:txBody>
      </p:sp>
    </p:spTree>
    <p:extLst>
      <p:ext uri="{BB962C8B-B14F-4D97-AF65-F5344CB8AC3E}">
        <p14:creationId xmlns:p14="http://schemas.microsoft.com/office/powerpoint/2010/main" val="31078471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1072</TotalTime>
  <Pages>29</Pages>
  <Words>5228</Words>
  <Application>Microsoft Office PowerPoint</Application>
  <PresentationFormat>On-screen Show (4:3)</PresentationFormat>
  <Paragraphs>373</Paragraphs>
  <Slides>68</Slides>
  <Notes>67</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68</vt:i4>
      </vt:variant>
    </vt:vector>
  </HeadingPairs>
  <TitlesOfParts>
    <vt:vector size="85" baseType="lpstr">
      <vt:lpstr>-apple-system</vt:lpstr>
      <vt:lpstr>Arial</vt:lpstr>
      <vt:lpstr>Arial</vt:lpstr>
      <vt:lpstr>Calibri</vt:lpstr>
      <vt:lpstr>Lato</vt:lpstr>
      <vt:lpstr>Open Sans</vt:lpstr>
      <vt:lpstr>Raleway</vt:lpstr>
      <vt:lpstr>Roboto</vt:lpstr>
      <vt:lpstr>Rubik</vt:lpstr>
      <vt:lpstr>Source Sans Pro</vt:lpstr>
      <vt:lpstr>Times New Roman</vt:lpstr>
      <vt:lpstr>ubuntu</vt:lpstr>
      <vt:lpstr>Wingdings</vt:lpstr>
      <vt:lpstr>Work Sans</vt:lpstr>
      <vt:lpstr>Custom Design</vt:lpstr>
      <vt:lpstr>1_Custom Design</vt:lpstr>
      <vt:lpstr>2_Custom Design</vt:lpstr>
      <vt:lpstr>Agile-DB Systel Basics </vt:lpstr>
      <vt:lpstr> Recap…. </vt:lpstr>
      <vt:lpstr> Recap…. </vt:lpstr>
      <vt:lpstr>  Various SDLC Models  </vt:lpstr>
      <vt:lpstr> Waterfall </vt:lpstr>
      <vt:lpstr> Agile </vt:lpstr>
      <vt:lpstr> Agile Manifesto </vt:lpstr>
      <vt:lpstr> Agile Principles </vt:lpstr>
      <vt:lpstr> Agile Principles </vt:lpstr>
      <vt:lpstr> Agile Principles </vt:lpstr>
      <vt:lpstr> Agile is Iterative and Incremental </vt:lpstr>
      <vt:lpstr> Agile Vs Waterfall </vt:lpstr>
      <vt:lpstr> Agile Vs Waterfall </vt:lpstr>
      <vt:lpstr> Agile Vs Waterfall (Team) </vt:lpstr>
      <vt:lpstr>Waterfall Vs Agile Projects</vt:lpstr>
      <vt:lpstr>Agile Vs Waterfall Projects</vt:lpstr>
      <vt:lpstr> Benefits Of Agile Project Management </vt:lpstr>
      <vt:lpstr> Benefits Of Agile Project Management </vt:lpstr>
      <vt:lpstr> Agile- Benefits(High Product Quality) </vt:lpstr>
      <vt:lpstr> Agile- Benefits(Higher Customer Satisfaction) </vt:lpstr>
      <vt:lpstr> Agile- Benefits(Increased Project Control) </vt:lpstr>
      <vt:lpstr> Agile- Benefits(Reduced Risk) </vt:lpstr>
      <vt:lpstr> Agile- Benefits(Faster ROI) </vt:lpstr>
      <vt:lpstr>Stakeholder Engagement</vt:lpstr>
      <vt:lpstr> Early and Predictable Delivery  </vt:lpstr>
      <vt:lpstr> Agile Umbrella </vt:lpstr>
      <vt:lpstr> The Scrum Values </vt:lpstr>
      <vt:lpstr> The Scrum Values </vt:lpstr>
      <vt:lpstr> The Scrum Values </vt:lpstr>
      <vt:lpstr>Defined Vs. Empirical Process</vt:lpstr>
      <vt:lpstr>The Three Pillars of Empiricism</vt:lpstr>
      <vt:lpstr> The Three Pillars of Empiricism  </vt:lpstr>
      <vt:lpstr> The Scrum Pillars and Values </vt:lpstr>
      <vt:lpstr>Scrum-In Nutshell</vt:lpstr>
      <vt:lpstr>Scrum Framework</vt:lpstr>
      <vt:lpstr>Scrum- Roles(Team)</vt:lpstr>
      <vt:lpstr>Scrum- Roles(PO)</vt:lpstr>
      <vt:lpstr>Scrum- Roles(PO)</vt:lpstr>
      <vt:lpstr>Scrum- Roles(Dev Team)</vt:lpstr>
      <vt:lpstr>Scrum- Roles(Dev Team)</vt:lpstr>
      <vt:lpstr>Scrum- Roles(Scrum Master)</vt:lpstr>
      <vt:lpstr>Scrum- Roles(Scrum Master)</vt:lpstr>
      <vt:lpstr>Scrum- Roles(Scrum Master)</vt:lpstr>
      <vt:lpstr>Scrum – Ceremonies (Events)</vt:lpstr>
      <vt:lpstr> Scrum – TIMEBOXING </vt:lpstr>
      <vt:lpstr> Scrum – Ceremonies (Sprint Cycle) </vt:lpstr>
      <vt:lpstr> Scrum Ceremony #1: Product Backlog Grooming  </vt:lpstr>
      <vt:lpstr> Scrum Ceremony #2: Sprint Planning  </vt:lpstr>
      <vt:lpstr> Scrum Ceremony #2: Sprint Planning  </vt:lpstr>
      <vt:lpstr> Scrum Ceremony #3: Daily Scrum /Daily Standup </vt:lpstr>
      <vt:lpstr> Scrum Ceremony #3: Daily Scrum /Daily Standup </vt:lpstr>
      <vt:lpstr> Scrum Ceremony #4: Sprint Review </vt:lpstr>
      <vt:lpstr> Scrum Ceremony #4: Sprint Review </vt:lpstr>
      <vt:lpstr> Scrum Ceremony #5: Sprint Retrospective  </vt:lpstr>
      <vt:lpstr> Scrum Ceremony #5: Sprint Retrospective  </vt:lpstr>
      <vt:lpstr> Scrum Ceremony : Inspection Adaptation  </vt:lpstr>
      <vt:lpstr>Scrum – Artifacts</vt:lpstr>
      <vt:lpstr>Scrum – Artifacts#1 Product Backlog</vt:lpstr>
      <vt:lpstr>PowerPoint Presentation</vt:lpstr>
      <vt:lpstr>Scrum – Artifacts#1 Product Backlog</vt:lpstr>
      <vt:lpstr>Scrum – Artifacts#2 Sprint Backlog</vt:lpstr>
      <vt:lpstr>Scrum – Artifacts#2 Sprint Backlog</vt:lpstr>
      <vt:lpstr>Scrum – Artifacts#3 The Increment</vt:lpstr>
      <vt:lpstr>Scrum – Artifacts#3 The Increment</vt:lpstr>
      <vt:lpstr>Scrum – Artifacts#4 Burndown Chart</vt:lpstr>
      <vt:lpstr>Burndown Chart- Example</vt:lpstr>
      <vt:lpstr>Scrum – Artifacts#5 Burnup Chart</vt:lpstr>
      <vt:lpstr>Thank You</vt:lpstr>
    </vt:vector>
  </TitlesOfParts>
  <Company>NIIT Technologies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SMR For ODC</dc:title>
  <dc:creator/>
  <cp:lastModifiedBy>Neeraj Vohra</cp:lastModifiedBy>
  <cp:revision>1121</cp:revision>
  <cp:lastPrinted>2001-02-07T09:22:00Z</cp:lastPrinted>
  <dcterms:created xsi:type="dcterms:W3CDTF">1996-05-23T11:41:00Z</dcterms:created>
  <dcterms:modified xsi:type="dcterms:W3CDTF">2021-03-07T10:39:07Z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