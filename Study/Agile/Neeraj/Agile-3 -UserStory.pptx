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7" r:id="rId2"/>
    <p:sldMasterId id="2147483686" r:id="rId3"/>
  </p:sldMasterIdLst>
  <p:notesMasterIdLst>
    <p:notesMasterId r:id="rId35"/>
  </p:notesMasterIdLst>
  <p:handoutMasterIdLst>
    <p:handoutMasterId r:id="rId36"/>
  </p:handoutMasterIdLst>
  <p:sldIdLst>
    <p:sldId id="1134" r:id="rId4"/>
    <p:sldId id="1150" r:id="rId5"/>
    <p:sldId id="1167" r:id="rId6"/>
    <p:sldId id="1168" r:id="rId7"/>
    <p:sldId id="1169" r:id="rId8"/>
    <p:sldId id="1163" r:id="rId9"/>
    <p:sldId id="1194" r:id="rId10"/>
    <p:sldId id="1165" r:id="rId11"/>
    <p:sldId id="1171" r:id="rId12"/>
    <p:sldId id="1172" r:id="rId13"/>
    <p:sldId id="1173" r:id="rId14"/>
    <p:sldId id="1174" r:id="rId15"/>
    <p:sldId id="1175" r:id="rId16"/>
    <p:sldId id="1176" r:id="rId17"/>
    <p:sldId id="1177" r:id="rId18"/>
    <p:sldId id="1178" r:id="rId19"/>
    <p:sldId id="1191" r:id="rId20"/>
    <p:sldId id="1181" r:id="rId21"/>
    <p:sldId id="1183" r:id="rId22"/>
    <p:sldId id="1184" r:id="rId23"/>
    <p:sldId id="1185" r:id="rId24"/>
    <p:sldId id="1186" r:id="rId25"/>
    <p:sldId id="1187" r:id="rId26"/>
    <p:sldId id="1179" r:id="rId27"/>
    <p:sldId id="1188" r:id="rId28"/>
    <p:sldId id="1180" r:id="rId29"/>
    <p:sldId id="1190" r:id="rId30"/>
    <p:sldId id="1192" r:id="rId31"/>
    <p:sldId id="1195" r:id="rId32"/>
    <p:sldId id="1189" r:id="rId33"/>
    <p:sldId id="1137" r:id="rId34"/>
  </p:sldIdLst>
  <p:sldSz cx="9144000" cy="6858000" type="screen4x3"/>
  <p:notesSz cx="6732588" cy="9871075"/>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58">
          <p15:clr>
            <a:srgbClr val="A4A3A4"/>
          </p15:clr>
        </p15:guide>
        <p15:guide id="2" pos="28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63D"/>
    <a:srgbClr val="00FF00"/>
    <a:srgbClr val="FF6600"/>
    <a:srgbClr val="FF3300"/>
    <a:srgbClr val="FF9900"/>
    <a:srgbClr val="0000FF"/>
    <a:srgbClr val="FF3399"/>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18" autoAdjust="0"/>
    <p:restoredTop sz="82375" autoAdjust="0"/>
  </p:normalViewPr>
  <p:slideViewPr>
    <p:cSldViewPr>
      <p:cViewPr varScale="1">
        <p:scale>
          <a:sx n="60" d="100"/>
          <a:sy n="60" d="100"/>
        </p:scale>
        <p:origin x="1644" y="60"/>
      </p:cViewPr>
      <p:guideLst>
        <p:guide orient="horz" pos="2158"/>
        <p:guide pos="28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27330" name="Rectangle 1026"/>
          <p:cNvSpPr>
            <a:spLocks noGrp="1" noChangeArrowheads="1"/>
          </p:cNvSpPr>
          <p:nvPr>
            <p:ph type="hdr" sz="quarter"/>
          </p:nvPr>
        </p:nvSpPr>
        <p:spPr bwMode="auto">
          <a:xfrm>
            <a:off x="0" y="0"/>
            <a:ext cx="2917825" cy="493713"/>
          </a:xfrm>
          <a:prstGeom prst="rect">
            <a:avLst/>
          </a:prstGeom>
          <a:noFill/>
          <a:ln w="12700">
            <a:noFill/>
            <a:miter lim="800000"/>
          </a:ln>
          <a:effectLst/>
        </p:spPr>
        <p:txBody>
          <a:bodyPr vert="horz" wrap="square" lIns="91440" tIns="45720" rIns="91440" bIns="45720" numCol="1" anchor="t" anchorCtr="0" compatLnSpc="1"/>
          <a:lstStyle>
            <a:lvl1pPr eaLnBrk="0" hangingPunct="0">
              <a:defRPr sz="1200"/>
            </a:lvl1pPr>
          </a:lstStyle>
          <a:p>
            <a:pPr>
              <a:defRPr/>
            </a:pPr>
            <a:endParaRPr lang="en-US"/>
          </a:p>
        </p:txBody>
      </p:sp>
      <p:sp>
        <p:nvSpPr>
          <p:cNvPr id="227331" name="Rectangle 1027"/>
          <p:cNvSpPr>
            <a:spLocks noGrp="1" noChangeArrowheads="1"/>
          </p:cNvSpPr>
          <p:nvPr>
            <p:ph type="dt" idx="1"/>
          </p:nvPr>
        </p:nvSpPr>
        <p:spPr bwMode="auto">
          <a:xfrm>
            <a:off x="3814763" y="0"/>
            <a:ext cx="2917825" cy="493713"/>
          </a:xfrm>
          <a:prstGeom prst="rect">
            <a:avLst/>
          </a:prstGeom>
          <a:noFill/>
          <a:ln w="12700">
            <a:noFill/>
            <a:miter lim="800000"/>
          </a:ln>
          <a:effectLst/>
        </p:spPr>
        <p:txBody>
          <a:bodyPr vert="horz" wrap="square" lIns="91440" tIns="45720" rIns="91440" bIns="45720" numCol="1" anchor="t" anchorCtr="0" compatLnSpc="1"/>
          <a:lstStyle>
            <a:lvl1pPr algn="r" eaLnBrk="0" hangingPunct="0">
              <a:defRPr sz="1200"/>
            </a:lvl1pPr>
          </a:lstStyle>
          <a:p>
            <a:pPr>
              <a:defRPr/>
            </a:pPr>
            <a:fld id="{F2B75972-D2A2-41F7-904E-1E64020CAC85}" type="datetime1">
              <a:rPr lang="en-US"/>
              <a:t>3/20/2021</a:t>
            </a:fld>
            <a:endParaRPr lang="en-US"/>
          </a:p>
        </p:txBody>
      </p:sp>
      <p:sp>
        <p:nvSpPr>
          <p:cNvPr id="28676" name="Rectangle 1028"/>
          <p:cNvSpPr>
            <a:spLocks noGrp="1" noRot="1" noChangeAspect="1" noChangeArrowheads="1" noTextEdit="1"/>
          </p:cNvSpPr>
          <p:nvPr>
            <p:ph type="sldImg" idx="4294967295"/>
          </p:nvPr>
        </p:nvSpPr>
        <p:spPr bwMode="auto">
          <a:xfrm>
            <a:off x="898525" y="739775"/>
            <a:ext cx="4935538" cy="370205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7333" name="Rectangle 1029"/>
          <p:cNvSpPr>
            <a:spLocks noGrp="1" noChangeArrowheads="1"/>
          </p:cNvSpPr>
          <p:nvPr>
            <p:ph type="body" sz="quarter" idx="3"/>
          </p:nvPr>
        </p:nvSpPr>
        <p:spPr bwMode="auto">
          <a:xfrm>
            <a:off x="896938" y="4689475"/>
            <a:ext cx="4938712" cy="4441825"/>
          </a:xfrm>
          <a:prstGeom prst="rect">
            <a:avLst/>
          </a:prstGeom>
          <a:noFill/>
          <a:ln w="12700">
            <a:noFill/>
            <a:miter lim="800000"/>
          </a:ln>
          <a:effectLst/>
        </p:spPr>
        <p:txBody>
          <a:bodyPr vert="horz" wrap="square" lIns="91440" tIns="45720" rIns="91440" bIns="45720" numCol="1" anchor="t" anchorCtr="0" compatLnSpc="1"/>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27334" name="Rectangle 1030"/>
          <p:cNvSpPr>
            <a:spLocks noGrp="1" noChangeArrowheads="1"/>
          </p:cNvSpPr>
          <p:nvPr>
            <p:ph type="ftr" sz="quarter" idx="4"/>
          </p:nvPr>
        </p:nvSpPr>
        <p:spPr bwMode="auto">
          <a:xfrm>
            <a:off x="0" y="9377363"/>
            <a:ext cx="2917825" cy="493712"/>
          </a:xfrm>
          <a:prstGeom prst="rect">
            <a:avLst/>
          </a:prstGeom>
          <a:noFill/>
          <a:ln w="12700">
            <a:noFill/>
            <a:miter lim="800000"/>
          </a:ln>
          <a:effectLst/>
        </p:spPr>
        <p:txBody>
          <a:bodyPr vert="horz" wrap="square" lIns="91440" tIns="45720" rIns="91440" bIns="45720" numCol="1" anchor="b" anchorCtr="0" compatLnSpc="1"/>
          <a:lstStyle>
            <a:lvl1pPr eaLnBrk="0" hangingPunct="0">
              <a:defRPr sz="1200"/>
            </a:lvl1pPr>
          </a:lstStyle>
          <a:p>
            <a:pPr>
              <a:defRPr/>
            </a:pPr>
            <a:endParaRPr lang="en-US"/>
          </a:p>
        </p:txBody>
      </p:sp>
      <p:sp>
        <p:nvSpPr>
          <p:cNvPr id="227335" name="Rectangle 1031"/>
          <p:cNvSpPr>
            <a:spLocks noGrp="1" noChangeArrowheads="1"/>
          </p:cNvSpPr>
          <p:nvPr>
            <p:ph type="sldNum" sz="quarter" idx="5"/>
          </p:nvPr>
        </p:nvSpPr>
        <p:spPr bwMode="auto">
          <a:xfrm>
            <a:off x="3814763" y="9377363"/>
            <a:ext cx="2917825" cy="493712"/>
          </a:xfrm>
          <a:prstGeom prst="rect">
            <a:avLst/>
          </a:prstGeom>
          <a:noFill/>
          <a:ln w="12700">
            <a:noFill/>
            <a:miter lim="800000"/>
          </a:ln>
          <a:effectLst/>
        </p:spPr>
        <p:txBody>
          <a:bodyPr vert="horz" wrap="square" lIns="91440" tIns="45720" rIns="91440" bIns="45720" numCol="1" anchor="b" anchorCtr="0" compatLnSpc="1"/>
          <a:lstStyle>
            <a:lvl1pPr algn="r">
              <a:defRPr sz="1200"/>
            </a:lvl1pPr>
          </a:lstStyle>
          <a:p>
            <a:pPr>
              <a:defRPr/>
            </a:pPr>
            <a:fld id="{E55696C8-9EA1-42CE-8D53-842C598E3543}" type="slidenum">
              <a:rPr lang="en-US" altLang="en-US"/>
              <a:t>‹#›</a:t>
            </a:fld>
            <a:endParaRPr lang="en-US" altLang="en-US"/>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pPr>
              <a:defRPr/>
            </a:pPr>
            <a:fld id="{F2B75972-D2A2-41F7-904E-1E64020CAC85}" type="datetime1">
              <a:rPr lang="en-US" smtClean="0"/>
              <a:t>3/20/2021</a:t>
            </a:fld>
            <a:endParaRPr lang="en-US"/>
          </a:p>
        </p:txBody>
      </p:sp>
    </p:spTree>
    <p:extLst>
      <p:ext uri="{BB962C8B-B14F-4D97-AF65-F5344CB8AC3E}">
        <p14:creationId xmlns:p14="http://schemas.microsoft.com/office/powerpoint/2010/main" val="41673803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10681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319622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368195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50091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8053580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869129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924236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7090722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237212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1822093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5440637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134382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034931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3713131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501015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372661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132419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2530784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4309380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7767382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575658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491222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8027817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9647412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6993474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33843227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0533239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247890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027"/>
          <p:cNvSpPr>
            <a:spLocks noGrp="1" noChangeArrowheads="1"/>
          </p:cNvSpPr>
          <p:nvPr>
            <p:ph type="dt" sz="quarter"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EA1B52D8-E828-4B9C-B936-49B86D0B0D57}" type="datetime1">
              <a:rPr lang="en-US" altLang="en-US" sz="1200" smtClean="0"/>
              <a:t>3/20/2021</a:t>
            </a:fld>
            <a:endParaRPr lang="en-US" altLang="en-US" sz="1200"/>
          </a:p>
        </p:txBody>
      </p:sp>
      <p:sp>
        <p:nvSpPr>
          <p:cNvPr id="31747" name="Rectangle 1026"/>
          <p:cNvSpPr>
            <a:spLocks noGrp="1" noRot="1" noChangeAspect="1" noChangeArrowheads="1" noTextEdit="1"/>
          </p:cNvSpPr>
          <p:nvPr>
            <p:ph type="sldImg" idx="4294967295"/>
          </p:nvPr>
        </p:nvSpPr>
        <p:spPr>
          <a:xfrm>
            <a:off x="908050" y="747713"/>
            <a:ext cx="4916488" cy="3687762"/>
          </a:xfrm>
          <a:solidFill>
            <a:srgbClr val="FFFFFF"/>
          </a:solidFill>
        </p:spPr>
      </p:sp>
      <p:sp>
        <p:nvSpPr>
          <p:cNvPr id="31748" name="Rectangle 1027"/>
          <p:cNvSpPr>
            <a:spLocks noGrp="1" noChangeArrowheads="1"/>
          </p:cNvSpPr>
          <p:nvPr>
            <p:ph type="body" idx="4294967295"/>
          </p:nvPr>
        </p:nvSpPr>
        <p:spPr>
          <a:xfrm>
            <a:off x="896938" y="4667250"/>
            <a:ext cx="4938712" cy="4464050"/>
          </a:xfrm>
          <a:solidFill>
            <a:srgbClr val="FFFFFF"/>
          </a:solidFill>
          <a:ln>
            <a:solidFill>
              <a:srgbClr val="000000"/>
            </a:solidFill>
          </a:ln>
        </p:spPr>
        <p:txBody>
          <a:bodyPr/>
          <a:lstStyle/>
          <a:p>
            <a:endParaRPr lang="en-US" altLang="en-US" dirty="0"/>
          </a:p>
        </p:txBody>
      </p:sp>
    </p:spTree>
    <p:extLst>
      <p:ext uri="{BB962C8B-B14F-4D97-AF65-F5344CB8AC3E}">
        <p14:creationId xmlns:p14="http://schemas.microsoft.com/office/powerpoint/2010/main" val="15881048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7.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3.xml"/><Relationship Id="rId4" Type="http://schemas.openxmlformats.org/officeDocument/2006/relationships/image" Target="../media/image6.jpe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3.xml"/><Relationship Id="rId6" Type="http://schemas.openxmlformats.org/officeDocument/2006/relationships/hyperlink" Target="https://www.facebook.com/niit.tech/" TargetMode="External"/><Relationship Id="rId5" Type="http://schemas.openxmlformats.org/officeDocument/2006/relationships/hyperlink" Target="https://www.youtube.com/user/niittechnologiesltd" TargetMode="External"/><Relationship Id="rId4" Type="http://schemas.openxmlformats.org/officeDocument/2006/relationships/hyperlink" Target="https://twitter.com/NIITTech" TargetMode="Externa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Rectangle 3"/>
          <p:cNvSpPr/>
          <p:nvPr userDrawn="1"/>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userDrawn="1"/>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userDrawn="1"/>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Round Single Corner Rectangle 6"/>
          <p:cNvSpPr/>
          <p:nvPr userDrawn="1"/>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userDrawn="1"/>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userDrawn="1"/>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userDrawn="1"/>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userDrawn="1"/>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userDrawn="1"/>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Arc 10"/>
          <p:cNvSpPr>
            <a:spLocks noChangeAspect="1"/>
          </p:cNvSpPr>
          <p:nvPr userDrawn="1"/>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userDrawn="1"/>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userDrawn="1"/>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0450552-B38F-4EEB-B3F7-964F287A877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96243A8C-8571-4B1B-865B-0AE06F5B3A38}"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userDrawn="1"/>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63DD3FC1-8B8F-46A3-B85E-093632260D0B}"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userDrawn="1"/>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9" name="Oval 8"/>
          <p:cNvSpPr/>
          <p:nvPr userDrawn="1"/>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userDrawn="1"/>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userDrawn="1"/>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userDrawn="1"/>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Oval 5"/>
          <p:cNvSpPr/>
          <p:nvPr userDrawn="1"/>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userDrawn="1"/>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userDrawn="1"/>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userDrawn="1"/>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userDrawn="1"/>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userDrawn="1"/>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userDrawn="1"/>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userDrawn="1"/>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userDrawn="1"/>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5" name="Rectangle 4"/>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userDrawn="1"/>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userDrawn="1"/>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userDrawn="1"/>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DCC19A6C-97F2-40B8-B2C9-6A0CE13C5205}"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userDrawn="1"/>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userDrawn="1"/>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userDrawn="1"/>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userDrawn="1"/>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userDrawn="1"/>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userDrawn="1"/>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userDrawn="1"/>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userDrawn="1"/>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userDrawn="1"/>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877252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5" name="Rectangle 4"/>
          <p:cNvSpPr/>
          <p:nvPr/>
        </p:nvSpPr>
        <p:spPr>
          <a:xfrm>
            <a:off x="6829425" y="5365750"/>
            <a:ext cx="2314575" cy="1492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bject 19"/>
          <p:cNvSpPr txBox="1"/>
          <p:nvPr/>
        </p:nvSpPr>
        <p:spPr>
          <a:xfrm>
            <a:off x="6500813" y="6253163"/>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2" name="Title 1"/>
          <p:cNvSpPr>
            <a:spLocks noGrp="1"/>
          </p:cNvSpPr>
          <p:nvPr>
            <p:ph type="title"/>
          </p:nvPr>
        </p:nvSpPr>
        <p:spPr>
          <a:xfrm>
            <a:off x="5343525" y="2943948"/>
            <a:ext cx="3471863" cy="548878"/>
          </a:xfrm>
        </p:spPr>
        <p:txBody>
          <a:bodyPr>
            <a:noAutofit/>
          </a:bodyPr>
          <a:lstStyle>
            <a:lvl1pPr algn="l">
              <a:defRPr sz="3375">
                <a:solidFill>
                  <a:srgbClr val="0056A4"/>
                </a:solidFill>
              </a:defRPr>
            </a:lvl1pPr>
          </a:lstStyle>
          <a:p>
            <a:r>
              <a:rPr lang="en-US"/>
              <a:t>Click to edit Master title style</a:t>
            </a:r>
            <a:endParaRPr lang="en-US" dirty="0"/>
          </a:p>
        </p:txBody>
      </p:sp>
      <p:sp>
        <p:nvSpPr>
          <p:cNvPr id="17" name="Text Placeholder 5"/>
          <p:cNvSpPr>
            <a:spLocks noGrp="1"/>
          </p:cNvSpPr>
          <p:nvPr>
            <p:ph type="body" sz="quarter" idx="16"/>
          </p:nvPr>
        </p:nvSpPr>
        <p:spPr>
          <a:xfrm>
            <a:off x="5396335" y="3892380"/>
            <a:ext cx="3419053" cy="389135"/>
          </a:xfrm>
          <a:prstGeom prst="rect">
            <a:avLst/>
          </a:prstGeom>
        </p:spPr>
        <p:txBody>
          <a:bodyPr lIns="0" tIns="0" rIns="0" bIns="0" anchor="ctr">
            <a:noAutofit/>
          </a:bodyPr>
          <a:lstStyle>
            <a:lvl1pPr marL="0" indent="0" algn="l">
              <a:buFontTx/>
              <a:buNone/>
              <a:defRPr sz="20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414338" y="1371600"/>
            <a:ext cx="7886700" cy="4629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56888"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85963" y="1395057"/>
            <a:ext cx="3900488" cy="43517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ound Single Corner Rectangle 6"/>
          <p:cNvSpPr/>
          <p:nvPr/>
        </p:nvSpPr>
        <p:spPr>
          <a:xfrm>
            <a:off x="350838" y="1600200"/>
            <a:ext cx="2678112" cy="571500"/>
          </a:xfrm>
          <a:prstGeom prst="round1Rect">
            <a:avLst>
              <a:gd name="adj" fmla="val 50000"/>
            </a:avLst>
          </a:prstGeom>
          <a:solidFill>
            <a:srgbClr val="0061A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7" name="Title 1"/>
          <p:cNvSpPr txBox="1"/>
          <p:nvPr/>
        </p:nvSpPr>
        <p:spPr>
          <a:xfrm>
            <a:off x="371475"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8" name="Round Single Corner Rectangle 11"/>
          <p:cNvSpPr/>
          <p:nvPr/>
        </p:nvSpPr>
        <p:spPr>
          <a:xfrm>
            <a:off x="3221038" y="1600200"/>
            <a:ext cx="2679700" cy="571500"/>
          </a:xfrm>
          <a:prstGeom prst="round1Rect">
            <a:avLst>
              <a:gd name="adj" fmla="val 50000"/>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9" name="Title 1"/>
          <p:cNvSpPr txBox="1"/>
          <p:nvPr/>
        </p:nvSpPr>
        <p:spPr>
          <a:xfrm>
            <a:off x="3243263"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10" name="Round Single Corner Rectangle 14"/>
          <p:cNvSpPr/>
          <p:nvPr/>
        </p:nvSpPr>
        <p:spPr>
          <a:xfrm>
            <a:off x="6094413" y="1600200"/>
            <a:ext cx="2678112" cy="571500"/>
          </a:xfrm>
          <a:prstGeom prst="round1Rect">
            <a:avLst>
              <a:gd name="adj" fmla="val 50000"/>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lIns="51435" tIns="25718" rIns="51435" bIns="25718" anchor="ctr"/>
          <a:lstStyle/>
          <a:p>
            <a:pPr algn="ctr">
              <a:defRPr/>
            </a:pPr>
            <a:endParaRPr lang="en-US" sz="1350">
              <a:latin typeface="Arial" panose="020B0604020202020204" pitchFamily="34" charset="0"/>
              <a:cs typeface="Arial" panose="020B0604020202020204" pitchFamily="34" charset="0"/>
            </a:endParaRPr>
          </a:p>
        </p:txBody>
      </p:sp>
      <p:sp>
        <p:nvSpPr>
          <p:cNvPr id="12" name="Title 1"/>
          <p:cNvSpPr txBox="1"/>
          <p:nvPr/>
        </p:nvSpPr>
        <p:spPr>
          <a:xfrm>
            <a:off x="6115050" y="1651000"/>
            <a:ext cx="2571750"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1350" dirty="0"/>
              <a:t>Click to edit Master title style</a:t>
            </a:r>
          </a:p>
        </p:txBody>
      </p:sp>
      <p:sp>
        <p:nvSpPr>
          <p:cNvPr id="2" name="Title 1"/>
          <p:cNvSpPr>
            <a:spLocks noGrp="1"/>
          </p:cNvSpPr>
          <p:nvPr>
            <p:ph type="title"/>
          </p:nvPr>
        </p:nvSpPr>
        <p:spPr/>
        <p:txBody>
          <a:bodyPr/>
          <a:lstStyle/>
          <a:p>
            <a:r>
              <a:rPr lang="en-US"/>
              <a:t>Click to edit Master title style</a:t>
            </a:r>
            <a:endParaRPr lang="en-US" dirty="0"/>
          </a:p>
        </p:txBody>
      </p:sp>
      <p:sp>
        <p:nvSpPr>
          <p:cNvPr id="11" name="Text Placeholder 5"/>
          <p:cNvSpPr>
            <a:spLocks noGrp="1"/>
          </p:cNvSpPr>
          <p:nvPr>
            <p:ph type="body" sz="quarter" idx="14"/>
          </p:nvPr>
        </p:nvSpPr>
        <p:spPr>
          <a:xfrm>
            <a:off x="364331"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5"/>
          <p:cNvSpPr>
            <a:spLocks noGrp="1"/>
          </p:cNvSpPr>
          <p:nvPr>
            <p:ph type="body" sz="quarter" idx="15"/>
          </p:nvPr>
        </p:nvSpPr>
        <p:spPr>
          <a:xfrm>
            <a:off x="3235813"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5"/>
          <p:cNvSpPr>
            <a:spLocks noGrp="1"/>
          </p:cNvSpPr>
          <p:nvPr>
            <p:ph type="body" sz="quarter" idx="16"/>
          </p:nvPr>
        </p:nvSpPr>
        <p:spPr>
          <a:xfrm>
            <a:off x="6107906" y="2245381"/>
            <a:ext cx="2664619" cy="2934464"/>
          </a:xfrm>
          <a:prstGeom prst="rect">
            <a:avLst/>
          </a:prstGeom>
        </p:spPr>
        <p:txBody>
          <a:bodyPr tIns="91440" bIns="91440">
            <a:noAutofit/>
          </a:bodyPr>
          <a:lstStyle>
            <a:lvl1pPr marL="96520" marR="0" indent="-96520" algn="l" defTabSz="342900" rtl="0" eaLnBrk="1" fontAlgn="auto" latinLnBrk="0" hangingPunct="1">
              <a:lnSpc>
                <a:spcPct val="100000"/>
              </a:lnSpc>
              <a:spcBef>
                <a:spcPts val="340"/>
              </a:spcBef>
              <a:spcAft>
                <a:spcPts val="340"/>
              </a:spcAft>
              <a:buClrTx/>
              <a:buSzTx/>
              <a:buFont typeface="Arial" panose="020B0604020202020204" pitchFamily="34" charset="0"/>
              <a:buChar char="•"/>
              <a:tabLst>
                <a:tab pos="95885" algn="l"/>
              </a:tabLst>
              <a:defRPr lang="en-US" sz="1015" b="0" kern="1200" dirty="0">
                <a:solidFill>
                  <a:schemeClr val="tx1"/>
                </a:solidFill>
                <a:latin typeface="Arial" panose="020B0604020202020204" pitchFamily="34" charset="0"/>
                <a:ea typeface="+mn-ea"/>
                <a:cs typeface="Arial" panose="020B0604020202020204" pitchFamily="34" charset="0"/>
              </a:defRPr>
            </a:lvl1pPr>
            <a:lvl2pPr marL="160655" indent="-154305">
              <a:buFont typeface="Wingdings" panose="05000000000000000000" pitchFamily="2" charset="2"/>
              <a:buChar char="§"/>
              <a:tabLst>
                <a:tab pos="160655" algn="l"/>
              </a:tabLst>
              <a:defRPr sz="675"/>
            </a:lvl2pPr>
            <a:lvl3pPr marL="160655" indent="-154305">
              <a:buFont typeface="Wingdings" panose="05000000000000000000" pitchFamily="2" charset="2"/>
              <a:buChar char="§"/>
              <a:tabLst>
                <a:tab pos="160655" algn="l"/>
              </a:tabLst>
              <a:defRPr sz="675"/>
            </a:lvl3pPr>
            <a:lvl4pPr marL="160655" indent="-154305">
              <a:buFont typeface="Wingdings" panose="05000000000000000000" pitchFamily="2" charset="2"/>
              <a:buChar char="§"/>
              <a:tabLst>
                <a:tab pos="160655" algn="l"/>
              </a:tabLst>
              <a:defRPr sz="675"/>
            </a:lvl4pPr>
            <a:lvl5pPr marL="160655" indent="-154305">
              <a:buFont typeface="Wingdings" panose="05000000000000000000" pitchFamily="2" charset="2"/>
              <a:buChar char="§"/>
              <a:tabLst>
                <a:tab pos="160655" algn="l"/>
              </a:tabLst>
              <a:defRPr sz="675"/>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814388"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800100"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800100"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800100"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2" name="Picture Placeholder 6"/>
          <p:cNvSpPr>
            <a:spLocks noGrp="1"/>
          </p:cNvSpPr>
          <p:nvPr>
            <p:ph type="pic" sz="quarter" idx="15"/>
          </p:nvPr>
        </p:nvSpPr>
        <p:spPr>
          <a:xfrm>
            <a:off x="2843213"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23" name="Text Placeholder 5"/>
          <p:cNvSpPr>
            <a:spLocks noGrp="1"/>
          </p:cNvSpPr>
          <p:nvPr>
            <p:ph type="body" sz="quarter" idx="16"/>
          </p:nvPr>
        </p:nvSpPr>
        <p:spPr>
          <a:xfrm>
            <a:off x="2828925"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7"/>
          </p:nvPr>
        </p:nvSpPr>
        <p:spPr>
          <a:xfrm>
            <a:off x="2828925"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5" name="Text Placeholder 5"/>
          <p:cNvSpPr>
            <a:spLocks noGrp="1"/>
          </p:cNvSpPr>
          <p:nvPr>
            <p:ph type="body" sz="quarter" idx="18"/>
          </p:nvPr>
        </p:nvSpPr>
        <p:spPr>
          <a:xfrm>
            <a:off x="2828925"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0" name="Picture Placeholder 6"/>
          <p:cNvSpPr>
            <a:spLocks noGrp="1"/>
          </p:cNvSpPr>
          <p:nvPr>
            <p:ph type="pic" sz="quarter" idx="19"/>
          </p:nvPr>
        </p:nvSpPr>
        <p:spPr>
          <a:xfrm>
            <a:off x="4857750"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1" name="Text Placeholder 5"/>
          <p:cNvSpPr>
            <a:spLocks noGrp="1"/>
          </p:cNvSpPr>
          <p:nvPr>
            <p:ph type="body" sz="quarter" idx="20"/>
          </p:nvPr>
        </p:nvSpPr>
        <p:spPr>
          <a:xfrm>
            <a:off x="4843462"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2" name="Text Placeholder 5"/>
          <p:cNvSpPr>
            <a:spLocks noGrp="1"/>
          </p:cNvSpPr>
          <p:nvPr>
            <p:ph type="body" sz="quarter" idx="21"/>
          </p:nvPr>
        </p:nvSpPr>
        <p:spPr>
          <a:xfrm>
            <a:off x="4843462"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3" name="Text Placeholder 5"/>
          <p:cNvSpPr>
            <a:spLocks noGrp="1"/>
          </p:cNvSpPr>
          <p:nvPr>
            <p:ph type="body" sz="quarter" idx="22"/>
          </p:nvPr>
        </p:nvSpPr>
        <p:spPr>
          <a:xfrm>
            <a:off x="4843462"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4" name="Picture Placeholder 6"/>
          <p:cNvSpPr>
            <a:spLocks noGrp="1"/>
          </p:cNvSpPr>
          <p:nvPr>
            <p:ph type="pic" sz="quarter" idx="23"/>
          </p:nvPr>
        </p:nvSpPr>
        <p:spPr>
          <a:xfrm>
            <a:off x="6886575" y="1485900"/>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35" name="Text Placeholder 5"/>
          <p:cNvSpPr>
            <a:spLocks noGrp="1"/>
          </p:cNvSpPr>
          <p:nvPr>
            <p:ph type="body" sz="quarter" idx="24"/>
          </p:nvPr>
        </p:nvSpPr>
        <p:spPr>
          <a:xfrm>
            <a:off x="6872287" y="3577290"/>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6" name="Text Placeholder 5"/>
          <p:cNvSpPr>
            <a:spLocks noGrp="1"/>
          </p:cNvSpPr>
          <p:nvPr>
            <p:ph type="body" sz="quarter" idx="25"/>
          </p:nvPr>
        </p:nvSpPr>
        <p:spPr>
          <a:xfrm>
            <a:off x="6872287" y="404130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37" name="Text Placeholder 5"/>
          <p:cNvSpPr>
            <a:spLocks noGrp="1"/>
          </p:cNvSpPr>
          <p:nvPr>
            <p:ph type="body" sz="quarter" idx="26"/>
          </p:nvPr>
        </p:nvSpPr>
        <p:spPr>
          <a:xfrm>
            <a:off x="6872287" y="4514850"/>
            <a:ext cx="1585913" cy="1645047"/>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3_Title Only">
    <p:spTree>
      <p:nvGrpSpPr>
        <p:cNvPr id="1" name=""/>
        <p:cNvGrpSpPr/>
        <p:nvPr/>
      </p:nvGrpSpPr>
      <p:grpSpPr>
        <a:xfrm>
          <a:off x="0" y="0"/>
          <a:ext cx="0" cy="0"/>
          <a:chOff x="0" y="0"/>
          <a:chExt cx="0" cy="0"/>
        </a:xfrm>
      </p:grpSpPr>
      <p:sp>
        <p:nvSpPr>
          <p:cNvPr id="11" name="Arc 10"/>
          <p:cNvSpPr>
            <a:spLocks noChangeAspect="1"/>
          </p:cNvSpPr>
          <p:nvPr/>
        </p:nvSpPr>
        <p:spPr>
          <a:xfrm>
            <a:off x="392113" y="2554288"/>
            <a:ext cx="1579562"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2" name="Arc 11"/>
          <p:cNvSpPr>
            <a:spLocks noChangeAspect="1"/>
          </p:cNvSpPr>
          <p:nvPr/>
        </p:nvSpPr>
        <p:spPr>
          <a:xfrm rot="11700000">
            <a:off x="330200"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4" name="Arc 13"/>
          <p:cNvSpPr>
            <a:spLocks noChangeAspect="1"/>
          </p:cNvSpPr>
          <p:nvPr/>
        </p:nvSpPr>
        <p:spPr>
          <a:xfrm>
            <a:off x="4725988" y="2554288"/>
            <a:ext cx="1577975" cy="2105025"/>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4664075" y="2471738"/>
            <a:ext cx="1701800"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2" name="Title 1"/>
          <p:cNvSpPr>
            <a:spLocks noGrp="1"/>
          </p:cNvSpPr>
          <p:nvPr>
            <p:ph type="title"/>
          </p:nvPr>
        </p:nvSpPr>
        <p:spPr/>
        <p:txBody>
          <a:bodyPr/>
          <a:lstStyle/>
          <a:p>
            <a:r>
              <a:rPr lang="en-US"/>
              <a:t>Click to edit Master title style</a:t>
            </a:r>
          </a:p>
        </p:txBody>
      </p:sp>
      <p:sp>
        <p:nvSpPr>
          <p:cNvPr id="6" name="Picture Placeholder 6"/>
          <p:cNvSpPr>
            <a:spLocks noGrp="1"/>
          </p:cNvSpPr>
          <p:nvPr>
            <p:ph type="pic" sz="quarter" idx="13"/>
          </p:nvPr>
        </p:nvSpPr>
        <p:spPr>
          <a:xfrm>
            <a:off x="452643"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
        <p:nvSpPr>
          <p:cNvPr id="5" name="Text Placeholder 5"/>
          <p:cNvSpPr>
            <a:spLocks noGrp="1"/>
          </p:cNvSpPr>
          <p:nvPr>
            <p:ph type="body" sz="quarter" idx="11"/>
          </p:nvPr>
        </p:nvSpPr>
        <p:spPr>
          <a:xfrm>
            <a:off x="2043112"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8" name="Text Placeholder 5"/>
          <p:cNvSpPr>
            <a:spLocks noGrp="1"/>
          </p:cNvSpPr>
          <p:nvPr>
            <p:ph type="body" sz="quarter" idx="12"/>
          </p:nvPr>
        </p:nvSpPr>
        <p:spPr>
          <a:xfrm>
            <a:off x="2043112"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9" name="Text Placeholder 5"/>
          <p:cNvSpPr>
            <a:spLocks noGrp="1"/>
          </p:cNvSpPr>
          <p:nvPr>
            <p:ph type="body" sz="quarter" idx="14"/>
          </p:nvPr>
        </p:nvSpPr>
        <p:spPr>
          <a:xfrm>
            <a:off x="2043112"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Text Placeholder 5"/>
          <p:cNvSpPr>
            <a:spLocks noGrp="1"/>
          </p:cNvSpPr>
          <p:nvPr>
            <p:ph type="body" sz="quarter" idx="16"/>
          </p:nvPr>
        </p:nvSpPr>
        <p:spPr>
          <a:xfrm>
            <a:off x="6457950" y="260574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1" name="Text Placeholder 5"/>
          <p:cNvSpPr>
            <a:spLocks noGrp="1"/>
          </p:cNvSpPr>
          <p:nvPr>
            <p:ph type="body" sz="quarter" idx="17"/>
          </p:nvPr>
        </p:nvSpPr>
        <p:spPr>
          <a:xfrm>
            <a:off x="6457950" y="3069758"/>
            <a:ext cx="1585913" cy="346940"/>
          </a:xfrm>
          <a:prstGeom prst="rect">
            <a:avLst/>
          </a:prstGeom>
        </p:spPr>
        <p:txBody>
          <a:bodyPr lIns="0" tIns="0" rIns="0" bIns="0"/>
          <a:lstStyle>
            <a:lvl1pPr marL="0" indent="0">
              <a:buFontTx/>
              <a:buNone/>
              <a:defRPr sz="1125" b="1">
                <a:solidFill>
                  <a:srgbClr val="F68B1F"/>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6" name="Text Placeholder 5"/>
          <p:cNvSpPr>
            <a:spLocks noGrp="1"/>
          </p:cNvSpPr>
          <p:nvPr>
            <p:ph type="body" sz="quarter" idx="18"/>
          </p:nvPr>
        </p:nvSpPr>
        <p:spPr>
          <a:xfrm>
            <a:off x="6457950" y="3543300"/>
            <a:ext cx="2328863" cy="85725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6"/>
          <p:cNvSpPr>
            <a:spLocks noGrp="1"/>
          </p:cNvSpPr>
          <p:nvPr>
            <p:ph type="pic" sz="quarter" idx="19"/>
          </p:nvPr>
        </p:nvSpPr>
        <p:spPr>
          <a:xfrm>
            <a:off x="4786314" y="2634974"/>
            <a:ext cx="1457325" cy="1943100"/>
          </a:xfrm>
          <a:prstGeom prst="ellipse">
            <a:avLst/>
          </a:prstGeom>
          <a:solidFill>
            <a:schemeClr val="accent5">
              <a:lumMod val="40000"/>
              <a:lumOff val="60000"/>
            </a:schemeClr>
          </a:solidFill>
        </p:spPr>
        <p:txBody>
          <a:bodyPr rtlCol="0">
            <a:normAutofit/>
          </a:bodyPr>
          <a:lstStyle>
            <a:lvl1pPr marL="0" marR="0" indent="0" algn="ctr" defTabSz="450850" rtl="0" eaLnBrk="1" fontAlgn="auto" latinLnBrk="0" hangingPunct="1">
              <a:lnSpc>
                <a:spcPct val="160000"/>
              </a:lnSpc>
              <a:spcBef>
                <a:spcPts val="0"/>
              </a:spcBef>
              <a:spcAft>
                <a:spcPts val="0"/>
              </a:spcAft>
              <a:buClrTx/>
              <a:buSzTx/>
              <a:buFont typeface="Arial" panose="020B0604020202020204" pitchFamily="34" charset="0"/>
              <a:buNone/>
              <a:defRPr sz="675"/>
            </a:lvl1pPr>
          </a:lstStyle>
          <a:p>
            <a:pPr lvl="0"/>
            <a:r>
              <a:rPr lang="en-US" altLang="ja-JP" noProof="0"/>
              <a:t>Click icon to add picture</a:t>
            </a:r>
            <a:endParaRPr lang="ja-JP" altLang="en-US" noProof="0"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A7F73BAD-4833-495F-BA9D-4827F5D68C97}"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0DDC219-6C7D-4E08-BDF2-79E6087E5D71}"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10032998" y="1581147"/>
              <a:ext cx="220000" cy="21266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1"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Contents">
    <p:spTree>
      <p:nvGrpSpPr>
        <p:cNvPr id="1" name=""/>
        <p:cNvGrpSpPr/>
        <p:nvPr/>
      </p:nvGrpSpPr>
      <p:grpSpPr>
        <a:xfrm>
          <a:off x="0" y="0"/>
          <a:ext cx="0" cy="0"/>
          <a:chOff x="0" y="0"/>
          <a:chExt cx="0" cy="0"/>
        </a:xfrm>
      </p:grpSpPr>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0" y="0"/>
            <a:ext cx="1381125" cy="15525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6" name="Oval 5"/>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3907E527-3BD8-493F-873D-FCC367DC724E}"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8" name="Group 13"/>
          <p:cNvGrpSpPr/>
          <p:nvPr/>
        </p:nvGrpSpPr>
        <p:grpSpPr bwMode="auto">
          <a:xfrm>
            <a:off x="5686425" y="1028700"/>
            <a:ext cx="3459163" cy="3814763"/>
            <a:chOff x="10032998" y="1581147"/>
            <a:chExt cx="6225676" cy="5010153"/>
          </a:xfrm>
        </p:grpSpPr>
        <p:pic>
          <p:nvPicPr>
            <p:cNvPr id="9" name="Graphic 14"/>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110141" y="1660375"/>
              <a:ext cx="6148533" cy="493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Oval 9"/>
            <p:cNvSpPr>
              <a:spLocks noChangeAspect="1"/>
            </p:cNvSpPr>
            <p:nvPr userDrawn="1"/>
          </p:nvSpPr>
          <p:spPr>
            <a:xfrm>
              <a:off x="10032998" y="1581147"/>
              <a:ext cx="220000" cy="212666"/>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dirty="0"/>
            </a:p>
          </p:txBody>
        </p:sp>
      </p:grpSp>
      <p:pic>
        <p:nvPicPr>
          <p:cNvPr id="13" name="Picture 1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0" y="573405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362138" y="457200"/>
            <a:ext cx="5109397" cy="548878"/>
          </a:xfrm>
        </p:spPr>
        <p:txBody>
          <a:bodyPr/>
          <a:lstStyle>
            <a:lvl1pPr>
              <a:defRPr>
                <a:solidFill>
                  <a:srgbClr val="0056A4"/>
                </a:solidFill>
              </a:defRPr>
            </a:lvl1pPr>
          </a:lstStyle>
          <a:p>
            <a:r>
              <a:rPr lang="en-US"/>
              <a:t>Click to edit Master title style</a:t>
            </a:r>
            <a:endParaRPr lang="en-US" dirty="0"/>
          </a:p>
        </p:txBody>
      </p:sp>
      <p:sp>
        <p:nvSpPr>
          <p:cNvPr id="12" name="Text Placeholder 5"/>
          <p:cNvSpPr>
            <a:spLocks noGrp="1"/>
          </p:cNvSpPr>
          <p:nvPr>
            <p:ph type="body" sz="quarter" idx="15"/>
          </p:nvPr>
        </p:nvSpPr>
        <p:spPr>
          <a:xfrm>
            <a:off x="405000" y="1371600"/>
            <a:ext cx="506711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9" name="Oval 8"/>
          <p:cNvSpPr/>
          <p:nvPr/>
        </p:nvSpPr>
        <p:spPr>
          <a:xfrm>
            <a:off x="457200" y="2114550"/>
            <a:ext cx="814388" cy="108585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Oval 9"/>
          <p:cNvSpPr/>
          <p:nvPr/>
        </p:nvSpPr>
        <p:spPr>
          <a:xfrm>
            <a:off x="3249613" y="2114550"/>
            <a:ext cx="814387" cy="108585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1" name="Oval 10"/>
          <p:cNvSpPr/>
          <p:nvPr/>
        </p:nvSpPr>
        <p:spPr>
          <a:xfrm>
            <a:off x="5994400" y="2114550"/>
            <a:ext cx="814388" cy="1085850"/>
          </a:xfrm>
          <a:prstGeom prst="ellipse">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12" name="Picture 1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2501900"/>
            <a:ext cx="47307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63925" y="2465388"/>
            <a:ext cx="41433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0" name="Group 19"/>
          <p:cNvGrpSpPr/>
          <p:nvPr/>
        </p:nvGrpSpPr>
        <p:grpSpPr bwMode="auto">
          <a:xfrm>
            <a:off x="733425" y="2365375"/>
            <a:ext cx="279400" cy="615950"/>
            <a:chOff x="6531329" y="2691707"/>
            <a:chExt cx="444716" cy="733318"/>
          </a:xfrm>
        </p:grpSpPr>
        <p:sp>
          <p:nvSpPr>
            <p:cNvPr id="21" name="Freeform 95"/>
            <p:cNvSpPr/>
            <p:nvPr/>
          </p:nvSpPr>
          <p:spPr bwMode="auto">
            <a:xfrm>
              <a:off x="6652002" y="3283678"/>
              <a:ext cx="203371" cy="52742"/>
            </a:xfrm>
            <a:custGeom>
              <a:avLst/>
              <a:gdLst>
                <a:gd name="T0" fmla="*/ 175909934 w 204"/>
                <a:gd name="T1" fmla="*/ 0 h 53"/>
                <a:gd name="T2" fmla="*/ 25840080 w 204"/>
                <a:gd name="T3" fmla="*/ 0 h 53"/>
                <a:gd name="T4" fmla="*/ 0 w 204"/>
                <a:gd name="T5" fmla="*/ 25747052 h 53"/>
                <a:gd name="T6" fmla="*/ 25840080 w 204"/>
                <a:gd name="T7" fmla="*/ 52485256 h 53"/>
                <a:gd name="T8" fmla="*/ 175909934 w 204"/>
                <a:gd name="T9" fmla="*/ 52485256 h 53"/>
                <a:gd name="T10" fmla="*/ 202743939 w 204"/>
                <a:gd name="T11" fmla="*/ 25747052 h 53"/>
                <a:gd name="T12" fmla="*/ 175909934 w 204"/>
                <a:gd name="T13" fmla="*/ 0 h 5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3">
                  <a:moveTo>
                    <a:pt x="177" y="0"/>
                  </a:moveTo>
                  <a:cubicBezTo>
                    <a:pt x="26" y="0"/>
                    <a:pt x="26" y="0"/>
                    <a:pt x="26" y="0"/>
                  </a:cubicBezTo>
                  <a:cubicBezTo>
                    <a:pt x="12" y="0"/>
                    <a:pt x="0" y="12"/>
                    <a:pt x="0" y="26"/>
                  </a:cubicBezTo>
                  <a:cubicBezTo>
                    <a:pt x="0" y="41"/>
                    <a:pt x="12" y="53"/>
                    <a:pt x="26" y="53"/>
                  </a:cubicBezTo>
                  <a:cubicBezTo>
                    <a:pt x="177" y="53"/>
                    <a:pt x="177" y="53"/>
                    <a:pt x="177" y="53"/>
                  </a:cubicBezTo>
                  <a:cubicBezTo>
                    <a:pt x="192" y="53"/>
                    <a:pt x="204" y="41"/>
                    <a:pt x="204" y="26"/>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2" name="Freeform 96"/>
            <p:cNvSpPr/>
            <p:nvPr/>
          </p:nvSpPr>
          <p:spPr bwMode="auto">
            <a:xfrm>
              <a:off x="6652002" y="3336419"/>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3" name="Freeform 97"/>
            <p:cNvSpPr/>
            <p:nvPr/>
          </p:nvSpPr>
          <p:spPr bwMode="auto">
            <a:xfrm>
              <a:off x="6687866" y="3390427"/>
              <a:ext cx="131643" cy="34598"/>
            </a:xfrm>
            <a:custGeom>
              <a:avLst/>
              <a:gdLst>
                <a:gd name="T0" fmla="*/ 0 w 132"/>
                <a:gd name="T1" fmla="*/ 0 h 35"/>
                <a:gd name="T2" fmla="*/ 65643981 w 132"/>
                <a:gd name="T3" fmla="*/ 34200617 h 35"/>
                <a:gd name="T4" fmla="*/ 131286966 w 132"/>
                <a:gd name="T5" fmla="*/ 0 h 35"/>
                <a:gd name="T6" fmla="*/ 0 60000 65536"/>
                <a:gd name="T7" fmla="*/ 0 60000 65536"/>
                <a:gd name="T8" fmla="*/ 0 60000 65536"/>
              </a:gdLst>
              <a:ahLst/>
              <a:cxnLst>
                <a:cxn ang="T6">
                  <a:pos x="T0" y="T1"/>
                </a:cxn>
                <a:cxn ang="T7">
                  <a:pos x="T2" y="T3"/>
                </a:cxn>
                <a:cxn ang="T8">
                  <a:pos x="T4" y="T5"/>
                </a:cxn>
              </a:cxnLst>
              <a:rect l="0" t="0" r="r" b="b"/>
              <a:pathLst>
                <a:path w="132" h="35">
                  <a:moveTo>
                    <a:pt x="0" y="0"/>
                  </a:moveTo>
                  <a:cubicBezTo>
                    <a:pt x="0" y="19"/>
                    <a:pt x="29" y="35"/>
                    <a:pt x="66" y="35"/>
                  </a:cubicBezTo>
                  <a:cubicBezTo>
                    <a:pt x="102" y="35"/>
                    <a:pt x="132" y="19"/>
                    <a:pt x="132" y="0"/>
                  </a:cubicBezTo>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4" name="Freeform 98"/>
            <p:cNvSpPr/>
            <p:nvPr/>
          </p:nvSpPr>
          <p:spPr bwMode="auto">
            <a:xfrm>
              <a:off x="6531329" y="2691707"/>
              <a:ext cx="444716" cy="537964"/>
            </a:xfrm>
            <a:custGeom>
              <a:avLst/>
              <a:gdLst>
                <a:gd name="T0" fmla="*/ 221717848 w 446"/>
                <a:gd name="T1" fmla="*/ 0 h 540"/>
                <a:gd name="T2" fmla="*/ 0 w 446"/>
                <a:gd name="T3" fmla="*/ 221321378 h 540"/>
                <a:gd name="T4" fmla="*/ 61644019 w 446"/>
                <a:gd name="T5" fmla="*/ 376147417 h 540"/>
                <a:gd name="T6" fmla="*/ 93459161 w 446"/>
                <a:gd name="T7" fmla="*/ 436688292 h 540"/>
                <a:gd name="T8" fmla="*/ 93459161 w 446"/>
                <a:gd name="T9" fmla="*/ 480357022 h 540"/>
                <a:gd name="T10" fmla="*/ 149137405 w 446"/>
                <a:gd name="T11" fmla="*/ 535935676 h 540"/>
                <a:gd name="T12" fmla="*/ 294298291 w 446"/>
                <a:gd name="T13" fmla="*/ 535935676 h 540"/>
                <a:gd name="T14" fmla="*/ 349976535 w 446"/>
                <a:gd name="T15" fmla="*/ 480357022 h 540"/>
                <a:gd name="T16" fmla="*/ 349976535 w 446"/>
                <a:gd name="T17" fmla="*/ 436688292 h 540"/>
                <a:gd name="T18" fmla="*/ 380797548 w 446"/>
                <a:gd name="T19" fmla="*/ 376147417 h 540"/>
                <a:gd name="T20" fmla="*/ 443435697 w 446"/>
                <a:gd name="T21" fmla="*/ 221321378 h 540"/>
                <a:gd name="T22" fmla="*/ 221717848 w 446"/>
                <a:gd name="T23" fmla="*/ 0 h 54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46" h="540">
                  <a:moveTo>
                    <a:pt x="223" y="0"/>
                  </a:moveTo>
                  <a:cubicBezTo>
                    <a:pt x="99" y="0"/>
                    <a:pt x="0" y="100"/>
                    <a:pt x="0" y="223"/>
                  </a:cubicBezTo>
                  <a:cubicBezTo>
                    <a:pt x="0" y="284"/>
                    <a:pt x="22" y="339"/>
                    <a:pt x="62" y="379"/>
                  </a:cubicBezTo>
                  <a:cubicBezTo>
                    <a:pt x="83" y="399"/>
                    <a:pt x="94" y="415"/>
                    <a:pt x="94" y="440"/>
                  </a:cubicBezTo>
                  <a:cubicBezTo>
                    <a:pt x="94" y="466"/>
                    <a:pt x="94" y="484"/>
                    <a:pt x="94" y="484"/>
                  </a:cubicBezTo>
                  <a:cubicBezTo>
                    <a:pt x="94" y="515"/>
                    <a:pt x="119" y="540"/>
                    <a:pt x="150" y="540"/>
                  </a:cubicBezTo>
                  <a:cubicBezTo>
                    <a:pt x="296" y="540"/>
                    <a:pt x="296" y="540"/>
                    <a:pt x="296" y="540"/>
                  </a:cubicBezTo>
                  <a:cubicBezTo>
                    <a:pt x="327" y="540"/>
                    <a:pt x="352" y="515"/>
                    <a:pt x="352" y="484"/>
                  </a:cubicBezTo>
                  <a:cubicBezTo>
                    <a:pt x="352" y="484"/>
                    <a:pt x="352" y="466"/>
                    <a:pt x="352" y="440"/>
                  </a:cubicBezTo>
                  <a:cubicBezTo>
                    <a:pt x="352" y="415"/>
                    <a:pt x="362" y="399"/>
                    <a:pt x="383" y="379"/>
                  </a:cubicBezTo>
                  <a:cubicBezTo>
                    <a:pt x="423" y="339"/>
                    <a:pt x="446" y="284"/>
                    <a:pt x="446" y="223"/>
                  </a:cubicBezTo>
                  <a:cubicBezTo>
                    <a:pt x="446" y="100"/>
                    <a:pt x="347" y="0"/>
                    <a:pt x="223"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sp>
          <p:nvSpPr>
            <p:cNvPr id="25" name="Freeform 99"/>
            <p:cNvSpPr/>
            <p:nvPr/>
          </p:nvSpPr>
          <p:spPr bwMode="auto">
            <a:xfrm>
              <a:off x="6652002" y="3229670"/>
              <a:ext cx="203371" cy="54007"/>
            </a:xfrm>
            <a:custGeom>
              <a:avLst/>
              <a:gdLst>
                <a:gd name="T0" fmla="*/ 175909934 w 204"/>
                <a:gd name="T1" fmla="*/ 0 h 54"/>
                <a:gd name="T2" fmla="*/ 25840080 w 204"/>
                <a:gd name="T3" fmla="*/ 0 h 54"/>
                <a:gd name="T4" fmla="*/ 0 w 204"/>
                <a:gd name="T5" fmla="*/ 27007501 h 54"/>
                <a:gd name="T6" fmla="*/ 25840080 w 204"/>
                <a:gd name="T7" fmla="*/ 54014001 h 54"/>
                <a:gd name="T8" fmla="*/ 175909934 w 204"/>
                <a:gd name="T9" fmla="*/ 54014001 h 54"/>
                <a:gd name="T10" fmla="*/ 202743939 w 204"/>
                <a:gd name="T11" fmla="*/ 27007501 h 54"/>
                <a:gd name="T12" fmla="*/ 175909934 w 204"/>
                <a:gd name="T13" fmla="*/ 0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04" h="54">
                  <a:moveTo>
                    <a:pt x="177" y="0"/>
                  </a:moveTo>
                  <a:cubicBezTo>
                    <a:pt x="26" y="0"/>
                    <a:pt x="26" y="0"/>
                    <a:pt x="26" y="0"/>
                  </a:cubicBezTo>
                  <a:cubicBezTo>
                    <a:pt x="12" y="0"/>
                    <a:pt x="0" y="12"/>
                    <a:pt x="0" y="27"/>
                  </a:cubicBezTo>
                  <a:cubicBezTo>
                    <a:pt x="0" y="42"/>
                    <a:pt x="12" y="54"/>
                    <a:pt x="26" y="54"/>
                  </a:cubicBezTo>
                  <a:cubicBezTo>
                    <a:pt x="177" y="54"/>
                    <a:pt x="177" y="54"/>
                    <a:pt x="177" y="54"/>
                  </a:cubicBezTo>
                  <a:cubicBezTo>
                    <a:pt x="192" y="54"/>
                    <a:pt x="204" y="42"/>
                    <a:pt x="204" y="27"/>
                  </a:cubicBezTo>
                  <a:cubicBezTo>
                    <a:pt x="204" y="12"/>
                    <a:pt x="192" y="0"/>
                    <a:pt x="177" y="0"/>
                  </a:cubicBezTo>
                  <a:close/>
                </a:path>
              </a:pathLst>
            </a:custGeom>
            <a:noFill/>
            <a:ln w="19050" cap="rnd">
              <a:solidFill>
                <a:srgbClr val="FFFFFF"/>
              </a:solidFill>
              <a:prstDash val="solid"/>
              <a:round/>
            </a:ln>
            <a:extLst>
              <a:ext uri="{909E8E84-426E-40DD-AFC4-6F175D3DCCD1}">
                <a14:hiddenFill xmlns:a14="http://schemas.microsoft.com/office/drawing/2010/main">
                  <a:solidFill>
                    <a:srgbClr val="FFFFFF"/>
                  </a:solidFill>
                </a14:hiddenFill>
              </a:ext>
            </a:extLst>
          </p:spPr>
          <p:txBody>
            <a:bodyPr lIns="121920" tIns="60960" rIns="121920" bIns="60960"/>
            <a:lstStyle/>
            <a:p>
              <a:endParaRPr lang="de-DE"/>
            </a:p>
          </p:txBody>
        </p:sp>
      </p:grpSp>
      <p:sp>
        <p:nvSpPr>
          <p:cNvPr id="5" name="Title 1"/>
          <p:cNvSpPr>
            <a:spLocks noGrp="1"/>
          </p:cNvSpPr>
          <p:nvPr>
            <p:ph type="title"/>
          </p:nvPr>
        </p:nvSpPr>
        <p:spPr>
          <a:xfrm>
            <a:off x="1228725" y="400050"/>
            <a:ext cx="7372350" cy="548878"/>
          </a:xfrm>
        </p:spPr>
        <p:txBody>
          <a:bodyPr/>
          <a:lstStyle/>
          <a:p>
            <a:r>
              <a:rPr lang="en-US"/>
              <a:t>Click to edit Master title style</a:t>
            </a:r>
            <a:endParaRPr lang="en-US" dirty="0"/>
          </a:p>
        </p:txBody>
      </p:sp>
      <p:sp>
        <p:nvSpPr>
          <p:cNvPr id="14" name="Text Placeholder 5"/>
          <p:cNvSpPr>
            <a:spLocks noGrp="1"/>
          </p:cNvSpPr>
          <p:nvPr>
            <p:ph type="body" sz="quarter" idx="11"/>
          </p:nvPr>
        </p:nvSpPr>
        <p:spPr>
          <a:xfrm>
            <a:off x="1357312"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5" name="Text Placeholder 5"/>
          <p:cNvSpPr>
            <a:spLocks noGrp="1"/>
          </p:cNvSpPr>
          <p:nvPr>
            <p:ph type="body" sz="quarter" idx="14"/>
          </p:nvPr>
        </p:nvSpPr>
        <p:spPr>
          <a:xfrm>
            <a:off x="1357313"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Text Placeholder 5"/>
          <p:cNvSpPr>
            <a:spLocks noGrp="1"/>
          </p:cNvSpPr>
          <p:nvPr>
            <p:ph type="body" sz="quarter" idx="15"/>
          </p:nvPr>
        </p:nvSpPr>
        <p:spPr>
          <a:xfrm>
            <a:off x="4155559"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7" name="Text Placeholder 5"/>
          <p:cNvSpPr>
            <a:spLocks noGrp="1"/>
          </p:cNvSpPr>
          <p:nvPr>
            <p:ph type="body" sz="quarter" idx="16"/>
          </p:nvPr>
        </p:nvSpPr>
        <p:spPr>
          <a:xfrm>
            <a:off x="4155559"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Text Placeholder 5"/>
          <p:cNvSpPr>
            <a:spLocks noGrp="1"/>
          </p:cNvSpPr>
          <p:nvPr>
            <p:ph type="body" sz="quarter" idx="17"/>
          </p:nvPr>
        </p:nvSpPr>
        <p:spPr>
          <a:xfrm>
            <a:off x="6886575" y="2133601"/>
            <a:ext cx="1585913" cy="389135"/>
          </a:xfrm>
          <a:prstGeom prst="rect">
            <a:avLst/>
          </a:prstGeom>
        </p:spPr>
        <p:txBody>
          <a:bodyPr lIns="0" tIns="0" rIns="0" bIns="0"/>
          <a:lstStyle>
            <a:lvl1pPr marL="0" indent="0">
              <a:buFontTx/>
              <a:buNone/>
              <a:defRPr sz="1350" b="1">
                <a:solidFill>
                  <a:srgbClr val="0056A4"/>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19" name="Text Placeholder 5"/>
          <p:cNvSpPr>
            <a:spLocks noGrp="1"/>
          </p:cNvSpPr>
          <p:nvPr>
            <p:ph type="body" sz="quarter" idx="18"/>
          </p:nvPr>
        </p:nvSpPr>
        <p:spPr>
          <a:xfrm>
            <a:off x="6886575" y="2613960"/>
            <a:ext cx="1714500" cy="2243790"/>
          </a:xfrm>
          <a:prstGeom prst="rect">
            <a:avLst/>
          </a:prstGeom>
        </p:spPr>
        <p:txBody>
          <a:bodyPr lIns="0" tIns="0" rIns="0" bIns="0"/>
          <a:lstStyle>
            <a:lvl1pPr marL="128905" marR="0" indent="-128905" algn="l" defTabSz="514350" rtl="0" eaLnBrk="1" fontAlgn="auto" latinLnBrk="0" hangingPunct="1">
              <a:lnSpc>
                <a:spcPct val="100000"/>
              </a:lnSpc>
              <a:spcBef>
                <a:spcPts val="565"/>
              </a:spcBef>
              <a:spcAft>
                <a:spcPts val="0"/>
              </a:spcAft>
              <a:buClrTx/>
              <a:buSzTx/>
              <a:buFont typeface="Arial" panose="020B0604020202020204" pitchFamily="34" charset="0"/>
              <a:buChar char="•"/>
              <a:defRPr sz="900"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2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2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2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6" name="Oval 5"/>
          <p:cNvSpPr/>
          <p:nvPr/>
        </p:nvSpPr>
        <p:spPr>
          <a:xfrm>
            <a:off x="3784600" y="2132013"/>
            <a:ext cx="1628775" cy="2171700"/>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7" name="Arc 6"/>
          <p:cNvSpPr>
            <a:spLocks noChangeAspect="1"/>
          </p:cNvSpPr>
          <p:nvPr/>
        </p:nvSpPr>
        <p:spPr>
          <a:xfrm>
            <a:off x="3706813" y="2030413"/>
            <a:ext cx="1782762" cy="237648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8" name="Arc 7"/>
          <p:cNvSpPr>
            <a:spLocks noChangeAspect="1"/>
          </p:cNvSpPr>
          <p:nvPr/>
        </p:nvSpPr>
        <p:spPr>
          <a:xfrm rot="11700000">
            <a:off x="3748088" y="2084388"/>
            <a:ext cx="1700212" cy="2268537"/>
          </a:xfrm>
          <a:prstGeom prst="arc">
            <a:avLst>
              <a:gd name="adj1" fmla="val 14511769"/>
              <a:gd name="adj2" fmla="val 10954347"/>
            </a:avLst>
          </a:prstGeom>
          <a:ln w="22225">
            <a:solidFill>
              <a:srgbClr val="F68B1F"/>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9" name="Oval 8"/>
          <p:cNvSpPr/>
          <p:nvPr/>
        </p:nvSpPr>
        <p:spPr>
          <a:xfrm>
            <a:off x="1463675" y="2132013"/>
            <a:ext cx="1628775" cy="2171700"/>
          </a:xfrm>
          <a:prstGeom prst="ellipse">
            <a:avLst/>
          </a:prstGeom>
          <a:solidFill>
            <a:srgbClr val="0056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0" name="Arc 9"/>
          <p:cNvSpPr>
            <a:spLocks noChangeAspect="1"/>
          </p:cNvSpPr>
          <p:nvPr/>
        </p:nvSpPr>
        <p:spPr>
          <a:xfrm>
            <a:off x="1385888" y="2030413"/>
            <a:ext cx="1782762" cy="237648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1" name="Arc 10"/>
          <p:cNvSpPr>
            <a:spLocks noChangeAspect="1"/>
          </p:cNvSpPr>
          <p:nvPr/>
        </p:nvSpPr>
        <p:spPr>
          <a:xfrm rot="11700000">
            <a:off x="1427163" y="2084388"/>
            <a:ext cx="1700212" cy="2268537"/>
          </a:xfrm>
          <a:prstGeom prst="arc">
            <a:avLst>
              <a:gd name="adj1" fmla="val 14511769"/>
              <a:gd name="adj2" fmla="val 10954347"/>
            </a:avLst>
          </a:prstGeom>
          <a:ln w="22225">
            <a:solidFill>
              <a:srgbClr val="0056A4"/>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3" name="Oval 12"/>
          <p:cNvSpPr/>
          <p:nvPr/>
        </p:nvSpPr>
        <p:spPr>
          <a:xfrm>
            <a:off x="6115050" y="2132013"/>
            <a:ext cx="1628775" cy="21717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4" name="Arc 13"/>
          <p:cNvSpPr>
            <a:spLocks noChangeAspect="1"/>
          </p:cNvSpPr>
          <p:nvPr/>
        </p:nvSpPr>
        <p:spPr>
          <a:xfrm>
            <a:off x="6037263" y="2030413"/>
            <a:ext cx="1782762" cy="237648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dirty="0"/>
          </a:p>
        </p:txBody>
      </p:sp>
      <p:sp>
        <p:nvSpPr>
          <p:cNvPr id="15" name="Arc 14"/>
          <p:cNvSpPr>
            <a:spLocks noChangeAspect="1"/>
          </p:cNvSpPr>
          <p:nvPr/>
        </p:nvSpPr>
        <p:spPr>
          <a:xfrm rot="11700000">
            <a:off x="6078538" y="2084388"/>
            <a:ext cx="1700212" cy="2268537"/>
          </a:xfrm>
          <a:prstGeom prst="arc">
            <a:avLst>
              <a:gd name="adj1" fmla="val 14511769"/>
              <a:gd name="adj2" fmla="val 10954347"/>
            </a:avLst>
          </a:prstGeom>
          <a:ln w="22225">
            <a:solidFill>
              <a:schemeClr val="tx1">
                <a:lumMod val="85000"/>
                <a:lumOff val="15000"/>
              </a:schemeClr>
            </a:solidFill>
            <a:tailEnd type="ova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IN" sz="1350"/>
          </a:p>
        </p:txBody>
      </p:sp>
      <p:sp>
        <p:nvSpPr>
          <p:cNvPr id="12" name="Title 1"/>
          <p:cNvSpPr>
            <a:spLocks noGrp="1"/>
          </p:cNvSpPr>
          <p:nvPr>
            <p:ph type="title"/>
          </p:nvPr>
        </p:nvSpPr>
        <p:spPr>
          <a:xfrm>
            <a:off x="1228725" y="400050"/>
            <a:ext cx="7458075" cy="548878"/>
          </a:xfrm>
        </p:spPr>
        <p:txBody>
          <a:bodyPr/>
          <a:lstStyle/>
          <a:p>
            <a:r>
              <a:rPr lang="en-US"/>
              <a:t>Click to edit Master title style</a:t>
            </a:r>
            <a:endParaRPr lang="en-US" dirty="0"/>
          </a:p>
        </p:txBody>
      </p:sp>
      <p:sp>
        <p:nvSpPr>
          <p:cNvPr id="16" name="Text Placeholder 5"/>
          <p:cNvSpPr>
            <a:spLocks noGrp="1"/>
          </p:cNvSpPr>
          <p:nvPr>
            <p:ph type="body" sz="quarter" idx="12"/>
          </p:nvPr>
        </p:nvSpPr>
        <p:spPr>
          <a:xfrm>
            <a:off x="3757613"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0" name="Text Placeholder 5"/>
          <p:cNvSpPr>
            <a:spLocks noGrp="1"/>
          </p:cNvSpPr>
          <p:nvPr>
            <p:ph type="body" sz="quarter" idx="14"/>
          </p:nvPr>
        </p:nvSpPr>
        <p:spPr>
          <a:xfrm>
            <a:off x="143674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4" name="Text Placeholder 5"/>
          <p:cNvSpPr>
            <a:spLocks noGrp="1"/>
          </p:cNvSpPr>
          <p:nvPr>
            <p:ph type="body" sz="quarter" idx="15"/>
          </p:nvPr>
        </p:nvSpPr>
        <p:spPr>
          <a:xfrm>
            <a:off x="6087952" y="2926564"/>
            <a:ext cx="1628775" cy="547672"/>
          </a:xfrm>
          <a:prstGeom prst="rect">
            <a:avLst/>
          </a:prstGeom>
        </p:spPr>
        <p:txBody>
          <a:bodyPr lIns="0" tIns="0" rIns="0" bIns="0" anchor="ctr"/>
          <a:lstStyle>
            <a:lvl1pPr marL="0" indent="0" algn="ctr">
              <a:buFontTx/>
              <a:buNone/>
              <a:defRPr sz="1125" b="1">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Blank">
    <p:spTree>
      <p:nvGrpSpPr>
        <p:cNvPr id="1" name=""/>
        <p:cNvGrpSpPr/>
        <p:nvPr/>
      </p:nvGrpSpPr>
      <p:grpSpPr>
        <a:xfrm>
          <a:off x="0" y="0"/>
          <a:ext cx="0" cy="0"/>
          <a:chOff x="0" y="0"/>
          <a:chExt cx="0" cy="0"/>
        </a:xfrm>
      </p:grpSpPr>
      <p:sp>
        <p:nvSpPr>
          <p:cNvPr id="5" name="Rectangle 4"/>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pic>
        <p:nvPicPr>
          <p:cNvPr id="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85153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object 19"/>
          <p:cNvSpPr txBox="1"/>
          <p:nvPr/>
        </p:nvSpPr>
        <p:spPr>
          <a:xfrm>
            <a:off x="404813" y="642461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sp>
        <p:nvSpPr>
          <p:cNvPr id="8" name="Oval 7"/>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9"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EB014F5B-34A7-4DA4-BCA0-585CF1CE164D}" type="slidenum">
              <a:rPr lang="en-GB" sz="790" smtClean="0">
                <a:solidFill>
                  <a:schemeClr val="bg1">
                    <a:lumMod val="50000"/>
                  </a:schemeClr>
                </a:solidFill>
              </a:rPr>
              <a:t>‹#›</a:t>
            </a:fld>
            <a:endParaRPr lang="en-GB" sz="790" dirty="0">
              <a:solidFill>
                <a:schemeClr val="bg1">
                  <a:lumMod val="50000"/>
                </a:schemeClr>
              </a:solidFill>
            </a:endParaRPr>
          </a:p>
        </p:txBody>
      </p:sp>
      <p:grpSp>
        <p:nvGrpSpPr>
          <p:cNvPr id="10" name="Group 14"/>
          <p:cNvGrpSpPr/>
          <p:nvPr/>
        </p:nvGrpSpPr>
        <p:grpSpPr bwMode="auto">
          <a:xfrm>
            <a:off x="4443413" y="725488"/>
            <a:ext cx="717550" cy="6132512"/>
            <a:chOff x="8146768" y="966535"/>
            <a:chExt cx="1276632" cy="8177465"/>
          </a:xfrm>
        </p:grpSpPr>
        <p:pic>
          <p:nvPicPr>
            <p:cNvPr id="11" name="Graphic 15"/>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8146768" y="989820"/>
              <a:ext cx="1276632" cy="8154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Oval 11"/>
            <p:cNvSpPr>
              <a:spLocks noChangeAspect="1"/>
            </p:cNvSpPr>
            <p:nvPr userDrawn="1"/>
          </p:nvSpPr>
          <p:spPr>
            <a:xfrm>
              <a:off x="8629741" y="966535"/>
              <a:ext cx="217480" cy="215921"/>
            </a:xfrm>
            <a:prstGeom prst="ellipse">
              <a:avLst/>
            </a:prstGeom>
            <a:solidFill>
              <a:srgbClr val="F68B1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sz="1350"/>
            </a:p>
          </p:txBody>
        </p:sp>
      </p:grpSp>
      <p:sp>
        <p:nvSpPr>
          <p:cNvPr id="20" name="Title 1"/>
          <p:cNvSpPr>
            <a:spLocks noGrp="1"/>
          </p:cNvSpPr>
          <p:nvPr>
            <p:ph type="title"/>
          </p:nvPr>
        </p:nvSpPr>
        <p:spPr>
          <a:xfrm>
            <a:off x="328613" y="457200"/>
            <a:ext cx="4114800" cy="548878"/>
          </a:xfrm>
        </p:spPr>
        <p:txBody>
          <a:bodyPr/>
          <a:lstStyle>
            <a:lvl1pPr>
              <a:defRPr>
                <a:solidFill>
                  <a:schemeClr val="bg1"/>
                </a:solidFill>
              </a:defRPr>
            </a:lvl1pPr>
          </a:lstStyle>
          <a:p>
            <a:r>
              <a:rPr lang="en-US"/>
              <a:t>Click to edit Master title style</a:t>
            </a:r>
            <a:endParaRPr lang="en-US" dirty="0"/>
          </a:p>
        </p:txBody>
      </p:sp>
      <p:sp>
        <p:nvSpPr>
          <p:cNvPr id="21" name="Text Placeholder 5"/>
          <p:cNvSpPr>
            <a:spLocks noGrp="1"/>
          </p:cNvSpPr>
          <p:nvPr>
            <p:ph type="body" sz="quarter" idx="14"/>
          </p:nvPr>
        </p:nvSpPr>
        <p:spPr>
          <a:xfrm>
            <a:off x="405000" y="1463278"/>
            <a:ext cx="4167000"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bg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
        <p:nvSpPr>
          <p:cNvPr id="22" name="Text Placeholder 5"/>
          <p:cNvSpPr>
            <a:spLocks noGrp="1"/>
          </p:cNvSpPr>
          <p:nvPr>
            <p:ph type="body" sz="quarter" idx="15"/>
          </p:nvPr>
        </p:nvSpPr>
        <p:spPr>
          <a:xfrm>
            <a:off x="5129212" y="606028"/>
            <a:ext cx="3814763" cy="857250"/>
          </a:xfrm>
          <a:prstGeom prst="rect">
            <a:avLst/>
          </a:prstGeom>
        </p:spPr>
        <p:txBody>
          <a:bodyPr lIns="0" tIns="0" rIns="0" bIns="0">
            <a:noAutofit/>
          </a:bodyPr>
          <a:lstStyle>
            <a:lvl1pPr marL="0" marR="0" indent="0" algn="l" defTabSz="514350" rtl="0" eaLnBrk="1" fontAlgn="auto" latinLnBrk="0" hangingPunct="1">
              <a:lnSpc>
                <a:spcPct val="100000"/>
              </a:lnSpc>
              <a:spcBef>
                <a:spcPts val="565"/>
              </a:spcBef>
              <a:spcAft>
                <a:spcPts val="0"/>
              </a:spcAft>
              <a:buClrTx/>
              <a:buSzTx/>
              <a:buFontTx/>
              <a:buNone/>
              <a:defRPr sz="1125" b="0">
                <a:solidFill>
                  <a:schemeClr val="tx1"/>
                </a:solidFill>
                <a:latin typeface="Arial" panose="020B0604020202020204" pitchFamily="34" charset="0"/>
                <a:cs typeface="Arial" panose="020B0604020202020204" pitchFamily="34" charset="0"/>
              </a:defRPr>
            </a:lvl1pPr>
            <a:lvl2pPr>
              <a:defRPr sz="4275">
                <a:latin typeface="Arial" panose="020B0604020202020204" pitchFamily="34" charset="0"/>
                <a:cs typeface="Arial" panose="020B0604020202020204" pitchFamily="34" charset="0"/>
              </a:defRPr>
            </a:lvl2pPr>
            <a:lvl3pPr>
              <a:defRPr sz="4275">
                <a:latin typeface="Arial" panose="020B0604020202020204" pitchFamily="34" charset="0"/>
                <a:cs typeface="Arial" panose="020B0604020202020204" pitchFamily="34" charset="0"/>
              </a:defRPr>
            </a:lvl3pPr>
            <a:lvl4pPr>
              <a:defRPr sz="4275">
                <a:latin typeface="Arial" panose="020B0604020202020204" pitchFamily="34" charset="0"/>
                <a:cs typeface="Arial" panose="020B0604020202020204" pitchFamily="34" charset="0"/>
              </a:defRPr>
            </a:lvl4pPr>
            <a:lvl5pPr>
              <a:defRPr sz="4275">
                <a:latin typeface="Arial" panose="020B0604020202020204" pitchFamily="34" charset="0"/>
                <a:cs typeface="Arial" panose="020B0604020202020204" pitchFamily="34" charset="0"/>
              </a:defRPr>
            </a:lvl5pPr>
          </a:lstStyle>
          <a:p>
            <a:pPr lvl="0"/>
            <a:r>
              <a:rPr lang="en-US"/>
              <a:t>Click to edit Master text styles</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p:nvPr/>
        </p:nvSpPr>
        <p:spPr>
          <a:xfrm>
            <a:off x="1228725" y="447675"/>
            <a:ext cx="7415213" cy="549275"/>
          </a:xfrm>
          <a:prstGeom prst="rect">
            <a:avLst/>
          </a:prstGeom>
        </p:spPr>
        <p:txBody>
          <a:bodyPr lIns="51435" tIns="25718" rIns="51435" bIns="25718" anchor="ctr">
            <a:normAutofit/>
          </a:bodyPr>
          <a:lstStyle>
            <a:lvl1pPr algn="l" defTabSz="914400" rtl="0" eaLnBrk="1" latinLnBrk="0" hangingPunct="1">
              <a:lnSpc>
                <a:spcPct val="90000"/>
              </a:lnSpc>
              <a:spcBef>
                <a:spcPct val="0"/>
              </a:spcBef>
              <a:buNone/>
              <a:defRPr sz="4000" b="1" kern="1200">
                <a:solidFill>
                  <a:schemeClr val="bg1"/>
                </a:solidFill>
                <a:latin typeface="Arial" panose="020B0604020202020204" pitchFamily="34" charset="0"/>
                <a:ea typeface="+mj-ea"/>
                <a:cs typeface="Arial" panose="020B0604020202020204" pitchFamily="34" charset="0"/>
              </a:defRPr>
            </a:lvl1pPr>
          </a:lstStyle>
          <a:p>
            <a:pPr>
              <a:defRPr/>
            </a:pPr>
            <a:r>
              <a:rPr lang="en-US" sz="2250" dirty="0">
                <a:solidFill>
                  <a:srgbClr val="0056A4"/>
                </a:solidFill>
              </a:rPr>
              <a:t>Click to edit Master title style</a:t>
            </a:r>
          </a:p>
        </p:txBody>
      </p:sp>
      <p:sp>
        <p:nvSpPr>
          <p:cNvPr id="2" name="Title 1"/>
          <p:cNvSpPr>
            <a:spLocks noGrp="1"/>
          </p:cNvSpPr>
          <p:nvPr>
            <p:ph type="title"/>
          </p:nvPr>
        </p:nvSpPr>
        <p:spPr>
          <a:xfrm>
            <a:off x="714375" y="1371600"/>
            <a:ext cx="2949476" cy="1070372"/>
          </a:xfrm>
        </p:spPr>
        <p:txBody>
          <a:bodyPr/>
          <a:lstStyle>
            <a:lvl1pPr>
              <a:defRPr sz="1800">
                <a:solidFill>
                  <a:srgbClr val="0056A4"/>
                </a:solidFill>
              </a:defRPr>
            </a:lvl1pPr>
          </a:lstStyle>
          <a:p>
            <a:r>
              <a:rPr lang="en-US"/>
              <a:t>Click to edit Master title style</a:t>
            </a:r>
            <a:endParaRPr lang="en-US" dirty="0"/>
          </a:p>
        </p:txBody>
      </p:sp>
      <p:sp>
        <p:nvSpPr>
          <p:cNvPr id="3" name="Content Placeholder 2"/>
          <p:cNvSpPr>
            <a:spLocks noGrp="1"/>
          </p:cNvSpPr>
          <p:nvPr>
            <p:ph idx="1"/>
          </p:nvPr>
        </p:nvSpPr>
        <p:spPr>
          <a:xfrm>
            <a:off x="3971925" y="1371600"/>
            <a:ext cx="4629150" cy="4874419"/>
          </a:xfrm>
        </p:spPr>
        <p:txBody>
          <a:bodyPr/>
          <a:lstStyle>
            <a:lvl1pPr>
              <a:defRPr sz="1575"/>
            </a:lvl1pPr>
            <a:lvl2pPr>
              <a:defRPr sz="1350"/>
            </a:lvl2pPr>
            <a:lvl3pPr>
              <a:defRPr sz="1125"/>
            </a:lvl3pPr>
            <a:lvl4pPr>
              <a:defRPr sz="1015"/>
            </a:lvl4pPr>
            <a:lvl5pPr>
              <a:defRPr sz="101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14375" y="2441972"/>
            <a:ext cx="2949476" cy="3811191"/>
          </a:xfrm>
        </p:spPr>
        <p:txBody>
          <a:bodyPr/>
          <a:lstStyle>
            <a:lvl1pPr marL="0" indent="0">
              <a:buNone/>
              <a:defRPr sz="900"/>
            </a:lvl1pPr>
            <a:lvl2pPr marL="257175" indent="0">
              <a:buNone/>
              <a:defRPr sz="790"/>
            </a:lvl2pPr>
            <a:lvl3pPr marL="514350" indent="0">
              <a:buNone/>
              <a:defRPr sz="675"/>
            </a:lvl3pPr>
            <a:lvl4pPr marL="771525" indent="0">
              <a:buNone/>
              <a:defRPr sz="565"/>
            </a:lvl4pPr>
            <a:lvl5pPr marL="1028700" indent="0">
              <a:buNone/>
              <a:defRPr sz="565"/>
            </a:lvl5pPr>
            <a:lvl6pPr marL="1285875" indent="0">
              <a:buNone/>
              <a:defRPr sz="565"/>
            </a:lvl6pPr>
            <a:lvl7pPr marL="1543050" indent="0">
              <a:buNone/>
              <a:defRPr sz="565"/>
            </a:lvl7pPr>
            <a:lvl8pPr marL="1800225" indent="0">
              <a:buNone/>
              <a:defRPr sz="565"/>
            </a:lvl8pPr>
            <a:lvl9pPr marL="2057400" indent="0">
              <a:buNone/>
              <a:defRPr sz="565"/>
            </a:lvl9pPr>
          </a:lstStyle>
          <a:p>
            <a:pPr lvl="0"/>
            <a:r>
              <a:rPr lang="en-US"/>
              <a:t>Click to edit Master text styles</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Presentation Title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3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404813" y="6481763"/>
            <a:ext cx="2282825" cy="111125"/>
          </a:xfrm>
          <a:prstGeom prst="rect">
            <a:avLst/>
          </a:prstGeom>
        </p:spPr>
        <p:txBody>
          <a:bodyPr lIns="0" tIns="7144" rIns="0" bIns="0">
            <a:spAutoFit/>
          </a:bodyPr>
          <a:lstStyle/>
          <a:p>
            <a:pPr marL="6985">
              <a:spcBef>
                <a:spcPts val="55"/>
              </a:spcBef>
              <a:defRPr/>
            </a:pPr>
            <a:r>
              <a:rPr sz="675" dirty="0">
                <a:solidFill>
                  <a:schemeClr val="bg1">
                    <a:lumMod val="95000"/>
                  </a:schemeClr>
                </a:solidFill>
                <a:latin typeface="Arial" panose="020B0604020202020204" pitchFamily="34" charset="0"/>
                <a:cs typeface="Arial" panose="020B0604020202020204" pitchFamily="34" charset="0"/>
              </a:rPr>
              <a:t>© </a:t>
            </a:r>
            <a:r>
              <a:rPr sz="675" spc="-3" dirty="0">
                <a:solidFill>
                  <a:schemeClr val="bg1">
                    <a:lumMod val="95000"/>
                  </a:schemeClr>
                </a:solidFill>
                <a:latin typeface="Arial" panose="020B0604020202020204" pitchFamily="34" charset="0"/>
                <a:cs typeface="Arial" panose="020B0604020202020204" pitchFamily="34" charset="0"/>
              </a:rPr>
              <a:t>20</a:t>
            </a:r>
            <a:r>
              <a:rPr lang="en-US" sz="675" spc="-3" dirty="0">
                <a:solidFill>
                  <a:schemeClr val="bg1">
                    <a:lumMod val="95000"/>
                  </a:schemeClr>
                </a:solidFill>
                <a:latin typeface="Arial" panose="020B0604020202020204" pitchFamily="34" charset="0"/>
                <a:cs typeface="Arial" panose="020B0604020202020204" pitchFamily="34" charset="0"/>
              </a:rPr>
              <a:t>20</a:t>
            </a:r>
            <a:r>
              <a:rPr sz="675" spc="-3" dirty="0">
                <a:solidFill>
                  <a:schemeClr val="bg1">
                    <a:lumMod val="95000"/>
                  </a:schemeClr>
                </a:solidFill>
                <a:latin typeface="Arial" panose="020B0604020202020204" pitchFamily="34" charset="0"/>
                <a:cs typeface="Arial" panose="020B0604020202020204" pitchFamily="34" charset="0"/>
              </a:rPr>
              <a:t> </a:t>
            </a:r>
            <a:r>
              <a:rPr lang="en-US" sz="675" spc="-3" dirty="0">
                <a:solidFill>
                  <a:schemeClr val="bg1">
                    <a:lumMod val="95000"/>
                  </a:schemeClr>
                </a:solidFill>
                <a:latin typeface="Arial" panose="020B0604020202020204" pitchFamily="34" charset="0"/>
                <a:cs typeface="Arial" panose="020B0604020202020204" pitchFamily="34" charset="0"/>
              </a:rPr>
              <a:t>Coforge</a:t>
            </a:r>
            <a:endParaRPr sz="675" dirty="0">
              <a:solidFill>
                <a:schemeClr val="bg1">
                  <a:lumMod val="95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t="17314" b="23924"/>
          <a:stretch>
            <a:fillRect/>
          </a:stretch>
        </p:blipFill>
        <p:spPr bwMode="auto">
          <a:xfrm>
            <a:off x="6861175" y="382588"/>
            <a:ext cx="1984375" cy="874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4529138" y="2800350"/>
            <a:ext cx="3593306" cy="1257300"/>
          </a:xfrm>
        </p:spPr>
        <p:txBody>
          <a:bodyPr>
            <a:noAutofit/>
          </a:bodyPr>
          <a:lstStyle>
            <a:lvl1pPr algn="l">
              <a:defRPr sz="3040">
                <a:solidFill>
                  <a:schemeClr val="bg1"/>
                </a:solidFill>
              </a:defRPr>
            </a:lvl1pPr>
          </a:lstStyle>
          <a:p>
            <a:r>
              <a:rPr lang="en-US"/>
              <a:t>Click to edit Master title style</a:t>
            </a:r>
            <a:endParaRPr 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4_Presentation Title Slide">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object 19"/>
          <p:cNvSpPr txBox="1"/>
          <p:nvPr/>
        </p:nvSpPr>
        <p:spPr>
          <a:xfrm>
            <a:off x="6500813" y="6343650"/>
            <a:ext cx="2282825" cy="111125"/>
          </a:xfrm>
          <a:prstGeom prst="rect">
            <a:avLst/>
          </a:prstGeom>
        </p:spPr>
        <p:txBody>
          <a:bodyPr lIns="0" tIns="7144" rIns="0" bIns="0">
            <a:spAutoFit/>
          </a:bodyPr>
          <a:lstStyle/>
          <a:p>
            <a:pPr marL="6985" algn="r">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pic>
        <p:nvPicPr>
          <p:cNvPr id="5" name="Picture 1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43713" y="423863"/>
            <a:ext cx="2006600" cy="71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8">
            <a:hlinkClick r:id="rId4"/>
          </p:cNvPr>
          <p:cNvSpPr/>
          <p:nvPr/>
        </p:nvSpPr>
        <p:spPr bwMode="auto">
          <a:xfrm>
            <a:off x="6180138" y="4308475"/>
            <a:ext cx="244475" cy="266700"/>
          </a:xfrm>
          <a:custGeom>
            <a:avLst/>
            <a:gdLst>
              <a:gd name="T0" fmla="*/ 18 w 422"/>
              <a:gd name="T1" fmla="*/ 307 h 345"/>
              <a:gd name="T2" fmla="*/ 68 w 422"/>
              <a:gd name="T3" fmla="*/ 301 h 345"/>
              <a:gd name="T4" fmla="*/ 112 w 422"/>
              <a:gd name="T5" fmla="*/ 281 h 345"/>
              <a:gd name="T6" fmla="*/ 112 w 422"/>
              <a:gd name="T7" fmla="*/ 269 h 345"/>
              <a:gd name="T8" fmla="*/ 78 w 422"/>
              <a:gd name="T9" fmla="*/ 253 h 345"/>
              <a:gd name="T10" fmla="*/ 52 w 422"/>
              <a:gd name="T11" fmla="*/ 223 h 345"/>
              <a:gd name="T12" fmla="*/ 66 w 422"/>
              <a:gd name="T13" fmla="*/ 211 h 345"/>
              <a:gd name="T14" fmla="*/ 86 w 422"/>
              <a:gd name="T15" fmla="*/ 209 h 345"/>
              <a:gd name="T16" fmla="*/ 46 w 422"/>
              <a:gd name="T17" fmla="*/ 189 h 345"/>
              <a:gd name="T18" fmla="*/ 26 w 422"/>
              <a:gd name="T19" fmla="*/ 164 h 345"/>
              <a:gd name="T20" fmla="*/ 16 w 422"/>
              <a:gd name="T21" fmla="*/ 122 h 345"/>
              <a:gd name="T22" fmla="*/ 44 w 422"/>
              <a:gd name="T23" fmla="*/ 132 h 345"/>
              <a:gd name="T24" fmla="*/ 42 w 422"/>
              <a:gd name="T25" fmla="*/ 122 h 345"/>
              <a:gd name="T26" fmla="*/ 20 w 422"/>
              <a:gd name="T27" fmla="*/ 80 h 345"/>
              <a:gd name="T28" fmla="*/ 18 w 422"/>
              <a:gd name="T29" fmla="*/ 48 h 345"/>
              <a:gd name="T30" fmla="*/ 28 w 422"/>
              <a:gd name="T31" fmla="*/ 16 h 345"/>
              <a:gd name="T32" fmla="*/ 86 w 422"/>
              <a:gd name="T33" fmla="*/ 68 h 345"/>
              <a:gd name="T34" fmla="*/ 156 w 422"/>
              <a:gd name="T35" fmla="*/ 98 h 345"/>
              <a:gd name="T36" fmla="*/ 208 w 422"/>
              <a:gd name="T37" fmla="*/ 108 h 345"/>
              <a:gd name="T38" fmla="*/ 206 w 422"/>
              <a:gd name="T39" fmla="*/ 78 h 345"/>
              <a:gd name="T40" fmla="*/ 220 w 422"/>
              <a:gd name="T41" fmla="*/ 40 h 345"/>
              <a:gd name="T42" fmla="*/ 236 w 422"/>
              <a:gd name="T43" fmla="*/ 20 h 345"/>
              <a:gd name="T44" fmla="*/ 268 w 422"/>
              <a:gd name="T45" fmla="*/ 4 h 345"/>
              <a:gd name="T46" fmla="*/ 304 w 422"/>
              <a:gd name="T47" fmla="*/ 2 h 345"/>
              <a:gd name="T48" fmla="*/ 330 w 422"/>
              <a:gd name="T49" fmla="*/ 10 h 345"/>
              <a:gd name="T50" fmla="*/ 352 w 422"/>
              <a:gd name="T51" fmla="*/ 26 h 345"/>
              <a:gd name="T52" fmla="*/ 360 w 422"/>
              <a:gd name="T53" fmla="*/ 28 h 345"/>
              <a:gd name="T54" fmla="*/ 406 w 422"/>
              <a:gd name="T55" fmla="*/ 10 h 345"/>
              <a:gd name="T56" fmla="*/ 404 w 422"/>
              <a:gd name="T57" fmla="*/ 22 h 345"/>
              <a:gd name="T58" fmla="*/ 386 w 422"/>
              <a:gd name="T59" fmla="*/ 46 h 345"/>
              <a:gd name="T60" fmla="*/ 398 w 422"/>
              <a:gd name="T61" fmla="*/ 50 h 345"/>
              <a:gd name="T62" fmla="*/ 422 w 422"/>
              <a:gd name="T63" fmla="*/ 44 h 345"/>
              <a:gd name="T64" fmla="*/ 400 w 422"/>
              <a:gd name="T65" fmla="*/ 68 h 345"/>
              <a:gd name="T66" fmla="*/ 380 w 422"/>
              <a:gd name="T67" fmla="*/ 90 h 345"/>
              <a:gd name="T68" fmla="*/ 372 w 422"/>
              <a:gd name="T69" fmla="*/ 154 h 345"/>
              <a:gd name="T70" fmla="*/ 350 w 422"/>
              <a:gd name="T71" fmla="*/ 215 h 345"/>
              <a:gd name="T72" fmla="*/ 314 w 422"/>
              <a:gd name="T73" fmla="*/ 267 h 345"/>
              <a:gd name="T74" fmla="*/ 268 w 422"/>
              <a:gd name="T75" fmla="*/ 307 h 345"/>
              <a:gd name="T76" fmla="*/ 232 w 422"/>
              <a:gd name="T77" fmla="*/ 327 h 345"/>
              <a:gd name="T78" fmla="*/ 150 w 422"/>
              <a:gd name="T79" fmla="*/ 345 h 345"/>
              <a:gd name="T80" fmla="*/ 98 w 422"/>
              <a:gd name="T81" fmla="*/ 343 h 345"/>
              <a:gd name="T82" fmla="*/ 30 w 422"/>
              <a:gd name="T83" fmla="*/ 323 h 345"/>
              <a:gd name="T84" fmla="*/ 0 w 422"/>
              <a:gd name="T85" fmla="*/ 309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22" h="345">
                <a:moveTo>
                  <a:pt x="0" y="307"/>
                </a:moveTo>
                <a:lnTo>
                  <a:pt x="0" y="307"/>
                </a:lnTo>
                <a:lnTo>
                  <a:pt x="18" y="307"/>
                </a:lnTo>
                <a:lnTo>
                  <a:pt x="34" y="307"/>
                </a:lnTo>
                <a:lnTo>
                  <a:pt x="52" y="305"/>
                </a:lnTo>
                <a:lnTo>
                  <a:pt x="68" y="301"/>
                </a:lnTo>
                <a:lnTo>
                  <a:pt x="82" y="297"/>
                </a:lnTo>
                <a:lnTo>
                  <a:pt x="98" y="289"/>
                </a:lnTo>
                <a:lnTo>
                  <a:pt x="112" y="281"/>
                </a:lnTo>
                <a:lnTo>
                  <a:pt x="128" y="271"/>
                </a:lnTo>
                <a:lnTo>
                  <a:pt x="128" y="271"/>
                </a:lnTo>
                <a:lnTo>
                  <a:pt x="112" y="269"/>
                </a:lnTo>
                <a:lnTo>
                  <a:pt x="100" y="265"/>
                </a:lnTo>
                <a:lnTo>
                  <a:pt x="88" y="261"/>
                </a:lnTo>
                <a:lnTo>
                  <a:pt x="78" y="253"/>
                </a:lnTo>
                <a:lnTo>
                  <a:pt x="68" y="245"/>
                </a:lnTo>
                <a:lnTo>
                  <a:pt x="60" y="235"/>
                </a:lnTo>
                <a:lnTo>
                  <a:pt x="52" y="223"/>
                </a:lnTo>
                <a:lnTo>
                  <a:pt x="46" y="211"/>
                </a:lnTo>
                <a:lnTo>
                  <a:pt x="46" y="211"/>
                </a:lnTo>
                <a:lnTo>
                  <a:pt x="66" y="211"/>
                </a:lnTo>
                <a:lnTo>
                  <a:pt x="76" y="211"/>
                </a:lnTo>
                <a:lnTo>
                  <a:pt x="86" y="209"/>
                </a:lnTo>
                <a:lnTo>
                  <a:pt x="86" y="209"/>
                </a:lnTo>
                <a:lnTo>
                  <a:pt x="70" y="205"/>
                </a:lnTo>
                <a:lnTo>
                  <a:pt x="58" y="197"/>
                </a:lnTo>
                <a:lnTo>
                  <a:pt x="46" y="189"/>
                </a:lnTo>
                <a:lnTo>
                  <a:pt x="36" y="178"/>
                </a:lnTo>
                <a:lnTo>
                  <a:pt x="36" y="178"/>
                </a:lnTo>
                <a:lnTo>
                  <a:pt x="26" y="164"/>
                </a:lnTo>
                <a:lnTo>
                  <a:pt x="20" y="152"/>
                </a:lnTo>
                <a:lnTo>
                  <a:pt x="18" y="138"/>
                </a:lnTo>
                <a:lnTo>
                  <a:pt x="16" y="122"/>
                </a:lnTo>
                <a:lnTo>
                  <a:pt x="16" y="122"/>
                </a:lnTo>
                <a:lnTo>
                  <a:pt x="34" y="130"/>
                </a:lnTo>
                <a:lnTo>
                  <a:pt x="44" y="132"/>
                </a:lnTo>
                <a:lnTo>
                  <a:pt x="56" y="132"/>
                </a:lnTo>
                <a:lnTo>
                  <a:pt x="56" y="132"/>
                </a:lnTo>
                <a:lnTo>
                  <a:pt x="42" y="122"/>
                </a:lnTo>
                <a:lnTo>
                  <a:pt x="32" y="110"/>
                </a:lnTo>
                <a:lnTo>
                  <a:pt x="24" y="96"/>
                </a:lnTo>
                <a:lnTo>
                  <a:pt x="20" y="80"/>
                </a:lnTo>
                <a:lnTo>
                  <a:pt x="20" y="80"/>
                </a:lnTo>
                <a:lnTo>
                  <a:pt x="16" y="64"/>
                </a:lnTo>
                <a:lnTo>
                  <a:pt x="18" y="48"/>
                </a:lnTo>
                <a:lnTo>
                  <a:pt x="22" y="32"/>
                </a:lnTo>
                <a:lnTo>
                  <a:pt x="28" y="16"/>
                </a:lnTo>
                <a:lnTo>
                  <a:pt x="28" y="16"/>
                </a:lnTo>
                <a:lnTo>
                  <a:pt x="46" y="36"/>
                </a:lnTo>
                <a:lnTo>
                  <a:pt x="66" y="54"/>
                </a:lnTo>
                <a:lnTo>
                  <a:pt x="86" y="68"/>
                </a:lnTo>
                <a:lnTo>
                  <a:pt x="108" y="82"/>
                </a:lnTo>
                <a:lnTo>
                  <a:pt x="132" y="92"/>
                </a:lnTo>
                <a:lnTo>
                  <a:pt x="156" y="98"/>
                </a:lnTo>
                <a:lnTo>
                  <a:pt x="180" y="104"/>
                </a:lnTo>
                <a:lnTo>
                  <a:pt x="208" y="108"/>
                </a:lnTo>
                <a:lnTo>
                  <a:pt x="208" y="108"/>
                </a:lnTo>
                <a:lnTo>
                  <a:pt x="206" y="92"/>
                </a:lnTo>
                <a:lnTo>
                  <a:pt x="206" y="92"/>
                </a:lnTo>
                <a:lnTo>
                  <a:pt x="206" y="78"/>
                </a:lnTo>
                <a:lnTo>
                  <a:pt x="208" y="64"/>
                </a:lnTo>
                <a:lnTo>
                  <a:pt x="214" y="52"/>
                </a:lnTo>
                <a:lnTo>
                  <a:pt x="220" y="40"/>
                </a:lnTo>
                <a:lnTo>
                  <a:pt x="220" y="40"/>
                </a:lnTo>
                <a:lnTo>
                  <a:pt x="228" y="30"/>
                </a:lnTo>
                <a:lnTo>
                  <a:pt x="236" y="20"/>
                </a:lnTo>
                <a:lnTo>
                  <a:pt x="246" y="14"/>
                </a:lnTo>
                <a:lnTo>
                  <a:pt x="256" y="8"/>
                </a:lnTo>
                <a:lnTo>
                  <a:pt x="268" y="4"/>
                </a:lnTo>
                <a:lnTo>
                  <a:pt x="278" y="2"/>
                </a:lnTo>
                <a:lnTo>
                  <a:pt x="290" y="0"/>
                </a:lnTo>
                <a:lnTo>
                  <a:pt x="304" y="2"/>
                </a:lnTo>
                <a:lnTo>
                  <a:pt x="304" y="2"/>
                </a:lnTo>
                <a:lnTo>
                  <a:pt x="318" y="4"/>
                </a:lnTo>
                <a:lnTo>
                  <a:pt x="330" y="10"/>
                </a:lnTo>
                <a:lnTo>
                  <a:pt x="342" y="16"/>
                </a:lnTo>
                <a:lnTo>
                  <a:pt x="352" y="26"/>
                </a:lnTo>
                <a:lnTo>
                  <a:pt x="352" y="26"/>
                </a:lnTo>
                <a:lnTo>
                  <a:pt x="356" y="28"/>
                </a:lnTo>
                <a:lnTo>
                  <a:pt x="360" y="28"/>
                </a:lnTo>
                <a:lnTo>
                  <a:pt x="360" y="28"/>
                </a:lnTo>
                <a:lnTo>
                  <a:pt x="384" y="20"/>
                </a:lnTo>
                <a:lnTo>
                  <a:pt x="406" y="10"/>
                </a:lnTo>
                <a:lnTo>
                  <a:pt x="406" y="10"/>
                </a:lnTo>
                <a:lnTo>
                  <a:pt x="410" y="8"/>
                </a:lnTo>
                <a:lnTo>
                  <a:pt x="410" y="8"/>
                </a:lnTo>
                <a:lnTo>
                  <a:pt x="404" y="22"/>
                </a:lnTo>
                <a:lnTo>
                  <a:pt x="396" y="34"/>
                </a:lnTo>
                <a:lnTo>
                  <a:pt x="396" y="34"/>
                </a:lnTo>
                <a:lnTo>
                  <a:pt x="386" y="46"/>
                </a:lnTo>
                <a:lnTo>
                  <a:pt x="374" y="54"/>
                </a:lnTo>
                <a:lnTo>
                  <a:pt x="374" y="54"/>
                </a:lnTo>
                <a:lnTo>
                  <a:pt x="398" y="50"/>
                </a:lnTo>
                <a:lnTo>
                  <a:pt x="422" y="42"/>
                </a:lnTo>
                <a:lnTo>
                  <a:pt x="422" y="42"/>
                </a:lnTo>
                <a:lnTo>
                  <a:pt x="422" y="44"/>
                </a:lnTo>
                <a:lnTo>
                  <a:pt x="422" y="44"/>
                </a:lnTo>
                <a:lnTo>
                  <a:pt x="400" y="68"/>
                </a:lnTo>
                <a:lnTo>
                  <a:pt x="400" y="68"/>
                </a:lnTo>
                <a:lnTo>
                  <a:pt x="382" y="84"/>
                </a:lnTo>
                <a:lnTo>
                  <a:pt x="382" y="84"/>
                </a:lnTo>
                <a:lnTo>
                  <a:pt x="380" y="90"/>
                </a:lnTo>
                <a:lnTo>
                  <a:pt x="380" y="90"/>
                </a:lnTo>
                <a:lnTo>
                  <a:pt x="378" y="122"/>
                </a:lnTo>
                <a:lnTo>
                  <a:pt x="372" y="154"/>
                </a:lnTo>
                <a:lnTo>
                  <a:pt x="364" y="185"/>
                </a:lnTo>
                <a:lnTo>
                  <a:pt x="350" y="215"/>
                </a:lnTo>
                <a:lnTo>
                  <a:pt x="350" y="215"/>
                </a:lnTo>
                <a:lnTo>
                  <a:pt x="340" y="233"/>
                </a:lnTo>
                <a:lnTo>
                  <a:pt x="328" y="251"/>
                </a:lnTo>
                <a:lnTo>
                  <a:pt x="314" y="267"/>
                </a:lnTo>
                <a:lnTo>
                  <a:pt x="300" y="281"/>
                </a:lnTo>
                <a:lnTo>
                  <a:pt x="286" y="295"/>
                </a:lnTo>
                <a:lnTo>
                  <a:pt x="268" y="307"/>
                </a:lnTo>
                <a:lnTo>
                  <a:pt x="252" y="317"/>
                </a:lnTo>
                <a:lnTo>
                  <a:pt x="232" y="327"/>
                </a:lnTo>
                <a:lnTo>
                  <a:pt x="232" y="327"/>
                </a:lnTo>
                <a:lnTo>
                  <a:pt x="206" y="335"/>
                </a:lnTo>
                <a:lnTo>
                  <a:pt x="178" y="343"/>
                </a:lnTo>
                <a:lnTo>
                  <a:pt x="150" y="345"/>
                </a:lnTo>
                <a:lnTo>
                  <a:pt x="122" y="345"/>
                </a:lnTo>
                <a:lnTo>
                  <a:pt x="122" y="345"/>
                </a:lnTo>
                <a:lnTo>
                  <a:pt x="98" y="343"/>
                </a:lnTo>
                <a:lnTo>
                  <a:pt x="76" y="339"/>
                </a:lnTo>
                <a:lnTo>
                  <a:pt x="52" y="333"/>
                </a:lnTo>
                <a:lnTo>
                  <a:pt x="30" y="323"/>
                </a:lnTo>
                <a:lnTo>
                  <a:pt x="30" y="323"/>
                </a:lnTo>
                <a:lnTo>
                  <a:pt x="0" y="309"/>
                </a:lnTo>
                <a:lnTo>
                  <a:pt x="0" y="309"/>
                </a:lnTo>
                <a:lnTo>
                  <a:pt x="0" y="307"/>
                </a:lnTo>
                <a:lnTo>
                  <a:pt x="0" y="307"/>
                </a:lnTo>
                <a:close/>
              </a:path>
            </a:pathLst>
          </a:custGeom>
          <a:solidFill>
            <a:srgbClr val="F68B1F"/>
          </a:solidFill>
          <a:ln>
            <a:noFill/>
          </a:ln>
        </p:spPr>
        <p:txBody>
          <a:bodyPr lIns="51435" tIns="25718" rIns="51435" bIns="25718"/>
          <a:lstStyle/>
          <a:p>
            <a:pPr>
              <a:defRPr/>
            </a:pPr>
            <a:endParaRPr lang="en-IN" sz="1350"/>
          </a:p>
        </p:txBody>
      </p:sp>
      <p:grpSp>
        <p:nvGrpSpPr>
          <p:cNvPr id="8" name="Group 7"/>
          <p:cNvGrpSpPr/>
          <p:nvPr/>
        </p:nvGrpSpPr>
        <p:grpSpPr>
          <a:xfrm>
            <a:off x="6543675" y="4286250"/>
            <a:ext cx="239951" cy="322889"/>
            <a:chOff x="2652713" y="4170363"/>
            <a:chExt cx="687388" cy="693738"/>
          </a:xfrm>
          <a:solidFill>
            <a:schemeClr val="bg1"/>
          </a:solidFill>
        </p:grpSpPr>
        <p:sp>
          <p:nvSpPr>
            <p:cNvPr id="9" name="Freeform 10">
              <a:hlinkClick r:id="rId5"/>
            </p:cNvPr>
            <p:cNvSpPr/>
            <p:nvPr/>
          </p:nvSpPr>
          <p:spPr bwMode="auto">
            <a:xfrm>
              <a:off x="2652713" y="4170363"/>
              <a:ext cx="687388" cy="693738"/>
            </a:xfrm>
            <a:custGeom>
              <a:avLst/>
              <a:gdLst>
                <a:gd name="T0" fmla="*/ 0 w 433"/>
                <a:gd name="T1" fmla="*/ 233 h 437"/>
                <a:gd name="T2" fmla="*/ 0 w 433"/>
                <a:gd name="T3" fmla="*/ 205 h 437"/>
                <a:gd name="T4" fmla="*/ 0 w 433"/>
                <a:gd name="T5" fmla="*/ 201 h 437"/>
                <a:gd name="T6" fmla="*/ 4 w 433"/>
                <a:gd name="T7" fmla="*/ 168 h 437"/>
                <a:gd name="T8" fmla="*/ 16 w 433"/>
                <a:gd name="T9" fmla="*/ 136 h 437"/>
                <a:gd name="T10" fmla="*/ 28 w 433"/>
                <a:gd name="T11" fmla="*/ 110 h 437"/>
                <a:gd name="T12" fmla="*/ 60 w 433"/>
                <a:gd name="T13" fmla="*/ 66 h 437"/>
                <a:gd name="T14" fmla="*/ 80 w 433"/>
                <a:gd name="T15" fmla="*/ 48 h 437"/>
                <a:gd name="T16" fmla="*/ 130 w 433"/>
                <a:gd name="T17" fmla="*/ 18 h 437"/>
                <a:gd name="T18" fmla="*/ 188 w 433"/>
                <a:gd name="T19" fmla="*/ 2 h 437"/>
                <a:gd name="T20" fmla="*/ 204 w 433"/>
                <a:gd name="T21" fmla="*/ 0 h 437"/>
                <a:gd name="T22" fmla="*/ 230 w 433"/>
                <a:gd name="T23" fmla="*/ 0 h 437"/>
                <a:gd name="T24" fmla="*/ 232 w 433"/>
                <a:gd name="T25" fmla="*/ 2 h 437"/>
                <a:gd name="T26" fmla="*/ 266 w 433"/>
                <a:gd name="T27" fmla="*/ 6 h 437"/>
                <a:gd name="T28" fmla="*/ 292 w 433"/>
                <a:gd name="T29" fmla="*/ 14 h 437"/>
                <a:gd name="T30" fmla="*/ 338 w 433"/>
                <a:gd name="T31" fmla="*/ 38 h 437"/>
                <a:gd name="T32" fmla="*/ 360 w 433"/>
                <a:gd name="T33" fmla="*/ 56 h 437"/>
                <a:gd name="T34" fmla="*/ 400 w 433"/>
                <a:gd name="T35" fmla="*/ 102 h 437"/>
                <a:gd name="T36" fmla="*/ 411 w 433"/>
                <a:gd name="T37" fmla="*/ 122 h 437"/>
                <a:gd name="T38" fmla="*/ 427 w 433"/>
                <a:gd name="T39" fmla="*/ 166 h 437"/>
                <a:gd name="T40" fmla="*/ 431 w 433"/>
                <a:gd name="T41" fmla="*/ 189 h 437"/>
                <a:gd name="T42" fmla="*/ 433 w 433"/>
                <a:gd name="T43" fmla="*/ 205 h 437"/>
                <a:gd name="T44" fmla="*/ 433 w 433"/>
                <a:gd name="T45" fmla="*/ 233 h 437"/>
                <a:gd name="T46" fmla="*/ 431 w 433"/>
                <a:gd name="T47" fmla="*/ 249 h 437"/>
                <a:gd name="T48" fmla="*/ 423 w 433"/>
                <a:gd name="T49" fmla="*/ 285 h 437"/>
                <a:gd name="T50" fmla="*/ 409 w 433"/>
                <a:gd name="T51" fmla="*/ 317 h 437"/>
                <a:gd name="T52" fmla="*/ 396 w 433"/>
                <a:gd name="T53" fmla="*/ 341 h 437"/>
                <a:gd name="T54" fmla="*/ 362 w 433"/>
                <a:gd name="T55" fmla="*/ 379 h 437"/>
                <a:gd name="T56" fmla="*/ 342 w 433"/>
                <a:gd name="T57" fmla="*/ 395 h 437"/>
                <a:gd name="T58" fmla="*/ 296 w 433"/>
                <a:gd name="T59" fmla="*/ 421 h 437"/>
                <a:gd name="T60" fmla="*/ 246 w 433"/>
                <a:gd name="T61" fmla="*/ 435 h 437"/>
                <a:gd name="T62" fmla="*/ 230 w 433"/>
                <a:gd name="T63" fmla="*/ 437 h 437"/>
                <a:gd name="T64" fmla="*/ 204 w 433"/>
                <a:gd name="T65" fmla="*/ 437 h 437"/>
                <a:gd name="T66" fmla="*/ 188 w 433"/>
                <a:gd name="T67" fmla="*/ 435 h 437"/>
                <a:gd name="T68" fmla="*/ 170 w 433"/>
                <a:gd name="T69" fmla="*/ 431 h 437"/>
                <a:gd name="T70" fmla="*/ 134 w 433"/>
                <a:gd name="T71" fmla="*/ 421 h 437"/>
                <a:gd name="T72" fmla="*/ 118 w 433"/>
                <a:gd name="T73" fmla="*/ 413 h 437"/>
                <a:gd name="T74" fmla="*/ 74 w 433"/>
                <a:gd name="T75" fmla="*/ 383 h 437"/>
                <a:gd name="T76" fmla="*/ 40 w 433"/>
                <a:gd name="T77" fmla="*/ 345 h 437"/>
                <a:gd name="T78" fmla="*/ 26 w 433"/>
                <a:gd name="T79" fmla="*/ 323 h 437"/>
                <a:gd name="T80" fmla="*/ 6 w 433"/>
                <a:gd name="T81" fmla="*/ 273 h 437"/>
                <a:gd name="T82" fmla="*/ 2 w 433"/>
                <a:gd name="T83" fmla="*/ 247 h 437"/>
                <a:gd name="T84" fmla="*/ 0 w 433"/>
                <a:gd name="T85" fmla="*/ 233 h 4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33" h="437">
                  <a:moveTo>
                    <a:pt x="0" y="233"/>
                  </a:moveTo>
                  <a:lnTo>
                    <a:pt x="0" y="233"/>
                  </a:lnTo>
                  <a:lnTo>
                    <a:pt x="0" y="205"/>
                  </a:lnTo>
                  <a:lnTo>
                    <a:pt x="0" y="205"/>
                  </a:lnTo>
                  <a:lnTo>
                    <a:pt x="0" y="201"/>
                  </a:lnTo>
                  <a:lnTo>
                    <a:pt x="0" y="201"/>
                  </a:lnTo>
                  <a:lnTo>
                    <a:pt x="2" y="185"/>
                  </a:lnTo>
                  <a:lnTo>
                    <a:pt x="4" y="168"/>
                  </a:lnTo>
                  <a:lnTo>
                    <a:pt x="10" y="152"/>
                  </a:lnTo>
                  <a:lnTo>
                    <a:pt x="16" y="136"/>
                  </a:lnTo>
                  <a:lnTo>
                    <a:pt x="16" y="136"/>
                  </a:lnTo>
                  <a:lnTo>
                    <a:pt x="28" y="110"/>
                  </a:lnTo>
                  <a:lnTo>
                    <a:pt x="42" y="88"/>
                  </a:lnTo>
                  <a:lnTo>
                    <a:pt x="60" y="66"/>
                  </a:lnTo>
                  <a:lnTo>
                    <a:pt x="80" y="48"/>
                  </a:lnTo>
                  <a:lnTo>
                    <a:pt x="80" y="48"/>
                  </a:lnTo>
                  <a:lnTo>
                    <a:pt x="104" y="32"/>
                  </a:lnTo>
                  <a:lnTo>
                    <a:pt x="130" y="18"/>
                  </a:lnTo>
                  <a:lnTo>
                    <a:pt x="158" y="8"/>
                  </a:lnTo>
                  <a:lnTo>
                    <a:pt x="188" y="2"/>
                  </a:lnTo>
                  <a:lnTo>
                    <a:pt x="188" y="2"/>
                  </a:lnTo>
                  <a:lnTo>
                    <a:pt x="204" y="0"/>
                  </a:lnTo>
                  <a:lnTo>
                    <a:pt x="204" y="0"/>
                  </a:lnTo>
                  <a:lnTo>
                    <a:pt x="230" y="0"/>
                  </a:lnTo>
                  <a:lnTo>
                    <a:pt x="230" y="0"/>
                  </a:lnTo>
                  <a:lnTo>
                    <a:pt x="232" y="2"/>
                  </a:lnTo>
                  <a:lnTo>
                    <a:pt x="232" y="2"/>
                  </a:lnTo>
                  <a:lnTo>
                    <a:pt x="266" y="6"/>
                  </a:lnTo>
                  <a:lnTo>
                    <a:pt x="266" y="6"/>
                  </a:lnTo>
                  <a:lnTo>
                    <a:pt x="292" y="14"/>
                  </a:lnTo>
                  <a:lnTo>
                    <a:pt x="316" y="24"/>
                  </a:lnTo>
                  <a:lnTo>
                    <a:pt x="338" y="38"/>
                  </a:lnTo>
                  <a:lnTo>
                    <a:pt x="360" y="56"/>
                  </a:lnTo>
                  <a:lnTo>
                    <a:pt x="360" y="56"/>
                  </a:lnTo>
                  <a:lnTo>
                    <a:pt x="382" y="78"/>
                  </a:lnTo>
                  <a:lnTo>
                    <a:pt x="400" y="102"/>
                  </a:lnTo>
                  <a:lnTo>
                    <a:pt x="400" y="102"/>
                  </a:lnTo>
                  <a:lnTo>
                    <a:pt x="411" y="122"/>
                  </a:lnTo>
                  <a:lnTo>
                    <a:pt x="419" y="144"/>
                  </a:lnTo>
                  <a:lnTo>
                    <a:pt x="427" y="166"/>
                  </a:lnTo>
                  <a:lnTo>
                    <a:pt x="431" y="189"/>
                  </a:lnTo>
                  <a:lnTo>
                    <a:pt x="431" y="189"/>
                  </a:lnTo>
                  <a:lnTo>
                    <a:pt x="433" y="205"/>
                  </a:lnTo>
                  <a:lnTo>
                    <a:pt x="433" y="205"/>
                  </a:lnTo>
                  <a:lnTo>
                    <a:pt x="433" y="233"/>
                  </a:lnTo>
                  <a:lnTo>
                    <a:pt x="433" y="233"/>
                  </a:lnTo>
                  <a:lnTo>
                    <a:pt x="431" y="249"/>
                  </a:lnTo>
                  <a:lnTo>
                    <a:pt x="431" y="249"/>
                  </a:lnTo>
                  <a:lnTo>
                    <a:pt x="427" y="267"/>
                  </a:lnTo>
                  <a:lnTo>
                    <a:pt x="423" y="285"/>
                  </a:lnTo>
                  <a:lnTo>
                    <a:pt x="417" y="301"/>
                  </a:lnTo>
                  <a:lnTo>
                    <a:pt x="409" y="317"/>
                  </a:lnTo>
                  <a:lnTo>
                    <a:pt x="409" y="317"/>
                  </a:lnTo>
                  <a:lnTo>
                    <a:pt x="396" y="341"/>
                  </a:lnTo>
                  <a:lnTo>
                    <a:pt x="380" y="361"/>
                  </a:lnTo>
                  <a:lnTo>
                    <a:pt x="362" y="379"/>
                  </a:lnTo>
                  <a:lnTo>
                    <a:pt x="342" y="395"/>
                  </a:lnTo>
                  <a:lnTo>
                    <a:pt x="342" y="395"/>
                  </a:lnTo>
                  <a:lnTo>
                    <a:pt x="320" y="409"/>
                  </a:lnTo>
                  <a:lnTo>
                    <a:pt x="296" y="421"/>
                  </a:lnTo>
                  <a:lnTo>
                    <a:pt x="272" y="429"/>
                  </a:lnTo>
                  <a:lnTo>
                    <a:pt x="246" y="435"/>
                  </a:lnTo>
                  <a:lnTo>
                    <a:pt x="246" y="435"/>
                  </a:lnTo>
                  <a:lnTo>
                    <a:pt x="230" y="437"/>
                  </a:lnTo>
                  <a:lnTo>
                    <a:pt x="230" y="437"/>
                  </a:lnTo>
                  <a:lnTo>
                    <a:pt x="204" y="437"/>
                  </a:lnTo>
                  <a:lnTo>
                    <a:pt x="204" y="437"/>
                  </a:lnTo>
                  <a:lnTo>
                    <a:pt x="188" y="435"/>
                  </a:lnTo>
                  <a:lnTo>
                    <a:pt x="188" y="435"/>
                  </a:lnTo>
                  <a:lnTo>
                    <a:pt x="170" y="431"/>
                  </a:lnTo>
                  <a:lnTo>
                    <a:pt x="152" y="427"/>
                  </a:lnTo>
                  <a:lnTo>
                    <a:pt x="134" y="421"/>
                  </a:lnTo>
                  <a:lnTo>
                    <a:pt x="118" y="413"/>
                  </a:lnTo>
                  <a:lnTo>
                    <a:pt x="118" y="413"/>
                  </a:lnTo>
                  <a:lnTo>
                    <a:pt x="96" y="399"/>
                  </a:lnTo>
                  <a:lnTo>
                    <a:pt x="74" y="383"/>
                  </a:lnTo>
                  <a:lnTo>
                    <a:pt x="56" y="365"/>
                  </a:lnTo>
                  <a:lnTo>
                    <a:pt x="40" y="345"/>
                  </a:lnTo>
                  <a:lnTo>
                    <a:pt x="40" y="345"/>
                  </a:lnTo>
                  <a:lnTo>
                    <a:pt x="26" y="323"/>
                  </a:lnTo>
                  <a:lnTo>
                    <a:pt x="14" y="299"/>
                  </a:lnTo>
                  <a:lnTo>
                    <a:pt x="6" y="273"/>
                  </a:lnTo>
                  <a:lnTo>
                    <a:pt x="2" y="247"/>
                  </a:lnTo>
                  <a:lnTo>
                    <a:pt x="2" y="247"/>
                  </a:lnTo>
                  <a:lnTo>
                    <a:pt x="0" y="233"/>
                  </a:lnTo>
                  <a:lnTo>
                    <a:pt x="0" y="233"/>
                  </a:lnTo>
                  <a:close/>
                </a:path>
              </a:pathLst>
            </a:custGeom>
            <a:solidFill>
              <a:srgbClr val="F68B1F"/>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dirty="0"/>
            </a:p>
          </p:txBody>
        </p:sp>
        <p:sp>
          <p:nvSpPr>
            <p:cNvPr id="10" name="Freeform 12"/>
            <p:cNvSpPr/>
            <p:nvPr/>
          </p:nvSpPr>
          <p:spPr bwMode="auto">
            <a:xfrm>
              <a:off x="2922588" y="4389438"/>
              <a:ext cx="190500" cy="252413"/>
            </a:xfrm>
            <a:custGeom>
              <a:avLst/>
              <a:gdLst>
                <a:gd name="T0" fmla="*/ 0 w 120"/>
                <a:gd name="T1" fmla="*/ 159 h 159"/>
                <a:gd name="T2" fmla="*/ 0 w 120"/>
                <a:gd name="T3" fmla="*/ 159 h 159"/>
                <a:gd name="T4" fmla="*/ 0 w 120"/>
                <a:gd name="T5" fmla="*/ 0 h 159"/>
                <a:gd name="T6" fmla="*/ 0 w 120"/>
                <a:gd name="T7" fmla="*/ 0 h 159"/>
                <a:gd name="T8" fmla="*/ 120 w 120"/>
                <a:gd name="T9" fmla="*/ 81 h 159"/>
                <a:gd name="T10" fmla="*/ 120 w 120"/>
                <a:gd name="T11" fmla="*/ 81 h 159"/>
                <a:gd name="T12" fmla="*/ 0 w 120"/>
                <a:gd name="T13" fmla="*/ 159 h 159"/>
                <a:gd name="T14" fmla="*/ 0 w 120"/>
                <a:gd name="T15" fmla="*/ 159 h 15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0" h="159">
                  <a:moveTo>
                    <a:pt x="0" y="159"/>
                  </a:moveTo>
                  <a:lnTo>
                    <a:pt x="0" y="159"/>
                  </a:lnTo>
                  <a:lnTo>
                    <a:pt x="0" y="0"/>
                  </a:lnTo>
                  <a:lnTo>
                    <a:pt x="0" y="0"/>
                  </a:lnTo>
                  <a:lnTo>
                    <a:pt x="120" y="81"/>
                  </a:lnTo>
                  <a:lnTo>
                    <a:pt x="120" y="81"/>
                  </a:lnTo>
                  <a:lnTo>
                    <a:pt x="0" y="159"/>
                  </a:lnTo>
                  <a:lnTo>
                    <a:pt x="0" y="159"/>
                  </a:ln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a:lstStyle/>
            <a:p>
              <a:pPr>
                <a:defRPr/>
              </a:pPr>
              <a:endParaRPr lang="en-IN" sz="1350"/>
            </a:p>
          </p:txBody>
        </p:sp>
      </p:grpSp>
      <p:sp>
        <p:nvSpPr>
          <p:cNvPr id="11" name="Freeform 13"/>
          <p:cNvSpPr/>
          <p:nvPr/>
        </p:nvSpPr>
        <p:spPr bwMode="auto">
          <a:xfrm>
            <a:off x="5581650" y="4354513"/>
            <a:ext cx="160338" cy="217487"/>
          </a:xfrm>
          <a:custGeom>
            <a:avLst/>
            <a:gdLst>
              <a:gd name="T0" fmla="*/ 0 w 278"/>
              <a:gd name="T1" fmla="*/ 281 h 281"/>
              <a:gd name="T2" fmla="*/ 0 w 278"/>
              <a:gd name="T3" fmla="*/ 8 h 281"/>
              <a:gd name="T4" fmla="*/ 4 w 278"/>
              <a:gd name="T5" fmla="*/ 6 h 281"/>
              <a:gd name="T6" fmla="*/ 88 w 278"/>
              <a:gd name="T7" fmla="*/ 6 h 281"/>
              <a:gd name="T8" fmla="*/ 92 w 278"/>
              <a:gd name="T9" fmla="*/ 12 h 281"/>
              <a:gd name="T10" fmla="*/ 92 w 278"/>
              <a:gd name="T11" fmla="*/ 46 h 281"/>
              <a:gd name="T12" fmla="*/ 100 w 278"/>
              <a:gd name="T13" fmla="*/ 34 h 281"/>
              <a:gd name="T14" fmla="*/ 112 w 278"/>
              <a:gd name="T15" fmla="*/ 20 h 281"/>
              <a:gd name="T16" fmla="*/ 142 w 278"/>
              <a:gd name="T17" fmla="*/ 4 h 281"/>
              <a:gd name="T18" fmla="*/ 160 w 278"/>
              <a:gd name="T19" fmla="*/ 2 h 281"/>
              <a:gd name="T20" fmla="*/ 192 w 278"/>
              <a:gd name="T21" fmla="*/ 2 h 281"/>
              <a:gd name="T22" fmla="*/ 222 w 278"/>
              <a:gd name="T23" fmla="*/ 12 h 281"/>
              <a:gd name="T24" fmla="*/ 234 w 278"/>
              <a:gd name="T25" fmla="*/ 18 h 281"/>
              <a:gd name="T26" fmla="*/ 254 w 278"/>
              <a:gd name="T27" fmla="*/ 38 h 281"/>
              <a:gd name="T28" fmla="*/ 262 w 278"/>
              <a:gd name="T29" fmla="*/ 50 h 281"/>
              <a:gd name="T30" fmla="*/ 274 w 278"/>
              <a:gd name="T31" fmla="*/ 84 h 281"/>
              <a:gd name="T32" fmla="*/ 278 w 278"/>
              <a:gd name="T33" fmla="*/ 123 h 281"/>
              <a:gd name="T34" fmla="*/ 278 w 278"/>
              <a:gd name="T35" fmla="*/ 279 h 281"/>
              <a:gd name="T36" fmla="*/ 278 w 278"/>
              <a:gd name="T37" fmla="*/ 281 h 281"/>
              <a:gd name="T38" fmla="*/ 186 w 278"/>
              <a:gd name="T39" fmla="*/ 281 h 281"/>
              <a:gd name="T40" fmla="*/ 186 w 278"/>
              <a:gd name="T41" fmla="*/ 277 h 281"/>
              <a:gd name="T42" fmla="*/ 186 w 278"/>
              <a:gd name="T43" fmla="*/ 137 h 281"/>
              <a:gd name="T44" fmla="*/ 186 w 278"/>
              <a:gd name="T45" fmla="*/ 119 h 281"/>
              <a:gd name="T46" fmla="*/ 182 w 278"/>
              <a:gd name="T47" fmla="*/ 101 h 281"/>
              <a:gd name="T48" fmla="*/ 164 w 278"/>
              <a:gd name="T49" fmla="*/ 78 h 281"/>
              <a:gd name="T50" fmla="*/ 138 w 278"/>
              <a:gd name="T51" fmla="*/ 72 h 281"/>
              <a:gd name="T52" fmla="*/ 122 w 278"/>
              <a:gd name="T53" fmla="*/ 76 h 281"/>
              <a:gd name="T54" fmla="*/ 100 w 278"/>
              <a:gd name="T55" fmla="*/ 94 h 281"/>
              <a:gd name="T56" fmla="*/ 94 w 278"/>
              <a:gd name="T57" fmla="*/ 109 h 281"/>
              <a:gd name="T58" fmla="*/ 92 w 278"/>
              <a:gd name="T59" fmla="*/ 131 h 281"/>
              <a:gd name="T60" fmla="*/ 92 w 278"/>
              <a:gd name="T61" fmla="*/ 277 h 281"/>
              <a:gd name="T62" fmla="*/ 90 w 278"/>
              <a:gd name="T63" fmla="*/ 281 h 281"/>
              <a:gd name="T64" fmla="*/ 88 w 278"/>
              <a:gd name="T65" fmla="*/ 281 h 281"/>
              <a:gd name="T66" fmla="*/ 6 w 278"/>
              <a:gd name="T67" fmla="*/ 281 h 281"/>
              <a:gd name="T68" fmla="*/ 0 w 278"/>
              <a:gd name="T69" fmla="*/ 281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8" h="281">
                <a:moveTo>
                  <a:pt x="0" y="281"/>
                </a:moveTo>
                <a:lnTo>
                  <a:pt x="0" y="281"/>
                </a:lnTo>
                <a:lnTo>
                  <a:pt x="0" y="8"/>
                </a:lnTo>
                <a:lnTo>
                  <a:pt x="0" y="8"/>
                </a:lnTo>
                <a:lnTo>
                  <a:pt x="4" y="6"/>
                </a:lnTo>
                <a:lnTo>
                  <a:pt x="4" y="6"/>
                </a:lnTo>
                <a:lnTo>
                  <a:pt x="88" y="6"/>
                </a:lnTo>
                <a:lnTo>
                  <a:pt x="88" y="6"/>
                </a:lnTo>
                <a:lnTo>
                  <a:pt x="90" y="8"/>
                </a:lnTo>
                <a:lnTo>
                  <a:pt x="92" y="12"/>
                </a:lnTo>
                <a:lnTo>
                  <a:pt x="92" y="12"/>
                </a:lnTo>
                <a:lnTo>
                  <a:pt x="92" y="46"/>
                </a:lnTo>
                <a:lnTo>
                  <a:pt x="92" y="46"/>
                </a:lnTo>
                <a:lnTo>
                  <a:pt x="100" y="34"/>
                </a:lnTo>
                <a:lnTo>
                  <a:pt x="100" y="34"/>
                </a:lnTo>
                <a:lnTo>
                  <a:pt x="112" y="20"/>
                </a:lnTo>
                <a:lnTo>
                  <a:pt x="126" y="12"/>
                </a:lnTo>
                <a:lnTo>
                  <a:pt x="142" y="4"/>
                </a:lnTo>
                <a:lnTo>
                  <a:pt x="160" y="2"/>
                </a:lnTo>
                <a:lnTo>
                  <a:pt x="160" y="2"/>
                </a:lnTo>
                <a:lnTo>
                  <a:pt x="176" y="0"/>
                </a:lnTo>
                <a:lnTo>
                  <a:pt x="192" y="2"/>
                </a:lnTo>
                <a:lnTo>
                  <a:pt x="206" y="6"/>
                </a:lnTo>
                <a:lnTo>
                  <a:pt x="222" y="12"/>
                </a:lnTo>
                <a:lnTo>
                  <a:pt x="222" y="12"/>
                </a:lnTo>
                <a:lnTo>
                  <a:pt x="234" y="18"/>
                </a:lnTo>
                <a:lnTo>
                  <a:pt x="244" y="28"/>
                </a:lnTo>
                <a:lnTo>
                  <a:pt x="254" y="38"/>
                </a:lnTo>
                <a:lnTo>
                  <a:pt x="262" y="50"/>
                </a:lnTo>
                <a:lnTo>
                  <a:pt x="262" y="50"/>
                </a:lnTo>
                <a:lnTo>
                  <a:pt x="270" y="66"/>
                </a:lnTo>
                <a:lnTo>
                  <a:pt x="274" y="84"/>
                </a:lnTo>
                <a:lnTo>
                  <a:pt x="276" y="105"/>
                </a:lnTo>
                <a:lnTo>
                  <a:pt x="278" y="123"/>
                </a:lnTo>
                <a:lnTo>
                  <a:pt x="278" y="123"/>
                </a:lnTo>
                <a:lnTo>
                  <a:pt x="278" y="279"/>
                </a:lnTo>
                <a:lnTo>
                  <a:pt x="278" y="279"/>
                </a:lnTo>
                <a:lnTo>
                  <a:pt x="278" y="281"/>
                </a:lnTo>
                <a:lnTo>
                  <a:pt x="278" y="281"/>
                </a:lnTo>
                <a:lnTo>
                  <a:pt x="186" y="281"/>
                </a:lnTo>
                <a:lnTo>
                  <a:pt x="186" y="281"/>
                </a:lnTo>
                <a:lnTo>
                  <a:pt x="186" y="277"/>
                </a:lnTo>
                <a:lnTo>
                  <a:pt x="186" y="277"/>
                </a:lnTo>
                <a:lnTo>
                  <a:pt x="186" y="137"/>
                </a:lnTo>
                <a:lnTo>
                  <a:pt x="186" y="137"/>
                </a:lnTo>
                <a:lnTo>
                  <a:pt x="186" y="119"/>
                </a:lnTo>
                <a:lnTo>
                  <a:pt x="182" y="101"/>
                </a:lnTo>
                <a:lnTo>
                  <a:pt x="182" y="101"/>
                </a:lnTo>
                <a:lnTo>
                  <a:pt x="174" y="88"/>
                </a:lnTo>
                <a:lnTo>
                  <a:pt x="164" y="78"/>
                </a:lnTo>
                <a:lnTo>
                  <a:pt x="152" y="74"/>
                </a:lnTo>
                <a:lnTo>
                  <a:pt x="138" y="72"/>
                </a:lnTo>
                <a:lnTo>
                  <a:pt x="138" y="72"/>
                </a:lnTo>
                <a:lnTo>
                  <a:pt x="122" y="76"/>
                </a:lnTo>
                <a:lnTo>
                  <a:pt x="110" y="84"/>
                </a:lnTo>
                <a:lnTo>
                  <a:pt x="100" y="94"/>
                </a:lnTo>
                <a:lnTo>
                  <a:pt x="94" y="109"/>
                </a:lnTo>
                <a:lnTo>
                  <a:pt x="94" y="109"/>
                </a:lnTo>
                <a:lnTo>
                  <a:pt x="92" y="119"/>
                </a:lnTo>
                <a:lnTo>
                  <a:pt x="92" y="131"/>
                </a:lnTo>
                <a:lnTo>
                  <a:pt x="92" y="131"/>
                </a:lnTo>
                <a:lnTo>
                  <a:pt x="92" y="277"/>
                </a:lnTo>
                <a:lnTo>
                  <a:pt x="92" y="277"/>
                </a:lnTo>
                <a:lnTo>
                  <a:pt x="90" y="281"/>
                </a:lnTo>
                <a:lnTo>
                  <a:pt x="88" y="281"/>
                </a:lnTo>
                <a:lnTo>
                  <a:pt x="88" y="281"/>
                </a:lnTo>
                <a:lnTo>
                  <a:pt x="6" y="281"/>
                </a:lnTo>
                <a:lnTo>
                  <a:pt x="6" y="281"/>
                </a:lnTo>
                <a:lnTo>
                  <a:pt x="0" y="281"/>
                </a:lnTo>
                <a:lnTo>
                  <a:pt x="0" y="281"/>
                </a:lnTo>
                <a:close/>
              </a:path>
            </a:pathLst>
          </a:custGeom>
          <a:solidFill>
            <a:srgbClr val="F68B1F"/>
          </a:solidFill>
          <a:ln>
            <a:noFill/>
          </a:ln>
        </p:spPr>
        <p:txBody>
          <a:bodyPr lIns="51435" tIns="25718" rIns="51435" bIns="25718"/>
          <a:lstStyle/>
          <a:p>
            <a:pPr>
              <a:defRPr/>
            </a:pPr>
            <a:endParaRPr lang="en-IN" sz="1350"/>
          </a:p>
        </p:txBody>
      </p:sp>
      <p:sp>
        <p:nvSpPr>
          <p:cNvPr id="12" name="Freeform 10"/>
          <p:cNvSpPr/>
          <p:nvPr/>
        </p:nvSpPr>
        <p:spPr bwMode="auto">
          <a:xfrm>
            <a:off x="5500688" y="4359275"/>
            <a:ext cx="52387" cy="212725"/>
          </a:xfrm>
          <a:custGeom>
            <a:avLst/>
            <a:gdLst>
              <a:gd name="T0" fmla="*/ 89 w 89"/>
              <a:gd name="T1" fmla="*/ 275 h 275"/>
              <a:gd name="T2" fmla="*/ 89 w 89"/>
              <a:gd name="T3" fmla="*/ 275 h 275"/>
              <a:gd name="T4" fmla="*/ 85 w 89"/>
              <a:gd name="T5" fmla="*/ 275 h 275"/>
              <a:gd name="T6" fmla="*/ 85 w 89"/>
              <a:gd name="T7" fmla="*/ 275 h 275"/>
              <a:gd name="T8" fmla="*/ 4 w 89"/>
              <a:gd name="T9" fmla="*/ 275 h 275"/>
              <a:gd name="T10" fmla="*/ 4 w 89"/>
              <a:gd name="T11" fmla="*/ 275 h 275"/>
              <a:gd name="T12" fmla="*/ 0 w 89"/>
              <a:gd name="T13" fmla="*/ 275 h 275"/>
              <a:gd name="T14" fmla="*/ 0 w 89"/>
              <a:gd name="T15" fmla="*/ 271 h 275"/>
              <a:gd name="T16" fmla="*/ 0 w 89"/>
              <a:gd name="T17" fmla="*/ 271 h 275"/>
              <a:gd name="T18" fmla="*/ 0 w 89"/>
              <a:gd name="T19" fmla="*/ 4 h 275"/>
              <a:gd name="T20" fmla="*/ 0 w 89"/>
              <a:gd name="T21" fmla="*/ 4 h 275"/>
              <a:gd name="T22" fmla="*/ 0 w 89"/>
              <a:gd name="T23" fmla="*/ 2 h 275"/>
              <a:gd name="T24" fmla="*/ 4 w 89"/>
              <a:gd name="T25" fmla="*/ 0 h 275"/>
              <a:gd name="T26" fmla="*/ 4 w 89"/>
              <a:gd name="T27" fmla="*/ 0 h 275"/>
              <a:gd name="T28" fmla="*/ 85 w 89"/>
              <a:gd name="T29" fmla="*/ 0 h 275"/>
              <a:gd name="T30" fmla="*/ 85 w 89"/>
              <a:gd name="T31" fmla="*/ 0 h 275"/>
              <a:gd name="T32" fmla="*/ 89 w 89"/>
              <a:gd name="T33" fmla="*/ 2 h 275"/>
              <a:gd name="T34" fmla="*/ 89 w 89"/>
              <a:gd name="T35" fmla="*/ 2 h 275"/>
              <a:gd name="T36" fmla="*/ 89 w 89"/>
              <a:gd name="T37" fmla="*/ 275 h 275"/>
              <a:gd name="T38" fmla="*/ 89 w 89"/>
              <a:gd name="T39" fmla="*/ 275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 h="275">
                <a:moveTo>
                  <a:pt x="89" y="275"/>
                </a:moveTo>
                <a:lnTo>
                  <a:pt x="89" y="275"/>
                </a:lnTo>
                <a:lnTo>
                  <a:pt x="85" y="275"/>
                </a:lnTo>
                <a:lnTo>
                  <a:pt x="85" y="275"/>
                </a:lnTo>
                <a:lnTo>
                  <a:pt x="4" y="275"/>
                </a:lnTo>
                <a:lnTo>
                  <a:pt x="4" y="275"/>
                </a:lnTo>
                <a:lnTo>
                  <a:pt x="0" y="275"/>
                </a:lnTo>
                <a:lnTo>
                  <a:pt x="0" y="271"/>
                </a:lnTo>
                <a:lnTo>
                  <a:pt x="0" y="271"/>
                </a:lnTo>
                <a:lnTo>
                  <a:pt x="0" y="4"/>
                </a:lnTo>
                <a:lnTo>
                  <a:pt x="0" y="4"/>
                </a:lnTo>
                <a:lnTo>
                  <a:pt x="0" y="2"/>
                </a:lnTo>
                <a:lnTo>
                  <a:pt x="4" y="0"/>
                </a:lnTo>
                <a:lnTo>
                  <a:pt x="4" y="0"/>
                </a:lnTo>
                <a:lnTo>
                  <a:pt x="85" y="0"/>
                </a:lnTo>
                <a:lnTo>
                  <a:pt x="85" y="0"/>
                </a:lnTo>
                <a:lnTo>
                  <a:pt x="89" y="2"/>
                </a:lnTo>
                <a:lnTo>
                  <a:pt x="89" y="2"/>
                </a:lnTo>
                <a:lnTo>
                  <a:pt x="89" y="275"/>
                </a:lnTo>
                <a:lnTo>
                  <a:pt x="89" y="275"/>
                </a:lnTo>
                <a:close/>
              </a:path>
            </a:pathLst>
          </a:custGeom>
          <a:solidFill>
            <a:srgbClr val="F68B1F"/>
          </a:solidFill>
          <a:ln>
            <a:noFill/>
          </a:ln>
        </p:spPr>
        <p:txBody>
          <a:bodyPr lIns="51435" tIns="25718" rIns="51435" bIns="25718"/>
          <a:lstStyle/>
          <a:p>
            <a:pPr>
              <a:defRPr/>
            </a:pPr>
            <a:endParaRPr lang="en-IN" sz="1350"/>
          </a:p>
        </p:txBody>
      </p:sp>
      <p:sp>
        <p:nvSpPr>
          <p:cNvPr id="13" name="Freeform 11"/>
          <p:cNvSpPr/>
          <p:nvPr/>
        </p:nvSpPr>
        <p:spPr bwMode="auto">
          <a:xfrm>
            <a:off x="5497513" y="4257675"/>
            <a:ext cx="58737" cy="73025"/>
          </a:xfrm>
          <a:custGeom>
            <a:avLst/>
            <a:gdLst>
              <a:gd name="T0" fmla="*/ 49 w 101"/>
              <a:gd name="T1" fmla="*/ 94 h 94"/>
              <a:gd name="T2" fmla="*/ 49 w 101"/>
              <a:gd name="T3" fmla="*/ 94 h 94"/>
              <a:gd name="T4" fmla="*/ 38 w 101"/>
              <a:gd name="T5" fmla="*/ 92 h 94"/>
              <a:gd name="T6" fmla="*/ 26 w 101"/>
              <a:gd name="T7" fmla="*/ 88 h 94"/>
              <a:gd name="T8" fmla="*/ 16 w 101"/>
              <a:gd name="T9" fmla="*/ 82 h 94"/>
              <a:gd name="T10" fmla="*/ 8 w 101"/>
              <a:gd name="T11" fmla="*/ 72 h 94"/>
              <a:gd name="T12" fmla="*/ 8 w 101"/>
              <a:gd name="T13" fmla="*/ 72 h 94"/>
              <a:gd name="T14" fmla="*/ 4 w 101"/>
              <a:gd name="T15" fmla="*/ 62 h 94"/>
              <a:gd name="T16" fmla="*/ 0 w 101"/>
              <a:gd name="T17" fmla="*/ 52 h 94"/>
              <a:gd name="T18" fmla="*/ 0 w 101"/>
              <a:gd name="T19" fmla="*/ 42 h 94"/>
              <a:gd name="T20" fmla="*/ 2 w 101"/>
              <a:gd name="T21" fmla="*/ 32 h 94"/>
              <a:gd name="T22" fmla="*/ 6 w 101"/>
              <a:gd name="T23" fmla="*/ 22 h 94"/>
              <a:gd name="T24" fmla="*/ 14 w 101"/>
              <a:gd name="T25" fmla="*/ 14 h 94"/>
              <a:gd name="T26" fmla="*/ 22 w 101"/>
              <a:gd name="T27" fmla="*/ 6 h 94"/>
              <a:gd name="T28" fmla="*/ 34 w 101"/>
              <a:gd name="T29" fmla="*/ 2 h 94"/>
              <a:gd name="T30" fmla="*/ 34 w 101"/>
              <a:gd name="T31" fmla="*/ 2 h 94"/>
              <a:gd name="T32" fmla="*/ 45 w 101"/>
              <a:gd name="T33" fmla="*/ 0 h 94"/>
              <a:gd name="T34" fmla="*/ 59 w 101"/>
              <a:gd name="T35" fmla="*/ 0 h 94"/>
              <a:gd name="T36" fmla="*/ 71 w 101"/>
              <a:gd name="T37" fmla="*/ 2 h 94"/>
              <a:gd name="T38" fmla="*/ 83 w 101"/>
              <a:gd name="T39" fmla="*/ 8 h 94"/>
              <a:gd name="T40" fmla="*/ 83 w 101"/>
              <a:gd name="T41" fmla="*/ 8 h 94"/>
              <a:gd name="T42" fmla="*/ 91 w 101"/>
              <a:gd name="T43" fmla="*/ 18 h 94"/>
              <a:gd name="T44" fmla="*/ 99 w 101"/>
              <a:gd name="T45" fmla="*/ 28 h 94"/>
              <a:gd name="T46" fmla="*/ 101 w 101"/>
              <a:gd name="T47" fmla="*/ 40 h 94"/>
              <a:gd name="T48" fmla="*/ 101 w 101"/>
              <a:gd name="T49" fmla="*/ 54 h 94"/>
              <a:gd name="T50" fmla="*/ 101 w 101"/>
              <a:gd name="T51" fmla="*/ 54 h 94"/>
              <a:gd name="T52" fmla="*/ 97 w 101"/>
              <a:gd name="T53" fmla="*/ 66 h 94"/>
              <a:gd name="T54" fmla="*/ 91 w 101"/>
              <a:gd name="T55" fmla="*/ 76 h 94"/>
              <a:gd name="T56" fmla="*/ 83 w 101"/>
              <a:gd name="T57" fmla="*/ 84 h 94"/>
              <a:gd name="T58" fmla="*/ 71 w 101"/>
              <a:gd name="T59" fmla="*/ 90 h 94"/>
              <a:gd name="T60" fmla="*/ 71 w 101"/>
              <a:gd name="T61" fmla="*/ 90 h 94"/>
              <a:gd name="T62" fmla="*/ 61 w 101"/>
              <a:gd name="T63" fmla="*/ 92 h 94"/>
              <a:gd name="T64" fmla="*/ 51 w 101"/>
              <a:gd name="T65" fmla="*/ 94 h 94"/>
              <a:gd name="T66" fmla="*/ 51 w 101"/>
              <a:gd name="T67" fmla="*/ 94 h 94"/>
              <a:gd name="T68" fmla="*/ 49 w 101"/>
              <a:gd name="T69" fmla="*/ 94 h 94"/>
              <a:gd name="T70" fmla="*/ 49 w 101"/>
              <a:gd name="T71" fmla="*/ 94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1" h="94">
                <a:moveTo>
                  <a:pt x="49" y="94"/>
                </a:moveTo>
                <a:lnTo>
                  <a:pt x="49" y="94"/>
                </a:lnTo>
                <a:lnTo>
                  <a:pt x="38" y="92"/>
                </a:lnTo>
                <a:lnTo>
                  <a:pt x="26" y="88"/>
                </a:lnTo>
                <a:lnTo>
                  <a:pt x="16" y="82"/>
                </a:lnTo>
                <a:lnTo>
                  <a:pt x="8" y="72"/>
                </a:lnTo>
                <a:lnTo>
                  <a:pt x="8" y="72"/>
                </a:lnTo>
                <a:lnTo>
                  <a:pt x="4" y="62"/>
                </a:lnTo>
                <a:lnTo>
                  <a:pt x="0" y="52"/>
                </a:lnTo>
                <a:lnTo>
                  <a:pt x="0" y="42"/>
                </a:lnTo>
                <a:lnTo>
                  <a:pt x="2" y="32"/>
                </a:lnTo>
                <a:lnTo>
                  <a:pt x="6" y="22"/>
                </a:lnTo>
                <a:lnTo>
                  <a:pt x="14" y="14"/>
                </a:lnTo>
                <a:lnTo>
                  <a:pt x="22" y="6"/>
                </a:lnTo>
                <a:lnTo>
                  <a:pt x="34" y="2"/>
                </a:lnTo>
                <a:lnTo>
                  <a:pt x="34" y="2"/>
                </a:lnTo>
                <a:lnTo>
                  <a:pt x="45" y="0"/>
                </a:lnTo>
                <a:lnTo>
                  <a:pt x="59" y="0"/>
                </a:lnTo>
                <a:lnTo>
                  <a:pt x="71" y="2"/>
                </a:lnTo>
                <a:lnTo>
                  <a:pt x="83" y="8"/>
                </a:lnTo>
                <a:lnTo>
                  <a:pt x="83" y="8"/>
                </a:lnTo>
                <a:lnTo>
                  <a:pt x="91" y="18"/>
                </a:lnTo>
                <a:lnTo>
                  <a:pt x="99" y="28"/>
                </a:lnTo>
                <a:lnTo>
                  <a:pt x="101" y="40"/>
                </a:lnTo>
                <a:lnTo>
                  <a:pt x="101" y="54"/>
                </a:lnTo>
                <a:lnTo>
                  <a:pt x="101" y="54"/>
                </a:lnTo>
                <a:lnTo>
                  <a:pt x="97" y="66"/>
                </a:lnTo>
                <a:lnTo>
                  <a:pt x="91" y="76"/>
                </a:lnTo>
                <a:lnTo>
                  <a:pt x="83" y="84"/>
                </a:lnTo>
                <a:lnTo>
                  <a:pt x="71" y="90"/>
                </a:lnTo>
                <a:lnTo>
                  <a:pt x="71" y="90"/>
                </a:lnTo>
                <a:lnTo>
                  <a:pt x="61" y="92"/>
                </a:lnTo>
                <a:lnTo>
                  <a:pt x="51" y="94"/>
                </a:lnTo>
                <a:lnTo>
                  <a:pt x="51" y="94"/>
                </a:lnTo>
                <a:lnTo>
                  <a:pt x="49" y="94"/>
                </a:lnTo>
                <a:lnTo>
                  <a:pt x="49" y="94"/>
                </a:lnTo>
                <a:close/>
              </a:path>
            </a:pathLst>
          </a:custGeom>
          <a:solidFill>
            <a:srgbClr val="F68B1F"/>
          </a:solidFill>
          <a:ln>
            <a:noFill/>
          </a:ln>
        </p:spPr>
        <p:txBody>
          <a:bodyPr lIns="51435" tIns="25718" rIns="51435" bIns="25718"/>
          <a:lstStyle/>
          <a:p>
            <a:pPr>
              <a:defRPr/>
            </a:pPr>
            <a:endParaRPr lang="en-IN" sz="1350"/>
          </a:p>
        </p:txBody>
      </p:sp>
      <p:sp>
        <p:nvSpPr>
          <p:cNvPr id="14" name="Freeform 12">
            <a:hlinkClick r:id="rId6"/>
          </p:cNvPr>
          <p:cNvSpPr/>
          <p:nvPr/>
        </p:nvSpPr>
        <p:spPr bwMode="auto">
          <a:xfrm>
            <a:off x="5903913" y="4271963"/>
            <a:ext cx="114300" cy="330200"/>
          </a:xfrm>
          <a:custGeom>
            <a:avLst/>
            <a:gdLst>
              <a:gd name="T0" fmla="*/ 92 w 140"/>
              <a:gd name="T1" fmla="*/ 152 h 305"/>
              <a:gd name="T2" fmla="*/ 92 w 140"/>
              <a:gd name="T3" fmla="*/ 152 h 305"/>
              <a:gd name="T4" fmla="*/ 92 w 140"/>
              <a:gd name="T5" fmla="*/ 305 h 305"/>
              <a:gd name="T6" fmla="*/ 92 w 140"/>
              <a:gd name="T7" fmla="*/ 305 h 305"/>
              <a:gd name="T8" fmla="*/ 30 w 140"/>
              <a:gd name="T9" fmla="*/ 305 h 305"/>
              <a:gd name="T10" fmla="*/ 30 w 140"/>
              <a:gd name="T11" fmla="*/ 305 h 305"/>
              <a:gd name="T12" fmla="*/ 30 w 140"/>
              <a:gd name="T13" fmla="*/ 152 h 305"/>
              <a:gd name="T14" fmla="*/ 30 w 140"/>
              <a:gd name="T15" fmla="*/ 152 h 305"/>
              <a:gd name="T16" fmla="*/ 0 w 140"/>
              <a:gd name="T17" fmla="*/ 152 h 305"/>
              <a:gd name="T18" fmla="*/ 0 w 140"/>
              <a:gd name="T19" fmla="*/ 152 h 305"/>
              <a:gd name="T20" fmla="*/ 0 w 140"/>
              <a:gd name="T21" fmla="*/ 98 h 305"/>
              <a:gd name="T22" fmla="*/ 0 w 140"/>
              <a:gd name="T23" fmla="*/ 98 h 305"/>
              <a:gd name="T24" fmla="*/ 30 w 140"/>
              <a:gd name="T25" fmla="*/ 98 h 305"/>
              <a:gd name="T26" fmla="*/ 30 w 140"/>
              <a:gd name="T27" fmla="*/ 98 h 305"/>
              <a:gd name="T28" fmla="*/ 30 w 140"/>
              <a:gd name="T29" fmla="*/ 94 h 305"/>
              <a:gd name="T30" fmla="*/ 30 w 140"/>
              <a:gd name="T31" fmla="*/ 94 h 305"/>
              <a:gd name="T32" fmla="*/ 30 w 140"/>
              <a:gd name="T33" fmla="*/ 56 h 305"/>
              <a:gd name="T34" fmla="*/ 30 w 140"/>
              <a:gd name="T35" fmla="*/ 56 h 305"/>
              <a:gd name="T36" fmla="*/ 32 w 140"/>
              <a:gd name="T37" fmla="*/ 42 h 305"/>
              <a:gd name="T38" fmla="*/ 38 w 140"/>
              <a:gd name="T39" fmla="*/ 30 h 305"/>
              <a:gd name="T40" fmla="*/ 46 w 140"/>
              <a:gd name="T41" fmla="*/ 18 h 305"/>
              <a:gd name="T42" fmla="*/ 58 w 140"/>
              <a:gd name="T43" fmla="*/ 8 h 305"/>
              <a:gd name="T44" fmla="*/ 58 w 140"/>
              <a:gd name="T45" fmla="*/ 8 h 305"/>
              <a:gd name="T46" fmla="*/ 74 w 140"/>
              <a:gd name="T47" fmla="*/ 2 h 305"/>
              <a:gd name="T48" fmla="*/ 90 w 140"/>
              <a:gd name="T49" fmla="*/ 0 h 305"/>
              <a:gd name="T50" fmla="*/ 90 w 140"/>
              <a:gd name="T51" fmla="*/ 0 h 305"/>
              <a:gd name="T52" fmla="*/ 138 w 140"/>
              <a:gd name="T53" fmla="*/ 0 h 305"/>
              <a:gd name="T54" fmla="*/ 138 w 140"/>
              <a:gd name="T55" fmla="*/ 0 h 305"/>
              <a:gd name="T56" fmla="*/ 140 w 140"/>
              <a:gd name="T57" fmla="*/ 0 h 305"/>
              <a:gd name="T58" fmla="*/ 140 w 140"/>
              <a:gd name="T59" fmla="*/ 0 h 305"/>
              <a:gd name="T60" fmla="*/ 140 w 140"/>
              <a:gd name="T61" fmla="*/ 52 h 305"/>
              <a:gd name="T62" fmla="*/ 140 w 140"/>
              <a:gd name="T63" fmla="*/ 52 h 305"/>
              <a:gd name="T64" fmla="*/ 132 w 140"/>
              <a:gd name="T65" fmla="*/ 52 h 305"/>
              <a:gd name="T66" fmla="*/ 132 w 140"/>
              <a:gd name="T67" fmla="*/ 52 h 305"/>
              <a:gd name="T68" fmla="*/ 106 w 140"/>
              <a:gd name="T69" fmla="*/ 52 h 305"/>
              <a:gd name="T70" fmla="*/ 106 w 140"/>
              <a:gd name="T71" fmla="*/ 52 h 305"/>
              <a:gd name="T72" fmla="*/ 102 w 140"/>
              <a:gd name="T73" fmla="*/ 54 h 305"/>
              <a:gd name="T74" fmla="*/ 96 w 140"/>
              <a:gd name="T75" fmla="*/ 56 h 305"/>
              <a:gd name="T76" fmla="*/ 94 w 140"/>
              <a:gd name="T77" fmla="*/ 60 h 305"/>
              <a:gd name="T78" fmla="*/ 92 w 140"/>
              <a:gd name="T79" fmla="*/ 64 h 305"/>
              <a:gd name="T80" fmla="*/ 92 w 140"/>
              <a:gd name="T81" fmla="*/ 64 h 305"/>
              <a:gd name="T82" fmla="*/ 92 w 140"/>
              <a:gd name="T83" fmla="*/ 98 h 305"/>
              <a:gd name="T84" fmla="*/ 92 w 140"/>
              <a:gd name="T85" fmla="*/ 98 h 305"/>
              <a:gd name="T86" fmla="*/ 140 w 140"/>
              <a:gd name="T87" fmla="*/ 98 h 305"/>
              <a:gd name="T88" fmla="*/ 140 w 140"/>
              <a:gd name="T89" fmla="*/ 98 h 305"/>
              <a:gd name="T90" fmla="*/ 136 w 140"/>
              <a:gd name="T91" fmla="*/ 152 h 305"/>
              <a:gd name="T92" fmla="*/ 136 w 140"/>
              <a:gd name="T93" fmla="*/ 152 h 305"/>
              <a:gd name="T94" fmla="*/ 92 w 140"/>
              <a:gd name="T95" fmla="*/ 152 h 305"/>
              <a:gd name="T96" fmla="*/ 92 w 140"/>
              <a:gd name="T97" fmla="*/ 15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0" h="305">
                <a:moveTo>
                  <a:pt x="92" y="152"/>
                </a:moveTo>
                <a:lnTo>
                  <a:pt x="92" y="152"/>
                </a:lnTo>
                <a:lnTo>
                  <a:pt x="92" y="305"/>
                </a:lnTo>
                <a:lnTo>
                  <a:pt x="92" y="305"/>
                </a:lnTo>
                <a:lnTo>
                  <a:pt x="30" y="305"/>
                </a:lnTo>
                <a:lnTo>
                  <a:pt x="30" y="305"/>
                </a:lnTo>
                <a:lnTo>
                  <a:pt x="30" y="152"/>
                </a:lnTo>
                <a:lnTo>
                  <a:pt x="30" y="152"/>
                </a:lnTo>
                <a:lnTo>
                  <a:pt x="0" y="152"/>
                </a:lnTo>
                <a:lnTo>
                  <a:pt x="0" y="152"/>
                </a:lnTo>
                <a:lnTo>
                  <a:pt x="0" y="98"/>
                </a:lnTo>
                <a:lnTo>
                  <a:pt x="0" y="98"/>
                </a:lnTo>
                <a:lnTo>
                  <a:pt x="30" y="98"/>
                </a:lnTo>
                <a:lnTo>
                  <a:pt x="30" y="98"/>
                </a:lnTo>
                <a:lnTo>
                  <a:pt x="30" y="94"/>
                </a:lnTo>
                <a:lnTo>
                  <a:pt x="30" y="94"/>
                </a:lnTo>
                <a:lnTo>
                  <a:pt x="30" y="56"/>
                </a:lnTo>
                <a:lnTo>
                  <a:pt x="30" y="56"/>
                </a:lnTo>
                <a:lnTo>
                  <a:pt x="32" y="42"/>
                </a:lnTo>
                <a:lnTo>
                  <a:pt x="38" y="30"/>
                </a:lnTo>
                <a:lnTo>
                  <a:pt x="46" y="18"/>
                </a:lnTo>
                <a:lnTo>
                  <a:pt x="58" y="8"/>
                </a:lnTo>
                <a:lnTo>
                  <a:pt x="58" y="8"/>
                </a:lnTo>
                <a:lnTo>
                  <a:pt x="74" y="2"/>
                </a:lnTo>
                <a:lnTo>
                  <a:pt x="90" y="0"/>
                </a:lnTo>
                <a:lnTo>
                  <a:pt x="90" y="0"/>
                </a:lnTo>
                <a:lnTo>
                  <a:pt x="138" y="0"/>
                </a:lnTo>
                <a:lnTo>
                  <a:pt x="138" y="0"/>
                </a:lnTo>
                <a:lnTo>
                  <a:pt x="140" y="0"/>
                </a:lnTo>
                <a:lnTo>
                  <a:pt x="140" y="0"/>
                </a:lnTo>
                <a:lnTo>
                  <a:pt x="140" y="52"/>
                </a:lnTo>
                <a:lnTo>
                  <a:pt x="140" y="52"/>
                </a:lnTo>
                <a:lnTo>
                  <a:pt x="132" y="52"/>
                </a:lnTo>
                <a:lnTo>
                  <a:pt x="132" y="52"/>
                </a:lnTo>
                <a:lnTo>
                  <a:pt x="106" y="52"/>
                </a:lnTo>
                <a:lnTo>
                  <a:pt x="106" y="52"/>
                </a:lnTo>
                <a:lnTo>
                  <a:pt x="102" y="54"/>
                </a:lnTo>
                <a:lnTo>
                  <a:pt x="96" y="56"/>
                </a:lnTo>
                <a:lnTo>
                  <a:pt x="94" y="60"/>
                </a:lnTo>
                <a:lnTo>
                  <a:pt x="92" y="64"/>
                </a:lnTo>
                <a:lnTo>
                  <a:pt x="92" y="64"/>
                </a:lnTo>
                <a:lnTo>
                  <a:pt x="92" y="98"/>
                </a:lnTo>
                <a:lnTo>
                  <a:pt x="92" y="98"/>
                </a:lnTo>
                <a:lnTo>
                  <a:pt x="140" y="98"/>
                </a:lnTo>
                <a:lnTo>
                  <a:pt x="140" y="98"/>
                </a:lnTo>
                <a:lnTo>
                  <a:pt x="136" y="152"/>
                </a:lnTo>
                <a:lnTo>
                  <a:pt x="136" y="152"/>
                </a:lnTo>
                <a:lnTo>
                  <a:pt x="92" y="152"/>
                </a:lnTo>
                <a:lnTo>
                  <a:pt x="92" y="152"/>
                </a:lnTo>
                <a:close/>
              </a:path>
            </a:pathLst>
          </a:custGeom>
          <a:solidFill>
            <a:srgbClr val="F68B1F"/>
          </a:solidFill>
          <a:ln>
            <a:noFill/>
          </a:ln>
        </p:spPr>
        <p:txBody>
          <a:bodyPr lIns="51435" tIns="25718" rIns="51435" bIns="25718"/>
          <a:lstStyle/>
          <a:p>
            <a:pPr>
              <a:defRPr/>
            </a:pPr>
            <a:endParaRPr lang="en-IN" sz="1350"/>
          </a:p>
        </p:txBody>
      </p:sp>
      <p:sp>
        <p:nvSpPr>
          <p:cNvPr id="6" name="Title 1"/>
          <p:cNvSpPr>
            <a:spLocks noGrp="1"/>
          </p:cNvSpPr>
          <p:nvPr>
            <p:ph type="title"/>
          </p:nvPr>
        </p:nvSpPr>
        <p:spPr>
          <a:xfrm>
            <a:off x="5429250" y="2971800"/>
            <a:ext cx="3593306" cy="1257300"/>
          </a:xfrm>
        </p:spPr>
        <p:txBody>
          <a:bodyPr>
            <a:noAutofit/>
          </a:bodyPr>
          <a:lstStyle>
            <a:lvl1pPr algn="l">
              <a:defRPr sz="3040">
                <a:solidFill>
                  <a:srgbClr val="0056A4"/>
                </a:solidFill>
              </a:defRPr>
            </a:lvl1pPr>
          </a:lstStyle>
          <a:p>
            <a:r>
              <a:rPr lang="en-US"/>
              <a:t>Click to edit Master title style</a:t>
            </a:r>
            <a:endParaRPr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Presentation Title Slide">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7772400" cy="685800"/>
          </a:xfrm>
        </p:spPr>
        <p:txBody>
          <a:bodyPr/>
          <a:lstStyle/>
          <a:p>
            <a:r>
              <a:rPr lang="en-US" noProof="1"/>
              <a:t>Click to edit Master title style</a:t>
            </a:r>
          </a:p>
        </p:txBody>
      </p:sp>
      <p:sp>
        <p:nvSpPr>
          <p:cNvPr id="3" name="SmartArt Placeholder 2"/>
          <p:cNvSpPr>
            <a:spLocks noGrp="1"/>
          </p:cNvSpPr>
          <p:nvPr>
            <p:ph type="pic" idx="1"/>
          </p:nvPr>
        </p:nvSpPr>
        <p:spPr>
          <a:xfrm>
            <a:off x="381000" y="1219200"/>
            <a:ext cx="7924800" cy="4648200"/>
          </a:xfrm>
        </p:spPr>
        <p:txBody>
          <a:bodyPr rtlCol="0">
            <a:normAutofit/>
          </a:bodyPr>
          <a:lstStyle/>
          <a:p>
            <a:pPr lvl="0"/>
            <a:endParaRPr lang="en-US" noProof="0"/>
          </a:p>
        </p:txBody>
      </p:sp>
      <p:sp>
        <p:nvSpPr>
          <p:cNvPr id="4" name="Rectangle 1029"/>
          <p:cNvSpPr>
            <a:spLocks noGrp="1" noChangeArrowheads="1"/>
          </p:cNvSpPr>
          <p:nvPr>
            <p:ph type="dt" sz="half" idx="10"/>
          </p:nvPr>
        </p:nvSpPr>
        <p:spPr>
          <a:xfrm>
            <a:off x="0" y="0"/>
            <a:ext cx="0" cy="0"/>
          </a:xfrm>
        </p:spPr>
        <p:txBody>
          <a:bodyPr/>
          <a:lstStyle>
            <a:lvl1pPr>
              <a:defRPr/>
            </a:lvl1pPr>
          </a:lstStyle>
          <a:p>
            <a:pPr>
              <a:defRPr/>
            </a:pPr>
            <a:endParaRPr lang="en-US"/>
          </a:p>
        </p:txBody>
      </p:sp>
      <p:sp>
        <p:nvSpPr>
          <p:cNvPr id="5" name="Rectangle 1031"/>
          <p:cNvSpPr>
            <a:spLocks noGrp="1" noChangeArrowheads="1"/>
          </p:cNvSpPr>
          <p:nvPr>
            <p:ph type="sldNum" sz="quarter" idx="11"/>
          </p:nvPr>
        </p:nvSpPr>
        <p:spPr>
          <a:xfrm>
            <a:off x="0" y="0"/>
            <a:ext cx="0" cy="0"/>
          </a:xfrm>
        </p:spPr>
        <p:txBody>
          <a:bodyPr/>
          <a:lstStyle>
            <a:lvl1pPr>
              <a:defRPr/>
            </a:lvl1pPr>
          </a:lstStyle>
          <a:p>
            <a:pPr>
              <a:defRPr/>
            </a:pPr>
            <a:fld id="{557C4883-017D-421A-9754-0B089E9ECB85}" type="slidenum">
              <a:rPr lang="en-US" altLang="en-US"/>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18" Type="http://schemas.openxmlformats.org/officeDocument/2006/relationships/slideLayout" Target="../slideLayouts/slideLayout3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17" Type="http://schemas.openxmlformats.org/officeDocument/2006/relationships/slideLayout" Target="../slideLayouts/slideLayout34.xml"/><Relationship Id="rId2" Type="http://schemas.openxmlformats.org/officeDocument/2006/relationships/slideLayout" Target="../slideLayouts/slideLayout19.xml"/><Relationship Id="rId16" Type="http://schemas.openxmlformats.org/officeDocument/2006/relationships/slideLayout" Target="../slideLayouts/slideLayout33.xml"/><Relationship Id="rId20" Type="http://schemas.openxmlformats.org/officeDocument/2006/relationships/image" Target="../media/image1.jpe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slideLayout" Target="../slideLayouts/slideLayout32.xml"/><Relationship Id="rId10" Type="http://schemas.openxmlformats.org/officeDocument/2006/relationships/slideLayout" Target="../slideLayouts/slideLayout27.xml"/><Relationship Id="rId19"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slideLayout" Target="../slideLayouts/slideLayout3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18" Type="http://schemas.openxmlformats.org/officeDocument/2006/relationships/slideLayout" Target="../slideLayouts/slideLayout5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image" Target="../media/image1.jpeg"/><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10" Type="http://schemas.openxmlformats.org/officeDocument/2006/relationships/slideLayout" Target="../slideLayouts/slideLayout45.xml"/><Relationship Id="rId19" Type="http://schemas.openxmlformats.org/officeDocument/2006/relationships/theme" Target="../theme/theme3.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2051"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2052"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FB28ABBC-DA78-4D5A-81AA-B36017CC35B4}" type="slidenum">
              <a:rPr lang="en-GB" sz="790" smtClean="0">
                <a:solidFill>
                  <a:schemeClr val="bg1">
                    <a:lumMod val="50000"/>
                  </a:schemeClr>
                </a:solidFill>
              </a:rPr>
              <a:t>‹#›</a:t>
            </a:fld>
            <a:endParaRPr lang="en-GB" sz="790" dirty="0">
              <a:solidFill>
                <a:schemeClr val="bg1">
                  <a:lumMod val="50000"/>
                </a:schemeClr>
              </a:solidFill>
            </a:endParaRPr>
          </a:p>
        </p:txBody>
      </p:sp>
      <p:pic>
        <p:nvPicPr>
          <p:cNvPr id="2055"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2" r:id="rId15"/>
    <p:sldLayoutId id="2147483683" r:id="rId16"/>
    <p:sldLayoutId id="2147483684" r:id="rId17"/>
    <p:sldLayoutId id="2147483685"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object 19"/>
          <p:cNvSpPr txBox="1"/>
          <p:nvPr/>
        </p:nvSpPr>
        <p:spPr>
          <a:xfrm>
            <a:off x="242888" y="6424613"/>
            <a:ext cx="2282825" cy="111125"/>
          </a:xfrm>
          <a:prstGeom prst="rect">
            <a:avLst/>
          </a:prstGeom>
        </p:spPr>
        <p:txBody>
          <a:bodyPr lIns="0" tIns="7144" rIns="0" bIns="0">
            <a:spAutoFit/>
          </a:bodyPr>
          <a:lstStyle/>
          <a:p>
            <a:pPr marL="6985">
              <a:spcBef>
                <a:spcPts val="55"/>
              </a:spcBef>
              <a:defRPr/>
            </a:pPr>
            <a:r>
              <a:rPr sz="675" dirty="0">
                <a:solidFill>
                  <a:schemeClr val="bg1">
                    <a:lumMod val="50000"/>
                  </a:schemeClr>
                </a:solidFill>
                <a:latin typeface="Arial" panose="020B0604020202020204" pitchFamily="34" charset="0"/>
                <a:cs typeface="Arial" panose="020B0604020202020204" pitchFamily="34" charset="0"/>
              </a:rPr>
              <a:t>© </a:t>
            </a:r>
            <a:r>
              <a:rPr sz="675" spc="-3" dirty="0">
                <a:solidFill>
                  <a:schemeClr val="bg1">
                    <a:lumMod val="50000"/>
                  </a:schemeClr>
                </a:solidFill>
                <a:latin typeface="Arial" panose="020B0604020202020204" pitchFamily="34" charset="0"/>
                <a:cs typeface="Arial" panose="020B0604020202020204" pitchFamily="34" charset="0"/>
              </a:rPr>
              <a:t>20</a:t>
            </a:r>
            <a:r>
              <a:rPr lang="en-US" sz="675" spc="-3" dirty="0">
                <a:solidFill>
                  <a:schemeClr val="bg1">
                    <a:lumMod val="50000"/>
                  </a:schemeClr>
                </a:solidFill>
                <a:latin typeface="Arial" panose="020B0604020202020204" pitchFamily="34" charset="0"/>
                <a:cs typeface="Arial" panose="020B0604020202020204" pitchFamily="34" charset="0"/>
              </a:rPr>
              <a:t>20</a:t>
            </a:r>
            <a:r>
              <a:rPr sz="675" spc="-3" dirty="0">
                <a:solidFill>
                  <a:schemeClr val="bg1">
                    <a:lumMod val="50000"/>
                  </a:schemeClr>
                </a:solidFill>
                <a:latin typeface="Arial" panose="020B0604020202020204" pitchFamily="34" charset="0"/>
                <a:cs typeface="Arial" panose="020B0604020202020204" pitchFamily="34" charset="0"/>
              </a:rPr>
              <a:t> </a:t>
            </a:r>
            <a:r>
              <a:rPr lang="en-US" sz="675" spc="-3" dirty="0">
                <a:solidFill>
                  <a:schemeClr val="bg1">
                    <a:lumMod val="50000"/>
                  </a:schemeClr>
                </a:solidFill>
                <a:latin typeface="Arial" panose="020B0604020202020204" pitchFamily="34" charset="0"/>
                <a:cs typeface="Arial" panose="020B0604020202020204" pitchFamily="34" charset="0"/>
              </a:rPr>
              <a:t>Coforge</a:t>
            </a:r>
            <a:endParaRPr sz="675" dirty="0">
              <a:solidFill>
                <a:schemeClr val="bg1">
                  <a:lumMod val="50000"/>
                </a:schemeClr>
              </a:solidFill>
              <a:latin typeface="Arial" panose="020B0604020202020204" pitchFamily="34" charset="0"/>
              <a:cs typeface="Arial" panose="020B0604020202020204" pitchFamily="34" charset="0"/>
            </a:endParaRPr>
          </a:p>
        </p:txBody>
      </p:sp>
      <p:sp>
        <p:nvSpPr>
          <p:cNvPr id="1027" name="Title Placeholder 1"/>
          <p:cNvSpPr>
            <a:spLocks noGrp="1" noChangeArrowheads="1"/>
          </p:cNvSpPr>
          <p:nvPr>
            <p:ph type="title"/>
          </p:nvPr>
        </p:nvSpPr>
        <p:spPr bwMode="auto">
          <a:xfrm>
            <a:off x="933450" y="425450"/>
            <a:ext cx="73263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de-DE"/>
              <a:t>Click to edit Master title style</a:t>
            </a:r>
          </a:p>
        </p:txBody>
      </p:sp>
      <p:sp>
        <p:nvSpPr>
          <p:cNvPr id="1028" name="Text Placeholder 2"/>
          <p:cNvSpPr>
            <a:spLocks noGrp="1" noChangeArrowheads="1"/>
          </p:cNvSpPr>
          <p:nvPr>
            <p:ph type="body" idx="1"/>
          </p:nvPr>
        </p:nvSpPr>
        <p:spPr bwMode="auto">
          <a:xfrm>
            <a:off x="550863" y="1314450"/>
            <a:ext cx="8093075" cy="462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de-DE"/>
              <a:t>Click to edit Master text styles</a:t>
            </a:r>
          </a:p>
          <a:p>
            <a:pPr lvl="1"/>
            <a:r>
              <a:rPr lang="en-US" altLang="de-DE"/>
              <a:t>Second level</a:t>
            </a:r>
          </a:p>
          <a:p>
            <a:pPr lvl="2"/>
            <a:r>
              <a:rPr lang="en-US" altLang="de-DE"/>
              <a:t>Third level</a:t>
            </a:r>
          </a:p>
          <a:p>
            <a:pPr lvl="3"/>
            <a:r>
              <a:rPr lang="en-US" altLang="de-DE"/>
              <a:t>Fourth level</a:t>
            </a:r>
          </a:p>
          <a:p>
            <a:pPr lvl="4"/>
            <a:r>
              <a:rPr lang="en-US" altLang="de-DE"/>
              <a:t>Fifth level</a:t>
            </a:r>
          </a:p>
        </p:txBody>
      </p:sp>
      <p:sp>
        <p:nvSpPr>
          <p:cNvPr id="4" name="Oval 3"/>
          <p:cNvSpPr/>
          <p:nvPr/>
        </p:nvSpPr>
        <p:spPr>
          <a:xfrm>
            <a:off x="8643938" y="6286500"/>
            <a:ext cx="342900" cy="457200"/>
          </a:xfrm>
          <a:prstGeom prst="ellipse">
            <a:avLst/>
          </a:prstGeom>
          <a:noFill/>
          <a:ln w="19050">
            <a:solidFill>
              <a:srgbClr val="F68B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350"/>
          </a:p>
        </p:txBody>
      </p:sp>
      <p:sp>
        <p:nvSpPr>
          <p:cNvPr id="13" name="Holder 5"/>
          <p:cNvSpPr txBox="1"/>
          <p:nvPr/>
        </p:nvSpPr>
        <p:spPr>
          <a:xfrm>
            <a:off x="8578850" y="6343650"/>
            <a:ext cx="490538" cy="342900"/>
          </a:xfrm>
          <a:prstGeom prst="rect">
            <a:avLst/>
          </a:prstGeom>
        </p:spPr>
        <p:txBody>
          <a:bodyPr lIns="0" tIns="0" rIns="0" bIns="0" anchor="ctr"/>
          <a:lstStyle>
            <a:defPPr>
              <a:defRPr lang="en-US"/>
            </a:defPPr>
            <a:lvl1pPr marL="0" algn="r" defTabSz="914400" rtl="0" eaLnBrk="1" latinLnBrk="0" hangingPunct="1">
              <a:defRPr sz="2000" b="1" kern="1200">
                <a:solidFill>
                  <a:srgbClr val="001B4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fld id="{247EB91D-0BE3-4590-9C17-0A91BFDDB517}" type="slidenum">
              <a:rPr lang="en-GB" sz="790" smtClean="0">
                <a:solidFill>
                  <a:schemeClr val="bg1">
                    <a:lumMod val="50000"/>
                  </a:schemeClr>
                </a:solidFill>
              </a:rPr>
              <a:t>‹#›</a:t>
            </a:fld>
            <a:endParaRPr lang="en-GB" sz="790" dirty="0">
              <a:solidFill>
                <a:schemeClr val="bg1">
                  <a:lumMod val="50000"/>
                </a:schemeClr>
              </a:solidFill>
            </a:endParaRPr>
          </a:p>
        </p:txBody>
      </p:sp>
      <p:pic>
        <p:nvPicPr>
          <p:cNvPr id="1031" name="Picture 9"/>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0" y="0"/>
            <a:ext cx="842963"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Lst>
  <p:hf sldNum="0" hdr="0" ftr="0" dt="0"/>
  <p:txStyles>
    <p:titleStyle>
      <a:lvl1pPr algn="l" defTabSz="514350" rtl="0" eaLnBrk="0" fontAlgn="base" hangingPunct="0">
        <a:lnSpc>
          <a:spcPct val="90000"/>
        </a:lnSpc>
        <a:spcBef>
          <a:spcPct val="0"/>
        </a:spcBef>
        <a:spcAft>
          <a:spcPct val="0"/>
        </a:spcAft>
        <a:defRPr sz="2200" b="1" kern="1200">
          <a:solidFill>
            <a:srgbClr val="0056A4"/>
          </a:solidFill>
          <a:latin typeface="Arial" panose="020B0604020202020204" pitchFamily="34" charset="0"/>
          <a:ea typeface="+mj-ea"/>
          <a:cs typeface="Arial" panose="020B0604020202020204" pitchFamily="34" charset="0"/>
        </a:defRPr>
      </a:lvl1pPr>
      <a:lvl2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2pPr>
      <a:lvl3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3pPr>
      <a:lvl4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4pPr>
      <a:lvl5pPr algn="l" defTabSz="514350" rtl="0" eaLnBrk="0" fontAlgn="base" hangingPunct="0">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5pPr>
      <a:lvl6pPr marL="4572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6pPr>
      <a:lvl7pPr marL="9144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7pPr>
      <a:lvl8pPr marL="13716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8pPr>
      <a:lvl9pPr marL="1828800" algn="l" defTabSz="514350" rtl="0" fontAlgn="base">
        <a:lnSpc>
          <a:spcPct val="90000"/>
        </a:lnSpc>
        <a:spcBef>
          <a:spcPct val="0"/>
        </a:spcBef>
        <a:spcAft>
          <a:spcPct val="0"/>
        </a:spcAft>
        <a:defRPr sz="2200" b="1">
          <a:solidFill>
            <a:srgbClr val="0056A4"/>
          </a:solidFill>
          <a:latin typeface="Arial" panose="020B0604020202020204" pitchFamily="34" charset="0"/>
          <a:cs typeface="Arial" panose="020B0604020202020204" pitchFamily="34" charset="0"/>
        </a:defRPr>
      </a:lvl9pPr>
    </p:titleStyle>
    <p:bodyStyle>
      <a:lvl1pPr marL="128905" indent="-128905" algn="l" defTabSz="514350" rtl="0" eaLnBrk="0" fontAlgn="base" hangingPunct="0">
        <a:spcBef>
          <a:spcPts val="56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1pPr>
      <a:lvl2pPr marL="386080" indent="-128905" algn="l" defTabSz="514350" rtl="0" eaLnBrk="0" fontAlgn="base" hangingPunct="0">
        <a:spcBef>
          <a:spcPts val="275"/>
        </a:spcBef>
        <a:spcAft>
          <a:spcPct val="0"/>
        </a:spcAft>
        <a:buFont typeface="Arial" panose="020B0604020202020204" pitchFamily="34" charset="0"/>
        <a:buChar char="•"/>
        <a:defRPr sz="1100" kern="1200">
          <a:solidFill>
            <a:schemeClr val="tx1"/>
          </a:solidFill>
          <a:latin typeface="Arial" panose="020B0604020202020204" pitchFamily="34" charset="0"/>
          <a:ea typeface="+mn-ea"/>
          <a:cs typeface="Arial" panose="020B0604020202020204" pitchFamily="34" charset="0"/>
        </a:defRPr>
      </a:lvl2pPr>
      <a:lvl3pPr marL="643255" indent="-128905" algn="l" defTabSz="514350" rtl="0" eaLnBrk="0" fontAlgn="base" hangingPunct="0">
        <a:spcBef>
          <a:spcPts val="275"/>
        </a:spcBef>
        <a:spcAft>
          <a:spcPct val="0"/>
        </a:spcAft>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900430"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157605" indent="-128905" algn="l" defTabSz="514350" rtl="0" eaLnBrk="0" fontAlgn="base" hangingPunct="0">
        <a:spcBef>
          <a:spcPts val="275"/>
        </a:spcBef>
        <a:spcAft>
          <a:spcPct val="0"/>
        </a:spcAft>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41478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6pPr>
      <a:lvl7pPr marL="167195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7pPr>
      <a:lvl8pPr marL="1929130"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8pPr>
      <a:lvl9pPr marL="2186305" indent="-128905" algn="l" defTabSz="514350" rtl="0" eaLnBrk="1" latinLnBrk="0" hangingPunct="1">
        <a:lnSpc>
          <a:spcPct val="90000"/>
        </a:lnSpc>
        <a:spcBef>
          <a:spcPts val="280"/>
        </a:spcBef>
        <a:buFont typeface="Arial" panose="020B0604020202020204" pitchFamily="34" charset="0"/>
        <a:buChar char="•"/>
        <a:defRPr sz="1015" kern="1200">
          <a:solidFill>
            <a:schemeClr val="tx1"/>
          </a:solidFill>
          <a:latin typeface="+mn-lt"/>
          <a:ea typeface="+mn-ea"/>
          <a:cs typeface="+mn-cs"/>
        </a:defRPr>
      </a:lvl9pPr>
    </p:bodyStyle>
    <p:otherStyle>
      <a:defPPr>
        <a:defRPr lang="en-US"/>
      </a:defPPr>
      <a:lvl1pPr marL="0" algn="l" defTabSz="514350" rtl="0" eaLnBrk="1" latinLnBrk="0" hangingPunct="1">
        <a:defRPr sz="1015" kern="1200">
          <a:solidFill>
            <a:schemeClr val="tx1"/>
          </a:solidFill>
          <a:latin typeface="+mn-lt"/>
          <a:ea typeface="+mn-ea"/>
          <a:cs typeface="+mn-cs"/>
        </a:defRPr>
      </a:lvl1pPr>
      <a:lvl2pPr marL="257175" algn="l" defTabSz="514350" rtl="0" eaLnBrk="1" latinLnBrk="0" hangingPunct="1">
        <a:defRPr sz="1015" kern="1200">
          <a:solidFill>
            <a:schemeClr val="tx1"/>
          </a:solidFill>
          <a:latin typeface="+mn-lt"/>
          <a:ea typeface="+mn-ea"/>
          <a:cs typeface="+mn-cs"/>
        </a:defRPr>
      </a:lvl2pPr>
      <a:lvl3pPr marL="514350" algn="l" defTabSz="514350" rtl="0" eaLnBrk="1" latinLnBrk="0" hangingPunct="1">
        <a:defRPr sz="1015" kern="1200">
          <a:solidFill>
            <a:schemeClr val="tx1"/>
          </a:solidFill>
          <a:latin typeface="+mn-lt"/>
          <a:ea typeface="+mn-ea"/>
          <a:cs typeface="+mn-cs"/>
        </a:defRPr>
      </a:lvl3pPr>
      <a:lvl4pPr marL="771525" algn="l" defTabSz="514350" rtl="0" eaLnBrk="1" latinLnBrk="0" hangingPunct="1">
        <a:defRPr sz="1015" kern="1200">
          <a:solidFill>
            <a:schemeClr val="tx1"/>
          </a:solidFill>
          <a:latin typeface="+mn-lt"/>
          <a:ea typeface="+mn-ea"/>
          <a:cs typeface="+mn-cs"/>
        </a:defRPr>
      </a:lvl4pPr>
      <a:lvl5pPr marL="1028700" algn="l" defTabSz="514350" rtl="0" eaLnBrk="1" latinLnBrk="0" hangingPunct="1">
        <a:defRPr sz="1015" kern="1200">
          <a:solidFill>
            <a:schemeClr val="tx1"/>
          </a:solidFill>
          <a:latin typeface="+mn-lt"/>
          <a:ea typeface="+mn-ea"/>
          <a:cs typeface="+mn-cs"/>
        </a:defRPr>
      </a:lvl5pPr>
      <a:lvl6pPr marL="1285875" algn="l" defTabSz="514350" rtl="0" eaLnBrk="1" latinLnBrk="0" hangingPunct="1">
        <a:defRPr sz="1015" kern="1200">
          <a:solidFill>
            <a:schemeClr val="tx1"/>
          </a:solidFill>
          <a:latin typeface="+mn-lt"/>
          <a:ea typeface="+mn-ea"/>
          <a:cs typeface="+mn-cs"/>
        </a:defRPr>
      </a:lvl6pPr>
      <a:lvl7pPr marL="1543050" algn="l" defTabSz="514350" rtl="0" eaLnBrk="1" latinLnBrk="0" hangingPunct="1">
        <a:defRPr sz="1015" kern="1200">
          <a:solidFill>
            <a:schemeClr val="tx1"/>
          </a:solidFill>
          <a:latin typeface="+mn-lt"/>
          <a:ea typeface="+mn-ea"/>
          <a:cs typeface="+mn-cs"/>
        </a:defRPr>
      </a:lvl7pPr>
      <a:lvl8pPr marL="1800225" algn="l" defTabSz="514350" rtl="0" eaLnBrk="1" latinLnBrk="0" hangingPunct="1">
        <a:defRPr sz="1015" kern="1200">
          <a:solidFill>
            <a:schemeClr val="tx1"/>
          </a:solidFill>
          <a:latin typeface="+mn-lt"/>
          <a:ea typeface="+mn-ea"/>
          <a:cs typeface="+mn-cs"/>
        </a:defRPr>
      </a:lvl8pPr>
      <a:lvl9pPr marL="2057400" algn="l" defTabSz="514350" rtl="0" eaLnBrk="1" latinLnBrk="0" hangingPunct="1">
        <a:defRPr sz="10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title"/>
          </p:nvPr>
        </p:nvSpPr>
        <p:spPr>
          <a:xfrm>
            <a:off x="5113338" y="2514600"/>
            <a:ext cx="4030662" cy="1149350"/>
          </a:xfrm>
        </p:spPr>
        <p:txBody>
          <a:bodyPr/>
          <a:lstStyle/>
          <a:p>
            <a:pPr algn="ctr" eaLnBrk="1" hangingPunct="1"/>
            <a:r>
              <a:rPr lang="en-US" altLang="de-DE" sz="4000" dirty="0"/>
              <a:t>Agile 3-DB Systel </a:t>
            </a:r>
          </a:p>
        </p:txBody>
      </p:sp>
      <p:sp>
        <p:nvSpPr>
          <p:cNvPr id="3" name="Text Placeholder 2"/>
          <p:cNvSpPr>
            <a:spLocks noGrp="1"/>
          </p:cNvSpPr>
          <p:nvPr>
            <p:ph type="body" sz="quarter" idx="16"/>
          </p:nvPr>
        </p:nvSpPr>
        <p:spPr>
          <a:xfrm>
            <a:off x="6705544" y="4876762"/>
            <a:ext cx="1984375" cy="292100"/>
          </a:xfrm>
        </p:spPr>
        <p:txBody>
          <a:bodyPr rtlCol="0"/>
          <a:lstStyle/>
          <a:p>
            <a:pPr eaLnBrk="1" fontAlgn="auto" hangingPunct="1">
              <a:spcAft>
                <a:spcPts val="0"/>
              </a:spcAft>
              <a:defRPr/>
            </a:pPr>
            <a:r>
              <a:rPr lang="en-US" dirty="0"/>
              <a:t>Neeraj Vohra</a:t>
            </a:r>
          </a:p>
        </p:txBody>
      </p:sp>
      <p:pic>
        <p:nvPicPr>
          <p:cNvPr id="29700" name="Picture 11" descr="DB-MNL_rgb_M"/>
          <p:cNvPicPr>
            <a:picLocks noChangeAspect="1" noChangeArrowheads="1"/>
          </p:cNvPicPr>
          <p:nvPr/>
        </p:nvPicPr>
        <p:blipFill>
          <a:blip r:embed="rId3">
            <a:extLst>
              <a:ext uri="{28A0092B-C50C-407E-A947-70E740481C1C}">
                <a14:useLocalDpi xmlns:a14="http://schemas.microsoft.com/office/drawing/2010/main" val="0"/>
              </a:ext>
            </a:extLst>
          </a:blip>
          <a:srcRect l="-2255" t="-46503" r="-16711" b="-14403"/>
          <a:stretch>
            <a:fillRect/>
          </a:stretch>
        </p:blipFill>
        <p:spPr bwMode="auto">
          <a:xfrm>
            <a:off x="4570413" y="5791200"/>
            <a:ext cx="1984375" cy="865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AA3F7914-BDD8-4DD8-A5D3-14193F8D586B}"/>
              </a:ext>
            </a:extLst>
          </p:cNvPr>
          <p:cNvSpPr txBox="1"/>
          <p:nvPr/>
        </p:nvSpPr>
        <p:spPr>
          <a:xfrm>
            <a:off x="5333980" y="3962386"/>
            <a:ext cx="1600158" cy="292100"/>
          </a:xfrm>
          <a:prstGeom prst="rect">
            <a:avLst/>
          </a:prstGeom>
        </p:spPr>
        <p:txBody>
          <a:bodyPr vert="horz" wrap="square" lIns="91440" tIns="45720" rIns="91440" bIns="45720" rtlCol="0" anchor="ctr">
            <a:noAutofit/>
          </a:bodyPr>
          <a:lstStyle/>
          <a:p>
            <a:pPr algn="l"/>
            <a:r>
              <a:rPr lang="en-US" sz="2000" dirty="0">
                <a:solidFill>
                  <a:srgbClr val="F68B1F"/>
                </a:solidFill>
              </a:rPr>
              <a:t>User Story</a:t>
            </a:r>
            <a:endParaRPr lang="en-US" sz="4000" dirty="0">
              <a:solidFill>
                <a:srgbClr val="F68B1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Story Points in Agile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914466"/>
            <a:ext cx="8272354" cy="5333934"/>
          </a:xfrm>
        </p:spPr>
        <p:txBody>
          <a:bodyPr/>
          <a:lstStyle/>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The development of software, using other people’s money (OPM) means - or should mean - </a:t>
            </a:r>
            <a:r>
              <a:rPr lang="en-US" sz="2000" b="1" dirty="0">
                <a:effectLst/>
                <a:latin typeface="Calibri" panose="020F0502020204030204" pitchFamily="34" charset="0"/>
                <a:ea typeface="Calibri" panose="020F0502020204030204" pitchFamily="34" charset="0"/>
                <a:cs typeface="Calibri" panose="020F0502020204030204" pitchFamily="34" charset="0"/>
              </a:rPr>
              <a:t>that those providing the money have an expectation </a:t>
            </a:r>
            <a:r>
              <a:rPr lang="en-US" sz="2000" dirty="0">
                <a:effectLst/>
                <a:latin typeface="Calibri" panose="020F0502020204030204" pitchFamily="34" charset="0"/>
                <a:ea typeface="Calibri" panose="020F0502020204030204" pitchFamily="34" charset="0"/>
                <a:cs typeface="Calibri" panose="020F0502020204030204" pitchFamily="34" charset="0"/>
              </a:rPr>
              <a:t>to know how much money , along with how well you be done spending that money, and provide me the Measurable Value (Effectiveness and Performance) I bought with that money?</a:t>
            </a:r>
          </a:p>
          <a:p>
            <a:pPr marL="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A story point is a metric used in agile project management and development to estimate the difficulty of implementing a given user story, which is an abstract measure of effort required to implement it. In simple terms, a story point is a number that tells the team about the difficulty level of the story. Difficulty could be related to complexities, risks, and efforts involved.</a:t>
            </a:r>
          </a:p>
          <a:p>
            <a:pPr marL="0" indent="0">
              <a:lnSpc>
                <a:spcPct val="107000"/>
              </a:lnSpc>
              <a:spcBef>
                <a:spcPts val="0"/>
              </a:spcBef>
              <a:spcAft>
                <a:spcPts val="800"/>
              </a:spcAft>
              <a:buNone/>
            </a:pPr>
            <a:endParaRPr lang="en-US" sz="2000" dirty="0">
              <a:latin typeface="Calibri" panose="020F0502020204030204" pitchFamily="34" charset="0"/>
              <a:cs typeface="Calibri" panose="020F0502020204030204" pitchFamily="34" charset="0"/>
            </a:endParaRPr>
          </a:p>
          <a:p>
            <a:pPr marL="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Story point estimation, a kind of relative estimation, is typically performed at the Product Backlog Grooming Sessions and the Product Backlog is evaluated by the team who responsible for the actual development and testing work.</a:t>
            </a:r>
          </a:p>
          <a:p>
            <a:pPr marL="0" marR="0" indent="0">
              <a:lnSpc>
                <a:spcPct val="107000"/>
              </a:lnSpc>
              <a:spcBef>
                <a:spcPts val="0"/>
              </a:spcBef>
              <a:spcAft>
                <a:spcPts val="800"/>
              </a:spcAft>
              <a:buNone/>
            </a:pPr>
            <a:endParaRPr lang="en-US" dirty="0"/>
          </a:p>
        </p:txBody>
      </p:sp>
    </p:spTree>
    <p:extLst>
      <p:ext uri="{BB962C8B-B14F-4D97-AF65-F5344CB8AC3E}">
        <p14:creationId xmlns:p14="http://schemas.microsoft.com/office/powerpoint/2010/main" val="165538318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Are Story points just similar than hours?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914466"/>
            <a:ext cx="8272354" cy="5333934"/>
          </a:xfrm>
        </p:spPr>
        <p:txBody>
          <a:bodyPr/>
          <a:lstStyle/>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If story points and hours are similar, why do we then even need story points? You could easily calculate the hours from any given number of story points. And if that is possible, why do we even have story points in the first place, if they can be mapped to hours easily? Then we can just estimate with hours instead, without introducing another layer (of story points) on top. This just confuses developers and stakeholders, right?</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Well, let me give you the reason why we need story points for estimations.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000" b="1"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336187309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152486"/>
            <a:ext cx="7326313" cy="549275"/>
          </a:xfrm>
        </p:spPr>
        <p:txBody>
          <a:bodyPr lIns="90488" tIns="44450" rIns="90488" bIns="44450"/>
          <a:lstStyle/>
          <a:p>
            <a:pPr algn="ctr" eaLnBrk="1" hangingPunct="1"/>
            <a:br>
              <a:rPr lang="en-US" sz="3200" dirty="0"/>
            </a:br>
            <a:br>
              <a:rPr lang="en-US" sz="3200" dirty="0"/>
            </a:br>
            <a:r>
              <a:rPr lang="en-US" sz="2000" dirty="0"/>
              <a:t>Each developer has a different set of skills and experience</a:t>
            </a:r>
            <a:br>
              <a:rPr lang="en-US" sz="1400" b="1"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152516" y="762070"/>
            <a:ext cx="8729662" cy="5562528"/>
          </a:xfrm>
        </p:spPr>
        <p:txBody>
          <a:bodyPr/>
          <a:lstStyle/>
          <a:p>
            <a:pPr marL="0" marR="0" indent="0" fontAlgn="base">
              <a:spcBef>
                <a:spcPts val="0"/>
              </a:spcBef>
              <a:spcAft>
                <a:spcPts val="0"/>
              </a:spcAft>
              <a:buNone/>
            </a:pPr>
            <a:r>
              <a:rPr lang="en-US" sz="2000" dirty="0">
                <a:effectLst/>
                <a:latin typeface="Calibri" panose="020F0502020204030204" pitchFamily="34" charset="0"/>
                <a:ea typeface="Calibri" panose="020F0502020204030204" pitchFamily="34" charset="0"/>
              </a:rPr>
              <a:t>It is quite easy to explain that you have different persons in a team and each person has a certain set of skills and a certain level of experience. We are working in a team, you can think of a member, who has great skills and is fast, while another member is quite new, and it takes him/her some time to complete tasks.</a:t>
            </a:r>
          </a:p>
          <a:p>
            <a:pPr marL="0" marR="0" indent="0" fontAlgn="base">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2000" dirty="0">
                <a:effectLst/>
                <a:latin typeface="Calibri" panose="020F0502020204030204" pitchFamily="34" charset="0"/>
                <a:ea typeface="Calibri" panose="020F0502020204030204" pitchFamily="34" charset="0"/>
              </a:rPr>
              <a:t>For example, let´s assume a developer, we call him </a:t>
            </a:r>
            <a:r>
              <a:rPr lang="en-US" sz="2000" i="1" u="sng" dirty="0">
                <a:effectLst/>
                <a:latin typeface="Times New Roman" panose="02020603050405020304" pitchFamily="18" charset="0"/>
                <a:ea typeface="Calibri" panose="020F0502020204030204" pitchFamily="34" charset="0"/>
              </a:rPr>
              <a:t>Fastian</a:t>
            </a:r>
            <a:r>
              <a:rPr lang="en-US" sz="2000" dirty="0">
                <a:effectLst/>
                <a:latin typeface="Calibri" panose="020F0502020204030204" pitchFamily="34" charset="0"/>
                <a:ea typeface="Calibri" panose="020F0502020204030204" pitchFamily="34" charset="0"/>
              </a:rPr>
              <a:t>, is able to finish a certain task in</a:t>
            </a:r>
            <a:r>
              <a:rPr lang="en-US" sz="2000" b="1" dirty="0">
                <a:effectLst/>
                <a:latin typeface="Times New Roman" panose="02020603050405020304" pitchFamily="18" charset="0"/>
                <a:ea typeface="Calibri" panose="020F0502020204030204" pitchFamily="34" charset="0"/>
              </a:rPr>
              <a:t> 2 hours</a:t>
            </a:r>
            <a:r>
              <a:rPr lang="en-US" sz="2000" dirty="0">
                <a:effectLst/>
                <a:latin typeface="Calibri" panose="020F0502020204030204" pitchFamily="34" charset="0"/>
                <a:ea typeface="Calibri" panose="020F0502020204030204" pitchFamily="34" charset="0"/>
              </a:rPr>
              <a:t>, while another developer, let´s call him </a:t>
            </a:r>
            <a:r>
              <a:rPr lang="en-US" sz="2000" i="1" u="sng" dirty="0">
                <a:effectLst/>
                <a:latin typeface="Times New Roman" panose="02020603050405020304" pitchFamily="18" charset="0"/>
                <a:ea typeface="Calibri" panose="020F0502020204030204" pitchFamily="34" charset="0"/>
              </a:rPr>
              <a:t>Slowden</a:t>
            </a:r>
            <a:r>
              <a:rPr lang="en-US" sz="2000" dirty="0">
                <a:effectLst/>
                <a:latin typeface="Calibri" panose="020F0502020204030204" pitchFamily="34" charset="0"/>
                <a:ea typeface="Calibri" panose="020F0502020204030204" pitchFamily="34" charset="0"/>
              </a:rPr>
              <a:t>, will spend </a:t>
            </a:r>
            <a:r>
              <a:rPr lang="en-US" sz="2000" b="1" dirty="0">
                <a:effectLst/>
                <a:latin typeface="Times New Roman" panose="02020603050405020304" pitchFamily="18" charset="0"/>
                <a:ea typeface="Calibri" panose="020F0502020204030204" pitchFamily="34" charset="0"/>
              </a:rPr>
              <a:t>8 hours</a:t>
            </a:r>
            <a:r>
              <a:rPr lang="en-US" sz="2000" dirty="0">
                <a:effectLst/>
                <a:latin typeface="Calibri" panose="020F0502020204030204" pitchFamily="34" charset="0"/>
                <a:ea typeface="Calibri" panose="020F0502020204030204" pitchFamily="34" charset="0"/>
              </a:rPr>
              <a:t> to finish the same task. That´s simply because of the fact, that Fastian is faster, he has more skills and way more experience than our young, slow guy Slowden.</a:t>
            </a:r>
            <a:endParaRPr lang="en-US" sz="20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2000" dirty="0">
                <a:effectLst/>
                <a:latin typeface="Calibri" panose="020F0502020204030204" pitchFamily="34" charset="0"/>
                <a:ea typeface="Calibri" panose="020F0502020204030204" pitchFamily="34" charset="0"/>
              </a:rPr>
              <a:t>So how would you estimate such a task in </a:t>
            </a:r>
            <a:r>
              <a:rPr lang="en-US" sz="2000" i="1" u="sng" dirty="0">
                <a:effectLst/>
                <a:latin typeface="Times New Roman" panose="02020603050405020304" pitchFamily="18" charset="0"/>
                <a:ea typeface="Calibri" panose="020F0502020204030204" pitchFamily="34" charset="0"/>
              </a:rPr>
              <a:t>hours</a:t>
            </a:r>
            <a:r>
              <a:rPr lang="en-US" sz="2000" dirty="0">
                <a:effectLst/>
                <a:latin typeface="Calibri" panose="020F0502020204030204" pitchFamily="34" charset="0"/>
                <a:ea typeface="Calibri" panose="020F0502020204030204" pitchFamily="34" charset="0"/>
              </a:rPr>
              <a:t>? Is it 2 hours, because you assume that Fastian should pick it up, as he will be faster? Or you estimate 8 hours, because you want to do a pessimistic estimation to make sure the sprint will be finished. Or do you estimate the task with 5 hours, the average value?</a:t>
            </a:r>
            <a:endParaRPr lang="en-US" sz="20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endParaRPr lang="en-US" sz="2000" dirty="0">
              <a:effectLst/>
              <a:latin typeface="Calibri" panose="020F0502020204030204" pitchFamily="34" charset="0"/>
              <a:ea typeface="Calibri" panose="020F0502020204030204" pitchFamily="34" charset="0"/>
            </a:endParaRPr>
          </a:p>
          <a:p>
            <a:pPr marL="0" marR="0" indent="0" fontAlgn="base">
              <a:spcBef>
                <a:spcPts val="0"/>
              </a:spcBef>
              <a:spcAft>
                <a:spcPts val="0"/>
              </a:spcAft>
              <a:buNone/>
            </a:pPr>
            <a:r>
              <a:rPr lang="en-US" sz="2000" dirty="0">
                <a:effectLst/>
                <a:latin typeface="Calibri" panose="020F0502020204030204" pitchFamily="34" charset="0"/>
                <a:ea typeface="Calibri" panose="020F0502020204030204" pitchFamily="34" charset="0"/>
              </a:rPr>
              <a:t>It is quite hard to decide and you won´t get it right, unless you know exactly who will pick up that task. But forecasting for a whole sprint, who is going to work on which tasks is (under usual circumstances) impossible</a:t>
            </a:r>
            <a:r>
              <a:rPr lang="en-US" sz="2000" dirty="0">
                <a:solidFill>
                  <a:srgbClr val="666666"/>
                </a:solidFill>
                <a:effectLst/>
                <a:latin typeface="Calibri" panose="020F0502020204030204" pitchFamily="34"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marL="0" indent="0">
              <a:buNone/>
            </a:pPr>
            <a:endParaRPr lang="en-US" sz="2000" b="1"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395133637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152401"/>
            <a:ext cx="7326313" cy="914462"/>
          </a:xfrm>
        </p:spPr>
        <p:txBody>
          <a:bodyPr lIns="90488" tIns="44450" rIns="90488" bIns="44450"/>
          <a:lstStyle/>
          <a:p>
            <a:pPr algn="ctr" eaLnBrk="1" hangingPunct="1"/>
            <a:br>
              <a:rPr lang="en-US" sz="3200" dirty="0"/>
            </a:br>
            <a:br>
              <a:rPr lang="en-US" sz="3200" dirty="0"/>
            </a:br>
            <a:r>
              <a:rPr lang="en-US" sz="2800" dirty="0"/>
              <a:t>A story point has a different meaning for each developer</a:t>
            </a:r>
            <a:br>
              <a:rPr lang="en-US" sz="2800" dirty="0"/>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261942" y="1066862"/>
            <a:ext cx="8882058" cy="5181464"/>
          </a:xfrm>
        </p:spPr>
        <p:txBody>
          <a:bodyPr/>
          <a:lstStyle/>
          <a:p>
            <a:pPr marL="0" marR="0" indent="0" fontAlgn="base">
              <a:spcBef>
                <a:spcPts val="0"/>
              </a:spcBef>
              <a:spcAft>
                <a:spcPts val="0"/>
              </a:spcAft>
              <a:buNone/>
            </a:pPr>
            <a:r>
              <a:rPr lang="en-US" sz="2000" dirty="0">
                <a:effectLst/>
                <a:latin typeface="Calibri" panose="020F0502020204030204" pitchFamily="34" charset="0"/>
                <a:ea typeface="Calibri" panose="020F0502020204030204" pitchFamily="34" charset="0"/>
              </a:rPr>
              <a:t>That´s exactly the point where story points are going to help you out. Story points solve the estimation problem of different levels of developer experience. For both developers, the task will be, for instance, 3 story points. But these 3 story points mean something completely </a:t>
            </a:r>
            <a:r>
              <a:rPr lang="en-US" sz="2000" b="1" dirty="0">
                <a:effectLst/>
                <a:latin typeface="Calibri" panose="020F0502020204030204" pitchFamily="34" charset="0"/>
                <a:ea typeface="Calibri" panose="020F0502020204030204" pitchFamily="34" charset="0"/>
              </a:rPr>
              <a:t>different for Fastian than they mean for Slowden</a:t>
            </a:r>
            <a:r>
              <a:rPr lang="en-US" sz="2000" dirty="0">
                <a:effectLst/>
                <a:latin typeface="Calibri" panose="020F0502020204030204" pitchFamily="34" charset="0"/>
                <a:ea typeface="Calibri" panose="020F0502020204030204" pitchFamily="34" charset="0"/>
              </a:rPr>
              <a:t>. Fastian might be able to burn on average around 30 story points per sprint, while Slowden, the less-experienced developer, is able to deliver only a fraction of that. Still, for both of them the task is considered to be 3 story points – and both of them are going to estimate that task as 3 story points. So that´s a big benefit, isn´t it?</a:t>
            </a:r>
          </a:p>
          <a:p>
            <a:pPr marL="0" marR="0" indent="0" fontAlgn="base">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r>
              <a:rPr lang="en-US" sz="2000" dirty="0">
                <a:effectLst/>
                <a:latin typeface="Calibri" panose="020F0502020204030204" pitchFamily="34" charset="0"/>
                <a:ea typeface="Calibri" panose="020F0502020204030204" pitchFamily="34" charset="0"/>
              </a:rPr>
              <a:t>Let´s assume we have another task, which is about double of the size than the previous one. Then Fastian and Slowden will estimate that task as 6 story points (double amount of story points) – so they can agree on the same amount of story points.</a:t>
            </a:r>
          </a:p>
          <a:p>
            <a:pPr marL="0" indent="0">
              <a:spcBef>
                <a:spcPts val="0"/>
              </a:spcBef>
              <a:spcAft>
                <a:spcPts val="0"/>
              </a:spcAft>
              <a:buNone/>
            </a:pPr>
            <a:r>
              <a:rPr lang="en-US" sz="2000" dirty="0">
                <a:effectLst/>
                <a:latin typeface="Calibri" panose="020F0502020204030204" pitchFamily="34" charset="0"/>
                <a:ea typeface="Calibri" panose="020F0502020204030204" pitchFamily="34" charset="0"/>
              </a:rPr>
              <a:t>It does not matter that the bigger task will take Fastian only 4 hours to finish and Slowden requires 16 hours to complete – it is still 6 story points for both of them, because the meaning of a story point is individual per developer.</a:t>
            </a:r>
            <a:endParaRPr lang="en-US" sz="2000" dirty="0">
              <a:effectLst/>
              <a:latin typeface="Times New Roman" panose="02020603050405020304" pitchFamily="18" charset="0"/>
              <a:ea typeface="Times New Roman" panose="02020603050405020304" pitchFamily="18" charset="0"/>
            </a:endParaRPr>
          </a:p>
          <a:p>
            <a:pPr marL="0" marR="0" indent="0" fontAlgn="base">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indent="0">
              <a:buNone/>
            </a:pPr>
            <a:endParaRPr lang="en-US" sz="2000" b="1"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n-US" sz="1600" dirty="0"/>
          </a:p>
        </p:txBody>
      </p:sp>
    </p:spTree>
    <p:extLst>
      <p:ext uri="{BB962C8B-B14F-4D97-AF65-F5344CB8AC3E}">
        <p14:creationId xmlns:p14="http://schemas.microsoft.com/office/powerpoint/2010/main" val="236803263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Absolute Vs Relative Estimation</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p:txBody>
          <a:bodyPr/>
          <a:lstStyle/>
          <a:p>
            <a:r>
              <a:rPr lang="en-US" sz="1800" dirty="0">
                <a:solidFill>
                  <a:srgbClr val="212121"/>
                </a:solidFill>
                <a:effectLst/>
                <a:latin typeface="Arial" panose="020B0604020202020204" pitchFamily="34" charset="0"/>
                <a:ea typeface="Calibri" panose="020F0502020204030204" pitchFamily="34" charset="0"/>
              </a:rPr>
              <a:t>If we ask the amount of liquid in ml. of the glass on your left side in the below picture to the team, the answers should be different, some say 100 ml some will say 150 ml. The answers are different but not accurate.</a:t>
            </a:r>
          </a:p>
          <a:p>
            <a:endParaRPr lang="en-US" sz="1800" dirty="0">
              <a:solidFill>
                <a:srgbClr val="212121"/>
              </a:solidFill>
            </a:endParaRPr>
          </a:p>
          <a:p>
            <a:endParaRPr lang="en-US" sz="1800" dirty="0">
              <a:solidFill>
                <a:srgbClr val="212121"/>
              </a:solidFill>
            </a:endParaRPr>
          </a:p>
          <a:p>
            <a:endParaRPr lang="en-US" sz="1800" dirty="0">
              <a:solidFill>
                <a:srgbClr val="212121"/>
              </a:solidFill>
            </a:endParaRPr>
          </a:p>
          <a:p>
            <a:endParaRPr lang="en-US" sz="1800" dirty="0">
              <a:solidFill>
                <a:srgbClr val="212121"/>
              </a:solidFill>
            </a:endParaRPr>
          </a:p>
          <a:p>
            <a:endParaRPr lang="en-US" sz="1800" dirty="0">
              <a:solidFill>
                <a:srgbClr val="212121"/>
              </a:solidFill>
            </a:endParaRPr>
          </a:p>
          <a:p>
            <a:endParaRPr lang="en-US" sz="1800" dirty="0">
              <a:solidFill>
                <a:srgbClr val="212121"/>
              </a:solidFill>
            </a:endParaRPr>
          </a:p>
          <a:p>
            <a:r>
              <a:rPr lang="en-US" sz="1800" dirty="0">
                <a:solidFill>
                  <a:srgbClr val="212121"/>
                </a:solidFill>
                <a:effectLst/>
                <a:latin typeface="Arial" panose="020B0604020202020204" pitchFamily="34" charset="0"/>
                <a:ea typeface="Calibri" panose="020F0502020204030204" pitchFamily="34" charset="0"/>
              </a:rPr>
              <a:t>Now, we will ask the 2nd question to the team, like which glass has more liquid. The answer of all the team members is - the left side glass has more liquid.</a:t>
            </a:r>
            <a:br>
              <a:rPr lang="en-US" sz="1800" dirty="0">
                <a:solidFill>
                  <a:srgbClr val="212121"/>
                </a:solidFill>
                <a:effectLst/>
                <a:latin typeface="Arial" panose="020B0604020202020204" pitchFamily="34" charset="0"/>
                <a:ea typeface="Calibri" panose="020F0502020204030204" pitchFamily="34" charset="0"/>
              </a:rPr>
            </a:br>
            <a:br>
              <a:rPr lang="en-US" sz="1800" dirty="0">
                <a:solidFill>
                  <a:srgbClr val="212121"/>
                </a:solidFill>
                <a:effectLst/>
                <a:latin typeface="Arial" panose="020B0604020202020204" pitchFamily="34" charset="0"/>
                <a:ea typeface="Calibri" panose="020F0502020204030204" pitchFamily="34" charset="0"/>
              </a:rPr>
            </a:br>
            <a:r>
              <a:rPr lang="en-US" sz="1800" dirty="0">
                <a:solidFill>
                  <a:srgbClr val="212121"/>
                </a:solidFill>
                <a:effectLst/>
                <a:latin typeface="Arial" panose="020B0604020202020204" pitchFamily="34" charset="0"/>
                <a:ea typeface="Calibri" panose="020F0502020204030204" pitchFamily="34" charset="0"/>
              </a:rPr>
              <a:t>That means we are good in estimating relatively.</a:t>
            </a:r>
            <a:br>
              <a:rPr lang="en-US" sz="1800" dirty="0">
                <a:solidFill>
                  <a:srgbClr val="212121"/>
                </a:solidFill>
                <a:effectLst/>
                <a:latin typeface="Arial" panose="020B0604020202020204" pitchFamily="34" charset="0"/>
                <a:ea typeface="Calibri" panose="020F0502020204030204" pitchFamily="34" charset="0"/>
              </a:rPr>
            </a:br>
            <a:br>
              <a:rPr lang="en-US" sz="1800" dirty="0">
                <a:solidFill>
                  <a:srgbClr val="212121"/>
                </a:solidFill>
                <a:effectLst/>
                <a:latin typeface="Arial" panose="020B0604020202020204" pitchFamily="34" charset="0"/>
                <a:ea typeface="Calibri" panose="020F0502020204030204" pitchFamily="34" charset="0"/>
              </a:rPr>
            </a:br>
            <a:endParaRPr lang="en-US" dirty="0"/>
          </a:p>
        </p:txBody>
      </p:sp>
      <p:pic>
        <p:nvPicPr>
          <p:cNvPr id="19" name="Picture 18">
            <a:extLst>
              <a:ext uri="{FF2B5EF4-FFF2-40B4-BE49-F238E27FC236}">
                <a16:creationId xmlns:a16="http://schemas.microsoft.com/office/drawing/2014/main" id="{6BA8A922-12BA-4A33-B3F8-F2810721F586}"/>
              </a:ext>
            </a:extLst>
          </p:cNvPr>
          <p:cNvPicPr/>
          <p:nvPr/>
        </p:nvPicPr>
        <p:blipFill>
          <a:blip r:embed="rId3"/>
          <a:stretch>
            <a:fillRect/>
          </a:stretch>
        </p:blipFill>
        <p:spPr>
          <a:xfrm>
            <a:off x="3571557" y="2363470"/>
            <a:ext cx="1610027" cy="1675114"/>
          </a:xfrm>
          <a:prstGeom prst="rect">
            <a:avLst/>
          </a:prstGeom>
        </p:spPr>
      </p:pic>
    </p:spTree>
    <p:extLst>
      <p:ext uri="{BB962C8B-B14F-4D97-AF65-F5344CB8AC3E}">
        <p14:creationId xmlns:p14="http://schemas.microsoft.com/office/powerpoint/2010/main" val="6866277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76288"/>
            <a:ext cx="7326313" cy="549275"/>
          </a:xfrm>
        </p:spPr>
        <p:txBody>
          <a:bodyPr lIns="90488" tIns="44450" rIns="90488" bIns="44450"/>
          <a:lstStyle/>
          <a:p>
            <a:pPr algn="ctr" eaLnBrk="1" hangingPunct="1"/>
            <a:br>
              <a:rPr lang="en-US" sz="3200" dirty="0"/>
            </a:br>
            <a:r>
              <a:rPr lang="en-US" sz="2800" dirty="0"/>
              <a:t>Absolute Vs Relative Estimation</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76318" y="917559"/>
            <a:ext cx="8991484" cy="5787955"/>
          </a:xfrm>
        </p:spPr>
        <p:txBody>
          <a:bodyPr/>
          <a:lstStyle/>
          <a:p>
            <a:pPr marL="0" marR="0" indent="0">
              <a:lnSpc>
                <a:spcPct val="107000"/>
              </a:lnSpc>
              <a:spcBef>
                <a:spcPts val="0"/>
              </a:spcBef>
              <a:spcAft>
                <a:spcPts val="800"/>
              </a:spcAft>
              <a:buNone/>
            </a:pPr>
            <a:r>
              <a:rPr lang="en-US" sz="2000" dirty="0">
                <a:latin typeface="+mn-lt"/>
                <a:cs typeface="Calibri" panose="020F0502020204030204" pitchFamily="34" charset="0"/>
              </a:rPr>
              <a:t>If you’ve ever experienced traffic in city, you know that the amount of time it should take you to get from place A to place B is subject to a number of forces including traffic, weather, construction, time of day, and the whims of other drivers. It’s a 32-mile distance that could take 41 minutes or 4 hours.</a:t>
            </a:r>
          </a:p>
          <a:p>
            <a:pPr marL="0" marR="0" indent="0">
              <a:spcBef>
                <a:spcPts val="0"/>
              </a:spcBef>
              <a:spcAft>
                <a:spcPts val="2250"/>
              </a:spcAft>
              <a:buNone/>
            </a:pPr>
            <a:r>
              <a:rPr lang="en-US" sz="2000" dirty="0">
                <a:effectLst/>
                <a:latin typeface="Calibri" panose="020F0502020204030204" pitchFamily="34" charset="0"/>
                <a:ea typeface="Calibri" panose="020F0502020204030204" pitchFamily="34" charset="0"/>
              </a:rPr>
              <a:t>A Story Point is </a:t>
            </a:r>
            <a:r>
              <a:rPr lang="en-US" sz="2000" b="1" dirty="0">
                <a:effectLst/>
                <a:latin typeface="Calibri" panose="020F0502020204030204" pitchFamily="34" charset="0"/>
                <a:ea typeface="Calibri" panose="020F0502020204030204" pitchFamily="34" charset="0"/>
              </a:rPr>
              <a:t>a unit of measurement of the overall effort needed to complete specific requirements of a product backlog item</a:t>
            </a:r>
            <a:r>
              <a:rPr lang="en-US" sz="2000" dirty="0">
                <a:effectLst/>
                <a:latin typeface="Calibri" panose="020F0502020204030204" pitchFamily="34" charset="0"/>
                <a:ea typeface="Calibri" panose="020F0502020204030204" pitchFamily="34" charset="0"/>
              </a:rPr>
              <a:t>. When we have our product backlog ready and when a team is ready for next sprint, they pull the priority user stories from the product backlog and start estimation for completing the user stories. </a:t>
            </a:r>
          </a:p>
          <a:p>
            <a:pPr marL="0" marR="0" indent="0">
              <a:spcBef>
                <a:spcPts val="0"/>
              </a:spcBef>
              <a:spcAft>
                <a:spcPts val="2250"/>
              </a:spcAft>
              <a:buNone/>
            </a:pPr>
            <a:r>
              <a:rPr lang="en-US" sz="2000" dirty="0">
                <a:effectLst/>
                <a:latin typeface="Calibri" panose="020F0502020204030204" pitchFamily="34" charset="0"/>
                <a:ea typeface="Calibri" panose="020F0502020204030204" pitchFamily="34" charset="0"/>
              </a:rPr>
              <a:t>Unlike the specific measurement of time, such as a man hour or developer day, story points are abstracts. These units of measure represent relative whole team effort but keep time out of the equation. You can even give points another naming. </a:t>
            </a:r>
            <a:r>
              <a:rPr lang="en-US" sz="2000" b="1" dirty="0">
                <a:latin typeface="+mn-lt"/>
                <a:cs typeface="Calibri" panose="020F0502020204030204" pitchFamily="34" charset="0"/>
              </a:rPr>
              <a:t>Risk</a:t>
            </a:r>
            <a:r>
              <a:rPr lang="en-US" sz="2000" dirty="0">
                <a:latin typeface="+mn-lt"/>
                <a:cs typeface="Calibri" panose="020F0502020204030204" pitchFamily="34" charset="0"/>
              </a:rPr>
              <a:t>: The risk of a particular project or item includes vague demands, dependence on a third party, or changes mid-task. </a:t>
            </a:r>
            <a:r>
              <a:rPr lang="en-US" sz="2000" b="1" dirty="0">
                <a:latin typeface="+mn-lt"/>
                <a:cs typeface="Calibri" panose="020F0502020204030204" pitchFamily="34" charset="0"/>
              </a:rPr>
              <a:t>Complexity</a:t>
            </a:r>
            <a:r>
              <a:rPr lang="en-US" sz="2000" dirty="0">
                <a:latin typeface="+mn-lt"/>
                <a:cs typeface="Calibri" panose="020F0502020204030204" pitchFamily="34" charset="0"/>
              </a:rPr>
              <a:t>: This component is determined by how difficult the feature is to develop. </a:t>
            </a:r>
            <a:r>
              <a:rPr lang="en-US" sz="2000" b="1" dirty="0">
                <a:latin typeface="+mn-lt"/>
                <a:cs typeface="Calibri" panose="020F0502020204030204" pitchFamily="34" charset="0"/>
              </a:rPr>
              <a:t>Repetition:</a:t>
            </a:r>
            <a:r>
              <a:rPr lang="en-US" sz="2000" dirty="0">
                <a:latin typeface="+mn-lt"/>
                <a:cs typeface="Calibri" panose="020F0502020204030204" pitchFamily="34" charset="0"/>
              </a:rPr>
              <a:t> This component is determined by how familiar the team member is with the feature and how monotonous certain tasks are within development.</a:t>
            </a:r>
          </a:p>
          <a:p>
            <a:pPr marL="0" indent="0">
              <a:buNone/>
            </a:pPr>
            <a:br>
              <a:rPr lang="en-US" sz="2000" dirty="0">
                <a:solidFill>
                  <a:srgbClr val="212121"/>
                </a:solidFill>
                <a:effectLst/>
                <a:latin typeface="+mn-lt"/>
                <a:ea typeface="Calibri" panose="020F0502020204030204" pitchFamily="34" charset="0"/>
              </a:rPr>
            </a:br>
            <a:endParaRPr lang="en-US" sz="2000" dirty="0">
              <a:latin typeface="+mn-lt"/>
            </a:endParaRPr>
          </a:p>
        </p:txBody>
      </p:sp>
    </p:spTree>
    <p:extLst>
      <p:ext uri="{BB962C8B-B14F-4D97-AF65-F5344CB8AC3E}">
        <p14:creationId xmlns:p14="http://schemas.microsoft.com/office/powerpoint/2010/main" val="241651423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How to Estimate with Story Points in Agile</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p:txBody>
          <a:bodyPr/>
          <a:lstStyle/>
          <a:p>
            <a:pPr marL="0" marR="0" indent="0">
              <a:lnSpc>
                <a:spcPct val="107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Calibri" panose="020F0502020204030204" pitchFamily="34" charset="0"/>
              </a:rPr>
              <a:t>Step1</a:t>
            </a:r>
            <a:r>
              <a:rPr lang="en-US" sz="1800" dirty="0">
                <a:effectLst/>
                <a:latin typeface="Calibri" panose="020F0502020204030204" pitchFamily="34" charset="0"/>
                <a:ea typeface="Calibri" panose="020F0502020204030204" pitchFamily="34" charset="0"/>
                <a:cs typeface="Calibri" panose="020F0502020204030204" pitchFamily="34" charset="0"/>
              </a:rPr>
              <a:t>: Identify a Base Story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1800" dirty="0">
                <a:effectLst/>
                <a:latin typeface="Calibri" panose="020F0502020204030204" pitchFamily="34" charset="0"/>
                <a:ea typeface="Calibri" panose="020F0502020204030204" pitchFamily="34" charset="0"/>
                <a:cs typeface="Calibri" panose="020F0502020204030204" pitchFamily="34" charset="0"/>
              </a:rPr>
              <a:t>Story Points in agile are a complex unit that includes three elements: risk, complexity and repetition.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2" name="Picture 1">
            <a:extLst>
              <a:ext uri="{FF2B5EF4-FFF2-40B4-BE49-F238E27FC236}">
                <a16:creationId xmlns:a16="http://schemas.microsoft.com/office/drawing/2014/main" id="{5BD083E2-D5AA-422E-AC6C-3245B1BBA868}"/>
              </a:ext>
            </a:extLst>
          </p:cNvPr>
          <p:cNvPicPr/>
          <p:nvPr/>
        </p:nvPicPr>
        <p:blipFill>
          <a:blip r:embed="rId3"/>
          <a:stretch>
            <a:fillRect/>
          </a:stretch>
        </p:blipFill>
        <p:spPr>
          <a:xfrm>
            <a:off x="381110" y="2514550"/>
            <a:ext cx="7543602" cy="3809974"/>
          </a:xfrm>
          <a:prstGeom prst="rect">
            <a:avLst/>
          </a:prstGeom>
        </p:spPr>
      </p:pic>
    </p:spTree>
    <p:extLst>
      <p:ext uri="{BB962C8B-B14F-4D97-AF65-F5344CB8AC3E}">
        <p14:creationId xmlns:p14="http://schemas.microsoft.com/office/powerpoint/2010/main" val="177777092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Poker Estimation For Sprint Planning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914466"/>
            <a:ext cx="8500948" cy="5486256"/>
          </a:xfrm>
        </p:spPr>
        <p:txBody>
          <a:bodyPr/>
          <a:lstStyle/>
          <a:p>
            <a:pPr marL="0" marR="0" indent="0">
              <a:lnSpc>
                <a:spcPct val="107000"/>
              </a:lnSpc>
              <a:spcBef>
                <a:spcPts val="0"/>
              </a:spcBef>
              <a:spcAft>
                <a:spcPts val="800"/>
              </a:spcAft>
              <a:buNone/>
            </a:pPr>
            <a:r>
              <a:rPr lang="en-US" sz="2000" b="1" dirty="0">
                <a:effectLst/>
                <a:latin typeface="+mn-lt"/>
                <a:ea typeface="Calibri" panose="020F0502020204030204" pitchFamily="34" charset="0"/>
                <a:cs typeface="Calibri" panose="020F0502020204030204" pitchFamily="34" charset="0"/>
              </a:rPr>
              <a:t>Step 1: </a:t>
            </a:r>
            <a:r>
              <a:rPr lang="en-US" sz="2000" b="0" i="0" dirty="0">
                <a:solidFill>
                  <a:srgbClr val="585858"/>
                </a:solidFill>
                <a:effectLst/>
                <a:latin typeface="+mn-lt"/>
              </a:rPr>
              <a:t>The Product Owner provides a short overview. The team is given an opportunity to ask questions. Product Owner describes his requirements and what is the desired functionality regarding the item that will be estimated. If there will be any questions from the Development Team or if there are any unclear points about the item, these are answered and clarified by the Product Owner to ensure healthy estimation.</a:t>
            </a:r>
            <a:br>
              <a:rPr lang="en-US" sz="2000" b="0" i="0" dirty="0">
                <a:solidFill>
                  <a:srgbClr val="585858"/>
                </a:solidFill>
                <a:effectLst/>
                <a:latin typeface="+mn-lt"/>
              </a:rPr>
            </a:br>
            <a:endParaRPr lang="en-US" sz="2000" b="0" i="0" dirty="0">
              <a:solidFill>
                <a:srgbClr val="585858"/>
              </a:solidFill>
              <a:effectLst/>
              <a:latin typeface="+mn-lt"/>
            </a:endParaRPr>
          </a:p>
          <a:p>
            <a:pPr marL="0" indent="0" algn="l">
              <a:buNone/>
            </a:pPr>
            <a:r>
              <a:rPr lang="en-US" sz="2000" b="0" i="0" dirty="0">
                <a:solidFill>
                  <a:srgbClr val="585858"/>
                </a:solidFill>
                <a:effectLst/>
                <a:latin typeface="+mn-lt"/>
              </a:rPr>
              <a:t>After the Product Owner described the item and cleared out the questions, each individual lays a card face down representing their estimate. Based on the explained item, each Development Team members makes an estimate, chooses the card that represents his estimate. But not shows it immediately.</a:t>
            </a:r>
          </a:p>
          <a:p>
            <a:pPr marL="0" indent="0" algn="l">
              <a:buNone/>
            </a:pPr>
            <a:r>
              <a:rPr lang="en-US" sz="2000" b="0" i="0" dirty="0">
                <a:solidFill>
                  <a:srgbClr val="585858"/>
                </a:solidFill>
                <a:effectLst/>
                <a:latin typeface="+mn-lt"/>
              </a:rPr>
              <a:t>After each Development Team member finishes his estimates everyone calls their cards simultaneously by turning them over. This is done to prevent the Development Team members to affect each other’s estimate.</a:t>
            </a:r>
          </a:p>
          <a:p>
            <a:pPr marL="0" indent="0">
              <a:buNone/>
            </a:pPr>
            <a:endParaRPr lang="en-US" dirty="0"/>
          </a:p>
        </p:txBody>
      </p:sp>
    </p:spTree>
    <p:extLst>
      <p:ext uri="{BB962C8B-B14F-4D97-AF65-F5344CB8AC3E}">
        <p14:creationId xmlns:p14="http://schemas.microsoft.com/office/powerpoint/2010/main" val="85103291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Poker Estimation For Sprint Planning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4" name="Picture 3">
            <a:extLst>
              <a:ext uri="{FF2B5EF4-FFF2-40B4-BE49-F238E27FC236}">
                <a16:creationId xmlns:a16="http://schemas.microsoft.com/office/drawing/2014/main" id="{7FA00AE7-85C4-4758-ADF7-47B2C95F3619}"/>
              </a:ext>
            </a:extLst>
          </p:cNvPr>
          <p:cNvPicPr>
            <a:picLocks noChangeAspect="1"/>
          </p:cNvPicPr>
          <p:nvPr/>
        </p:nvPicPr>
        <p:blipFill>
          <a:blip r:embed="rId3"/>
          <a:stretch>
            <a:fillRect/>
          </a:stretch>
        </p:blipFill>
        <p:spPr>
          <a:xfrm>
            <a:off x="152516" y="1435218"/>
            <a:ext cx="8810966" cy="3974930"/>
          </a:xfrm>
          <a:prstGeom prst="rect">
            <a:avLst/>
          </a:prstGeom>
        </p:spPr>
      </p:pic>
    </p:spTree>
    <p:extLst>
      <p:ext uri="{BB962C8B-B14F-4D97-AF65-F5344CB8AC3E}">
        <p14:creationId xmlns:p14="http://schemas.microsoft.com/office/powerpoint/2010/main" val="194319912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Poker Estimation For Sprint Planning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762070"/>
            <a:ext cx="8424750" cy="5486256"/>
          </a:xfrm>
        </p:spPr>
        <p:txBody>
          <a:bodyPr/>
          <a:lstStyle/>
          <a:p>
            <a:pPr marL="0" marR="0" indent="0">
              <a:lnSpc>
                <a:spcPct val="107000"/>
              </a:lnSpc>
              <a:spcBef>
                <a:spcPts val="0"/>
              </a:spcBef>
              <a:spcAft>
                <a:spcPts val="800"/>
              </a:spcAft>
              <a:buNone/>
            </a:pPr>
            <a:r>
              <a:rPr lang="en-US" sz="2000" b="1" dirty="0">
                <a:effectLst/>
                <a:latin typeface="Calibri" panose="020F0502020204030204" pitchFamily="34" charset="0"/>
                <a:ea typeface="Calibri" panose="020F0502020204030204" pitchFamily="34" charset="0"/>
                <a:cs typeface="Calibri" panose="020F0502020204030204" pitchFamily="34" charset="0"/>
              </a:rPr>
              <a:t>Step 2: </a:t>
            </a:r>
            <a:r>
              <a:rPr lang="en-US" sz="2000" b="0" i="0" dirty="0">
                <a:solidFill>
                  <a:srgbClr val="585858"/>
                </a:solidFill>
                <a:effectLst/>
                <a:latin typeface="+mn-lt"/>
              </a:rPr>
              <a:t>After the estimations are presented, people with high estimates and low estimates are given a soap box to offer their justification for their estimate and then discussion continues. Because, if there is a big gap in estimation, then either the item needs to be clarified more or the development team members approach the task from different perspectives. In either case, situation must be clarified, and estimations must be closer.</a:t>
            </a:r>
          </a:p>
          <a:p>
            <a:pPr marL="0" marR="0" indent="0">
              <a:lnSpc>
                <a:spcPct val="107000"/>
              </a:lnSpc>
              <a:spcBef>
                <a:spcPts val="0"/>
              </a:spcBef>
              <a:spcAft>
                <a:spcPts val="800"/>
              </a:spcAft>
              <a:buNone/>
            </a:pPr>
            <a:r>
              <a:rPr lang="en-US" sz="2000" b="0" i="0" dirty="0">
                <a:solidFill>
                  <a:srgbClr val="585858"/>
                </a:solidFill>
                <a:effectLst/>
                <a:latin typeface="+mn-lt"/>
              </a:rPr>
              <a:t>Estimation process is repeated for the item, until a reasonable consensus is reached. Here consensus means, majority of the team will estimate the same card, and other developers should not deviate too much from the estimation of the majority.</a:t>
            </a:r>
          </a:p>
          <a:p>
            <a:pPr marL="0" marR="0" indent="0">
              <a:lnSpc>
                <a:spcPct val="107000"/>
              </a:lnSpc>
              <a:spcBef>
                <a:spcPts val="0"/>
              </a:spcBef>
              <a:spcAft>
                <a:spcPts val="800"/>
              </a:spcAft>
              <a:buNone/>
            </a:pPr>
            <a:r>
              <a:rPr lang="en-US" sz="2000" b="0" i="0" dirty="0">
                <a:solidFill>
                  <a:srgbClr val="585858"/>
                </a:solidFill>
                <a:effectLst/>
                <a:latin typeface="+mn-lt"/>
              </a:rPr>
              <a:t>As you see, for this Scrum Planning Poker, Developer 1 estimates "3", Developer 2 estimates "13", Developer 3 estimates "20", Developer 4 estimates "8" and Developer 5 estimates "5". There is a big divergence here. Especially Developer 1 and Developer 3 estimated the lowest and highest values respectively. They need to discuss what they considered about the story and justify their estimation during discussion.</a:t>
            </a:r>
            <a:endParaRPr lang="en-US" dirty="0"/>
          </a:p>
        </p:txBody>
      </p:sp>
    </p:spTree>
    <p:extLst>
      <p:ext uri="{BB962C8B-B14F-4D97-AF65-F5344CB8AC3E}">
        <p14:creationId xmlns:p14="http://schemas.microsoft.com/office/powerpoint/2010/main" val="309472031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Poker Estimation For Sprint Planning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5" name="Picture 4">
            <a:extLst>
              <a:ext uri="{FF2B5EF4-FFF2-40B4-BE49-F238E27FC236}">
                <a16:creationId xmlns:a16="http://schemas.microsoft.com/office/drawing/2014/main" id="{BE6D5003-0351-41CE-B647-2E9AA50B1866}"/>
              </a:ext>
            </a:extLst>
          </p:cNvPr>
          <p:cNvPicPr>
            <a:picLocks noChangeAspect="1"/>
          </p:cNvPicPr>
          <p:nvPr/>
        </p:nvPicPr>
        <p:blipFill>
          <a:blip r:embed="rId3"/>
          <a:stretch>
            <a:fillRect/>
          </a:stretch>
        </p:blipFill>
        <p:spPr>
          <a:xfrm>
            <a:off x="152396" y="1405064"/>
            <a:ext cx="8839088" cy="4462272"/>
          </a:xfrm>
          <a:prstGeom prst="rect">
            <a:avLst/>
          </a:prstGeom>
        </p:spPr>
      </p:pic>
    </p:spTree>
    <p:extLst>
      <p:ext uri="{BB962C8B-B14F-4D97-AF65-F5344CB8AC3E}">
        <p14:creationId xmlns:p14="http://schemas.microsoft.com/office/powerpoint/2010/main" val="39608996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Poker Estimation For Sprint Planning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762070"/>
            <a:ext cx="8272354" cy="5486256"/>
          </a:xfrm>
        </p:spPr>
        <p:txBody>
          <a:bodyPr/>
          <a:lstStyle/>
          <a:p>
            <a:pPr marL="0" marR="0" indent="0">
              <a:lnSpc>
                <a:spcPct val="107000"/>
              </a:lnSpc>
              <a:spcBef>
                <a:spcPts val="0"/>
              </a:spcBef>
              <a:spcAft>
                <a:spcPts val="800"/>
              </a:spcAft>
              <a:buNone/>
            </a:pPr>
            <a:r>
              <a:rPr lang="en-US" sz="2000" b="1" dirty="0">
                <a:effectLst/>
                <a:latin typeface="+mn-lt"/>
                <a:ea typeface="Calibri" panose="020F0502020204030204" pitchFamily="34" charset="0"/>
                <a:cs typeface="Calibri" panose="020F0502020204030204" pitchFamily="34" charset="0"/>
              </a:rPr>
              <a:t>Step 3: </a:t>
            </a:r>
            <a:r>
              <a:rPr lang="en-US" sz="2000" b="0" i="0" dirty="0">
                <a:solidFill>
                  <a:srgbClr val="585858"/>
                </a:solidFill>
                <a:effectLst/>
                <a:latin typeface="+mn-lt"/>
              </a:rPr>
              <a:t>During discussion, Developer 1 realizes that he missed a part of the task that needs to be developed. And Developer 3 understands that with the help of an existing design, story can require less effort. Discussion must end in 3minutes. and another estimation is done by the developers for the same story.</a:t>
            </a:r>
          </a:p>
          <a:p>
            <a:pPr marL="0" marR="0" indent="0">
              <a:lnSpc>
                <a:spcPct val="107000"/>
              </a:lnSpc>
              <a:spcBef>
                <a:spcPts val="0"/>
              </a:spcBef>
              <a:spcAft>
                <a:spcPts val="800"/>
              </a:spcAft>
              <a:buNone/>
            </a:pPr>
            <a:endParaRPr lang="en-US" sz="2000" dirty="0">
              <a:latin typeface="+mn-lt"/>
            </a:endParaRPr>
          </a:p>
        </p:txBody>
      </p:sp>
      <p:pic>
        <p:nvPicPr>
          <p:cNvPr id="4" name="Picture 3">
            <a:extLst>
              <a:ext uri="{FF2B5EF4-FFF2-40B4-BE49-F238E27FC236}">
                <a16:creationId xmlns:a16="http://schemas.microsoft.com/office/drawing/2014/main" id="{C97B15EB-92DF-4A8F-A710-11DF2AA489FF}"/>
              </a:ext>
            </a:extLst>
          </p:cNvPr>
          <p:cNvPicPr>
            <a:picLocks noChangeAspect="1"/>
          </p:cNvPicPr>
          <p:nvPr/>
        </p:nvPicPr>
        <p:blipFill>
          <a:blip r:embed="rId3"/>
          <a:stretch>
            <a:fillRect/>
          </a:stretch>
        </p:blipFill>
        <p:spPr>
          <a:xfrm>
            <a:off x="228714" y="2604335"/>
            <a:ext cx="8262824" cy="3518550"/>
          </a:xfrm>
          <a:prstGeom prst="rect">
            <a:avLst/>
          </a:prstGeom>
        </p:spPr>
      </p:pic>
    </p:spTree>
    <p:extLst>
      <p:ext uri="{BB962C8B-B14F-4D97-AF65-F5344CB8AC3E}">
        <p14:creationId xmlns:p14="http://schemas.microsoft.com/office/powerpoint/2010/main" val="304502801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Poker Estimation For Sprint Planning</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762070"/>
            <a:ext cx="8272354" cy="5486256"/>
          </a:xfrm>
        </p:spPr>
        <p:txBody>
          <a:bodyPr/>
          <a:lstStyle/>
          <a:p>
            <a:pPr marL="0" marR="0" indent="0">
              <a:lnSpc>
                <a:spcPct val="107000"/>
              </a:lnSpc>
              <a:spcBef>
                <a:spcPts val="0"/>
              </a:spcBef>
              <a:spcAft>
                <a:spcPts val="800"/>
              </a:spcAft>
              <a:buNone/>
            </a:pPr>
            <a:r>
              <a:rPr lang="en-US" sz="2000" b="1" dirty="0">
                <a:effectLst/>
                <a:latin typeface="Calibri" panose="020F0502020204030204" pitchFamily="34" charset="0"/>
                <a:ea typeface="Calibri" panose="020F0502020204030204" pitchFamily="34" charset="0"/>
                <a:cs typeface="Calibri" panose="020F0502020204030204" pitchFamily="34" charset="0"/>
              </a:rPr>
              <a:t>Step 4: </a:t>
            </a:r>
            <a:r>
              <a:rPr lang="en-US" sz="2000" b="0" i="0" dirty="0">
                <a:solidFill>
                  <a:srgbClr val="585858"/>
                </a:solidFill>
                <a:effectLst/>
                <a:latin typeface="+mn-lt"/>
              </a:rPr>
              <a:t>As you see, three of the developers estimated "5", one developer estimated "3" and one developer estimated "8". But this is more convergent estimation compared to first estimation and majority of the developers estimated the story as "5". So, this story is estimated as "5" and planned in the sprint and estimation process starts again for the next story.</a:t>
            </a:r>
            <a:endParaRPr lang="en-US" dirty="0"/>
          </a:p>
        </p:txBody>
      </p:sp>
    </p:spTree>
    <p:extLst>
      <p:ext uri="{BB962C8B-B14F-4D97-AF65-F5344CB8AC3E}">
        <p14:creationId xmlns:p14="http://schemas.microsoft.com/office/powerpoint/2010/main" val="33275150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What are the benefits of User Story Points</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143060"/>
            <a:ext cx="8272354" cy="5486256"/>
          </a:xfrm>
        </p:spPr>
        <p:txBody>
          <a:bodyPr/>
          <a:lstStyle/>
          <a:p>
            <a:pPr marL="0" marR="0" indent="0">
              <a:lnSpc>
                <a:spcPct val="107000"/>
              </a:lnSpc>
              <a:spcBef>
                <a:spcPts val="0"/>
              </a:spcBef>
              <a:spcAft>
                <a:spcPts val="800"/>
              </a:spcAft>
              <a:buNone/>
            </a:pPr>
            <a:r>
              <a:rPr lang="en-US" sz="2000" b="1" dirty="0">
                <a:effectLst/>
                <a:latin typeface="Calibri" panose="020F0502020204030204" pitchFamily="34" charset="0"/>
                <a:ea typeface="Calibri" panose="020F0502020204030204" pitchFamily="34" charset="0"/>
                <a:cs typeface="Calibri" panose="020F0502020204030204" pitchFamily="34" charset="0"/>
              </a:rPr>
              <a:t>Quickly estimate issues</a:t>
            </a:r>
            <a:r>
              <a:rPr lang="en-US" sz="2000" dirty="0">
                <a:effectLst/>
                <a:latin typeface="Calibri" panose="020F0502020204030204" pitchFamily="34" charset="0"/>
                <a:ea typeface="Calibri" panose="020F0502020204030204" pitchFamily="34" charset="0"/>
                <a:cs typeface="Calibri" panose="020F0502020204030204" pitchFamily="34" charset="0"/>
              </a:rPr>
              <a:t>. Estimation is relative to already completed Product Backlog Items. This is faster than estimating without any reference.</a:t>
            </a:r>
          </a:p>
          <a:p>
            <a:pPr marL="0" marR="0" indent="0">
              <a:lnSpc>
                <a:spcPct val="107000"/>
              </a:lnSpc>
              <a:spcBef>
                <a:spcPts val="0"/>
              </a:spcBef>
              <a:spcAft>
                <a:spcPts val="800"/>
              </a:spcAft>
              <a:buNone/>
            </a:pPr>
            <a:r>
              <a:rPr lang="en-US" sz="2000" b="1" dirty="0">
                <a:effectLst/>
                <a:latin typeface="Calibri" panose="020F0502020204030204" pitchFamily="34" charset="0"/>
                <a:ea typeface="Calibri" panose="020F0502020204030204" pitchFamily="34" charset="0"/>
                <a:cs typeface="Calibri" panose="020F0502020204030204" pitchFamily="34" charset="0"/>
              </a:rPr>
              <a:t>Estimate without giving a specific time commitment.</a:t>
            </a:r>
            <a:r>
              <a:rPr lang="en-US" sz="2000" dirty="0">
                <a:effectLst/>
                <a:latin typeface="Calibri" panose="020F0502020204030204" pitchFamily="34" charset="0"/>
                <a:ea typeface="Calibri" panose="020F0502020204030204" pitchFamily="34" charset="0"/>
                <a:cs typeface="Calibri" panose="020F0502020204030204" pitchFamily="34" charset="0"/>
              </a:rPr>
              <a:t> When estimating in hours, you make a precise time commitment. Estimating in Story Points prevents giving an exact commitment. Nobody knows exactly how many hours you are appointing to a specific issue.</a:t>
            </a:r>
          </a:p>
          <a:p>
            <a:pPr marL="0" marR="0" indent="0">
              <a:lnSpc>
                <a:spcPct val="107000"/>
              </a:lnSpc>
              <a:spcBef>
                <a:spcPts val="0"/>
              </a:spcBef>
              <a:spcAft>
                <a:spcPts val="800"/>
              </a:spcAft>
              <a:buNone/>
            </a:pPr>
            <a:r>
              <a:rPr lang="en-US" sz="2000" b="1" dirty="0">
                <a:effectLst/>
                <a:latin typeface="Calibri" panose="020F0502020204030204" pitchFamily="34" charset="0"/>
                <a:ea typeface="Calibri" panose="020F0502020204030204" pitchFamily="34" charset="0"/>
                <a:cs typeface="Calibri" panose="020F0502020204030204" pitchFamily="34" charset="0"/>
              </a:rPr>
              <a:t>Embrace the uncertainty that comes with estimation.</a:t>
            </a:r>
            <a:r>
              <a:rPr lang="en-US" sz="2000" dirty="0">
                <a:effectLst/>
                <a:latin typeface="Calibri" panose="020F0502020204030204" pitchFamily="34" charset="0"/>
                <a:ea typeface="Calibri" panose="020F0502020204030204" pitchFamily="34" charset="0"/>
                <a:cs typeface="Calibri" panose="020F0502020204030204" pitchFamily="34" charset="0"/>
              </a:rPr>
              <a:t> Story Points specify an unknown time range. Selecting from a specific Fibonacci-like sequence of Story Points allows us to capture uncertainty.</a:t>
            </a:r>
          </a:p>
          <a:p>
            <a:pPr marL="0" marR="0" indent="0">
              <a:lnSpc>
                <a:spcPct val="107000"/>
              </a:lnSpc>
              <a:spcBef>
                <a:spcPts val="0"/>
              </a:spcBef>
              <a:spcAft>
                <a:spcPts val="800"/>
              </a:spcAft>
              <a:buNone/>
            </a:pPr>
            <a:r>
              <a:rPr lang="en-US" sz="2000" b="1" dirty="0">
                <a:effectLst/>
                <a:latin typeface="Calibri" panose="020F0502020204030204" pitchFamily="34" charset="0"/>
                <a:ea typeface="Calibri" panose="020F0502020204030204" pitchFamily="34" charset="0"/>
                <a:cs typeface="Calibri" panose="020F0502020204030204" pitchFamily="34" charset="0"/>
              </a:rPr>
              <a:t>Accurate enough to plan Sprints ahead.</a:t>
            </a:r>
            <a:r>
              <a:rPr lang="en-US" sz="2000" dirty="0">
                <a:effectLst/>
                <a:latin typeface="Calibri" panose="020F0502020204030204" pitchFamily="34" charset="0"/>
                <a:ea typeface="Calibri" panose="020F0502020204030204" pitchFamily="34" charset="0"/>
                <a:cs typeface="Calibri" panose="020F0502020204030204" pitchFamily="34" charset="0"/>
              </a:rPr>
              <a:t> This allows us to better manage the time expectations of stakeholders for future work.</a:t>
            </a:r>
          </a:p>
          <a:p>
            <a:pPr marL="0" marR="0" indent="0">
              <a:lnSpc>
                <a:spcPct val="107000"/>
              </a:lnSpc>
              <a:spcBef>
                <a:spcPts val="0"/>
              </a:spcBef>
              <a:spcAft>
                <a:spcPts val="800"/>
              </a:spcAft>
              <a:buNone/>
            </a:pPr>
            <a:r>
              <a:rPr lang="en-US" sz="2000" i="0" dirty="0">
                <a:solidFill>
                  <a:srgbClr val="585858"/>
                </a:solidFill>
                <a:effectLst/>
                <a:latin typeface="+mn-lt"/>
              </a:rPr>
              <a:t>.</a:t>
            </a:r>
            <a:endParaRPr lang="en-US" dirty="0"/>
          </a:p>
        </p:txBody>
      </p:sp>
    </p:spTree>
    <p:extLst>
      <p:ext uri="{BB962C8B-B14F-4D97-AF65-F5344CB8AC3E}">
        <p14:creationId xmlns:p14="http://schemas.microsoft.com/office/powerpoint/2010/main" val="307033426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Velocity is the key Metric in Scrum</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2088B6A0-1C18-4784-860A-9EB05A726A60}"/>
              </a:ext>
            </a:extLst>
          </p:cNvPr>
          <p:cNvPicPr/>
          <p:nvPr/>
        </p:nvPicPr>
        <p:blipFill>
          <a:blip r:embed="rId3"/>
          <a:stretch>
            <a:fillRect/>
          </a:stretch>
        </p:blipFill>
        <p:spPr>
          <a:xfrm>
            <a:off x="533506" y="1295456"/>
            <a:ext cx="7958031" cy="4495681"/>
          </a:xfrm>
          <a:prstGeom prst="rect">
            <a:avLst/>
          </a:prstGeom>
        </p:spPr>
      </p:pic>
    </p:spTree>
    <p:extLst>
      <p:ext uri="{BB962C8B-B14F-4D97-AF65-F5344CB8AC3E}">
        <p14:creationId xmlns:p14="http://schemas.microsoft.com/office/powerpoint/2010/main" val="2971977292"/>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Velocity</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0" y="1143060"/>
            <a:ext cx="8991484" cy="5105340"/>
          </a:xfrm>
        </p:spPr>
        <p:txBody>
          <a:bodyPr/>
          <a:lstStyle/>
          <a:p>
            <a:pPr marL="0" marR="0" indent="0">
              <a:lnSpc>
                <a:spcPct val="107000"/>
              </a:lnSpc>
              <a:spcBef>
                <a:spcPts val="0"/>
              </a:spcBef>
              <a:spcAft>
                <a:spcPts val="800"/>
              </a:spcAft>
              <a:buNone/>
            </a:pPr>
            <a:endParaRPr lang="en-US" sz="2000" i="0" dirty="0">
              <a:solidFill>
                <a:srgbClr val="585858"/>
              </a:solidFill>
              <a:effectLst/>
              <a:latin typeface="+mn-lt"/>
            </a:endParaRPr>
          </a:p>
          <a:p>
            <a:pPr marL="0" marR="0" indent="0">
              <a:lnSpc>
                <a:spcPct val="107000"/>
              </a:lnSpc>
              <a:spcBef>
                <a:spcPts val="0"/>
              </a:spcBef>
              <a:spcAft>
                <a:spcPts val="800"/>
              </a:spcAft>
              <a:buNone/>
            </a:pPr>
            <a:r>
              <a:rPr lang="en-US" sz="2000" i="0" dirty="0">
                <a:solidFill>
                  <a:srgbClr val="585858"/>
                </a:solidFill>
                <a:effectLst/>
                <a:latin typeface="+mn-lt"/>
              </a:rPr>
              <a:t>There are certain questions that usually surface in almost every project regardless of the type, domain considered, technology used, complexities associated, or strategic significance. These questions are:</a:t>
            </a:r>
          </a:p>
          <a:p>
            <a:pPr>
              <a:lnSpc>
                <a:spcPct val="107000"/>
              </a:lnSpc>
              <a:spcBef>
                <a:spcPts val="0"/>
              </a:spcBef>
              <a:spcAft>
                <a:spcPts val="800"/>
              </a:spcAft>
            </a:pPr>
            <a:r>
              <a:rPr lang="en-US" sz="2000" b="1" i="0" dirty="0">
                <a:solidFill>
                  <a:srgbClr val="585858"/>
                </a:solidFill>
                <a:effectLst/>
                <a:latin typeface="+mn-lt"/>
              </a:rPr>
              <a:t>When</a:t>
            </a:r>
            <a:r>
              <a:rPr lang="en-US" sz="2000" i="0" dirty="0">
                <a:solidFill>
                  <a:srgbClr val="585858"/>
                </a:solidFill>
                <a:effectLst/>
                <a:latin typeface="+mn-lt"/>
              </a:rPr>
              <a:t> will the project be completed?</a:t>
            </a:r>
          </a:p>
          <a:p>
            <a:pPr>
              <a:lnSpc>
                <a:spcPct val="107000"/>
              </a:lnSpc>
              <a:spcBef>
                <a:spcPts val="0"/>
              </a:spcBef>
              <a:spcAft>
                <a:spcPts val="800"/>
              </a:spcAft>
            </a:pPr>
            <a:r>
              <a:rPr lang="en-US" sz="2000" b="1" i="0" dirty="0">
                <a:solidFill>
                  <a:srgbClr val="585858"/>
                </a:solidFill>
                <a:effectLst/>
                <a:latin typeface="+mn-lt"/>
              </a:rPr>
              <a:t>What </a:t>
            </a:r>
            <a:r>
              <a:rPr lang="en-US" sz="2000" i="0" dirty="0">
                <a:solidFill>
                  <a:srgbClr val="585858"/>
                </a:solidFill>
                <a:effectLst/>
                <a:latin typeface="+mn-lt"/>
              </a:rPr>
              <a:t>are the items you can deliver by the end of the project?</a:t>
            </a:r>
          </a:p>
          <a:p>
            <a:pPr>
              <a:lnSpc>
                <a:spcPct val="107000"/>
              </a:lnSpc>
              <a:spcBef>
                <a:spcPts val="0"/>
              </a:spcBef>
              <a:spcAft>
                <a:spcPts val="800"/>
              </a:spcAft>
            </a:pPr>
            <a:r>
              <a:rPr lang="en-US" sz="2000" b="1" i="0" dirty="0">
                <a:solidFill>
                  <a:srgbClr val="585858"/>
                </a:solidFill>
                <a:effectLst/>
                <a:latin typeface="+mn-lt"/>
              </a:rPr>
              <a:t>What</a:t>
            </a:r>
            <a:r>
              <a:rPr lang="en-US" sz="2000" i="0" dirty="0">
                <a:solidFill>
                  <a:srgbClr val="585858"/>
                </a:solidFill>
                <a:effectLst/>
                <a:latin typeface="+mn-lt"/>
              </a:rPr>
              <a:t> are the items the team can take for the forthcoming release or iteration?</a:t>
            </a:r>
          </a:p>
          <a:p>
            <a:pPr marL="0" marR="0" indent="0">
              <a:lnSpc>
                <a:spcPct val="107000"/>
              </a:lnSpc>
              <a:spcBef>
                <a:spcPts val="0"/>
              </a:spcBef>
              <a:spcAft>
                <a:spcPts val="800"/>
              </a:spcAft>
              <a:buNone/>
            </a:pPr>
            <a:r>
              <a:rPr lang="en-US" sz="2000" i="0" dirty="0">
                <a:solidFill>
                  <a:srgbClr val="585858"/>
                </a:solidFill>
                <a:effectLst/>
                <a:latin typeface="+mn-lt"/>
              </a:rPr>
              <a:t>These questions fundamentally boil-down to the schedule of the project, and what and when the team can deliver over this schedule. As you can see, the first question is about the </a:t>
            </a:r>
            <a:r>
              <a:rPr lang="en-US" sz="2000" b="1" i="0" dirty="0">
                <a:solidFill>
                  <a:srgbClr val="585858"/>
                </a:solidFill>
                <a:effectLst/>
                <a:latin typeface="+mn-lt"/>
              </a:rPr>
              <a:t>duration </a:t>
            </a:r>
            <a:r>
              <a:rPr lang="en-US" sz="2000" i="0" dirty="0">
                <a:solidFill>
                  <a:srgbClr val="585858"/>
                </a:solidFill>
                <a:effectLst/>
                <a:latin typeface="+mn-lt"/>
              </a:rPr>
              <a:t>of the project, the next is about </a:t>
            </a:r>
            <a:r>
              <a:rPr lang="en-US" sz="2000" b="1" i="0" dirty="0">
                <a:solidFill>
                  <a:srgbClr val="585858"/>
                </a:solidFill>
                <a:effectLst/>
                <a:latin typeface="+mn-lt"/>
              </a:rPr>
              <a:t>scope</a:t>
            </a:r>
            <a:r>
              <a:rPr lang="en-US" sz="2000" i="0" dirty="0">
                <a:solidFill>
                  <a:srgbClr val="585858"/>
                </a:solidFill>
                <a:effectLst/>
                <a:latin typeface="+mn-lt"/>
              </a:rPr>
              <a:t>, and the final one asks about </a:t>
            </a:r>
            <a:r>
              <a:rPr lang="en-US" sz="2000" b="1" i="0" dirty="0">
                <a:solidFill>
                  <a:srgbClr val="585858"/>
                </a:solidFill>
                <a:effectLst/>
                <a:latin typeface="+mn-lt"/>
              </a:rPr>
              <a:t>plans to be delivered</a:t>
            </a:r>
            <a:r>
              <a:rPr lang="en-US" sz="2000" i="0" dirty="0">
                <a:solidFill>
                  <a:srgbClr val="585858"/>
                </a:solidFill>
                <a:effectLst/>
                <a:latin typeface="+mn-lt"/>
              </a:rPr>
              <a:t>.</a:t>
            </a:r>
          </a:p>
          <a:p>
            <a:pPr marL="0" marR="0" indent="0">
              <a:lnSpc>
                <a:spcPct val="107000"/>
              </a:lnSpc>
              <a:spcBef>
                <a:spcPts val="0"/>
              </a:spcBef>
              <a:spcAft>
                <a:spcPts val="800"/>
              </a:spcAft>
              <a:buNone/>
            </a:pPr>
            <a:endParaRPr lang="en-US" sz="2000" i="0" dirty="0">
              <a:solidFill>
                <a:srgbClr val="585858"/>
              </a:solidFill>
              <a:effectLst/>
              <a:latin typeface="+mn-lt"/>
            </a:endParaRPr>
          </a:p>
          <a:p>
            <a:pPr marL="0" marR="0" indent="0">
              <a:lnSpc>
                <a:spcPct val="107000"/>
              </a:lnSpc>
              <a:spcBef>
                <a:spcPts val="0"/>
              </a:spcBef>
              <a:spcAft>
                <a:spcPts val="800"/>
              </a:spcAft>
              <a:buNone/>
            </a:pPr>
            <a:r>
              <a:rPr lang="en-US" sz="2000" i="0" dirty="0">
                <a:solidFill>
                  <a:srgbClr val="585858"/>
                </a:solidFill>
                <a:effectLst/>
                <a:latin typeface="+mn-lt"/>
              </a:rPr>
              <a:t>.</a:t>
            </a:r>
            <a:endParaRPr lang="en-US" dirty="0"/>
          </a:p>
        </p:txBody>
      </p:sp>
    </p:spTree>
    <p:extLst>
      <p:ext uri="{BB962C8B-B14F-4D97-AF65-F5344CB8AC3E}">
        <p14:creationId xmlns:p14="http://schemas.microsoft.com/office/powerpoint/2010/main" val="1520086648"/>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Velocity</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338140" y="1219258"/>
            <a:ext cx="8272354" cy="5029142"/>
          </a:xfrm>
        </p:spPr>
        <p:txBody>
          <a:bodyPr/>
          <a:lstStyle/>
          <a:p>
            <a:pPr marL="0" marR="0" indent="0">
              <a:lnSpc>
                <a:spcPct val="107000"/>
              </a:lnSpc>
              <a:spcBef>
                <a:spcPts val="0"/>
              </a:spcBef>
              <a:spcAft>
                <a:spcPts val="800"/>
              </a:spcAft>
              <a:buNone/>
            </a:pPr>
            <a:r>
              <a:rPr lang="en-US" sz="2000" i="0" dirty="0">
                <a:solidFill>
                  <a:srgbClr val="585858"/>
                </a:solidFill>
                <a:effectLst/>
                <a:latin typeface="+mn-lt"/>
              </a:rPr>
              <a:t>In Agile approaches, the concept of velocity helps to address such questions. </a:t>
            </a:r>
          </a:p>
          <a:p>
            <a:pPr marL="0" marR="0" indent="0">
              <a:lnSpc>
                <a:spcPct val="107000"/>
              </a:lnSpc>
              <a:spcBef>
                <a:spcPts val="0"/>
              </a:spcBef>
              <a:spcAft>
                <a:spcPts val="800"/>
              </a:spcAft>
              <a:buNone/>
            </a:pPr>
            <a:r>
              <a:rPr lang="en-US" sz="2000" b="1" i="0" dirty="0">
                <a:solidFill>
                  <a:srgbClr val="585858"/>
                </a:solidFill>
                <a:effectLst/>
                <a:latin typeface="+mn-lt"/>
              </a:rPr>
              <a:t>Basics of Velocity</a:t>
            </a:r>
          </a:p>
          <a:p>
            <a:pPr marL="0" marR="0" indent="0">
              <a:lnSpc>
                <a:spcPct val="107000"/>
              </a:lnSpc>
              <a:spcBef>
                <a:spcPts val="0"/>
              </a:spcBef>
              <a:spcAft>
                <a:spcPts val="800"/>
              </a:spcAft>
              <a:buNone/>
            </a:pPr>
            <a:r>
              <a:rPr lang="en-US" sz="2000" i="0" dirty="0">
                <a:solidFill>
                  <a:srgbClr val="585858"/>
                </a:solidFill>
                <a:effectLst/>
                <a:latin typeface="+mn-lt"/>
              </a:rPr>
              <a:t>Velocity is the measure of product backlog items (PBI) delivered in an iteration. </a:t>
            </a:r>
            <a:r>
              <a:rPr lang="en-US" sz="2000" b="1" i="0" dirty="0">
                <a:solidFill>
                  <a:srgbClr val="585858"/>
                </a:solidFill>
                <a:effectLst/>
                <a:latin typeface="+mn-lt"/>
              </a:rPr>
              <a:t>It’s the rate at which the PBIs are delivered, validated, and accepted according to the definition of “done,” per iteration</a:t>
            </a:r>
            <a:r>
              <a:rPr lang="en-US" sz="2000" i="0" dirty="0">
                <a:solidFill>
                  <a:srgbClr val="585858"/>
                </a:solidFill>
                <a:effectLst/>
                <a:latin typeface="+mn-lt"/>
              </a:rPr>
              <a:t>. In other words, you can say that velocity is a measure of a </a:t>
            </a:r>
            <a:r>
              <a:rPr lang="en-US" sz="2000" b="1" i="0" dirty="0">
                <a:solidFill>
                  <a:srgbClr val="585858"/>
                </a:solidFill>
                <a:effectLst/>
                <a:latin typeface="+mn-lt"/>
              </a:rPr>
              <a:t>team’s rate of progress</a:t>
            </a:r>
            <a:r>
              <a:rPr lang="en-US" sz="2000" i="0" dirty="0">
                <a:solidFill>
                  <a:srgbClr val="585858"/>
                </a:solidFill>
                <a:effectLst/>
                <a:latin typeface="+mn-lt"/>
              </a:rPr>
              <a:t>. You sum up the PBIs delivered and you get velocity. If the item is not completed, it won’t count toward velocity.</a:t>
            </a:r>
          </a:p>
          <a:p>
            <a:pPr marL="0" marR="0" indent="0">
              <a:lnSpc>
                <a:spcPct val="107000"/>
              </a:lnSpc>
              <a:spcBef>
                <a:spcPts val="0"/>
              </a:spcBef>
              <a:spcAft>
                <a:spcPts val="800"/>
              </a:spcAft>
              <a:buNone/>
            </a:pPr>
            <a:r>
              <a:rPr lang="en-US" sz="2000" i="0" dirty="0">
                <a:solidFill>
                  <a:srgbClr val="585858"/>
                </a:solidFill>
                <a:effectLst/>
                <a:latin typeface="+mn-lt"/>
              </a:rPr>
              <a:t>The PBIs in a backlog can be </a:t>
            </a:r>
            <a:r>
              <a:rPr lang="en-US" sz="2000" b="1" i="0" dirty="0">
                <a:solidFill>
                  <a:srgbClr val="585858"/>
                </a:solidFill>
                <a:effectLst/>
                <a:latin typeface="+mn-lt"/>
              </a:rPr>
              <a:t>features, bugs, enhancements, spikes, and refactoring, among others.</a:t>
            </a:r>
            <a:r>
              <a:rPr lang="en-US" sz="2000" i="0" dirty="0">
                <a:solidFill>
                  <a:srgbClr val="585858"/>
                </a:solidFill>
                <a:effectLst/>
                <a:latin typeface="+mn-lt"/>
              </a:rPr>
              <a:t> You may consider all of these as part of velocity or decide to include some. Irrespective of the decision you make along with your team, it’s important to always maintain transparency on this topic.</a:t>
            </a:r>
          </a:p>
          <a:p>
            <a:pPr marL="0" marR="0" indent="0">
              <a:lnSpc>
                <a:spcPct val="107000"/>
              </a:lnSpc>
              <a:spcBef>
                <a:spcPts val="0"/>
              </a:spcBef>
              <a:spcAft>
                <a:spcPts val="800"/>
              </a:spcAft>
              <a:buNone/>
            </a:pPr>
            <a:endParaRPr lang="en-US" sz="2000" i="0" dirty="0">
              <a:solidFill>
                <a:srgbClr val="585858"/>
              </a:solidFill>
              <a:effectLst/>
              <a:latin typeface="+mn-lt"/>
            </a:endParaRPr>
          </a:p>
          <a:p>
            <a:pPr marL="0" marR="0" indent="0">
              <a:lnSpc>
                <a:spcPct val="107000"/>
              </a:lnSpc>
              <a:spcBef>
                <a:spcPts val="0"/>
              </a:spcBef>
              <a:spcAft>
                <a:spcPts val="800"/>
              </a:spcAft>
              <a:buNone/>
            </a:pPr>
            <a:r>
              <a:rPr lang="en-US" sz="2000" i="0" dirty="0">
                <a:solidFill>
                  <a:srgbClr val="585858"/>
                </a:solidFill>
                <a:effectLst/>
                <a:latin typeface="+mn-lt"/>
              </a:rPr>
              <a:t>.</a:t>
            </a:r>
            <a:endParaRPr lang="en-US" dirty="0"/>
          </a:p>
        </p:txBody>
      </p:sp>
    </p:spTree>
    <p:extLst>
      <p:ext uri="{BB962C8B-B14F-4D97-AF65-F5344CB8AC3E}">
        <p14:creationId xmlns:p14="http://schemas.microsoft.com/office/powerpoint/2010/main" val="360416558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Velocity</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152516" y="838268"/>
            <a:ext cx="8991484" cy="5410132"/>
          </a:xfrm>
        </p:spPr>
        <p:txBody>
          <a:bodyPr/>
          <a:lstStyle/>
          <a:p>
            <a:pPr marL="0" marR="0" indent="0">
              <a:lnSpc>
                <a:spcPct val="107000"/>
              </a:lnSpc>
              <a:spcBef>
                <a:spcPts val="0"/>
              </a:spcBef>
              <a:spcAft>
                <a:spcPts val="800"/>
              </a:spcAft>
              <a:buNone/>
            </a:pPr>
            <a:endParaRPr lang="en-US" sz="2000" i="0" dirty="0">
              <a:solidFill>
                <a:srgbClr val="585858"/>
              </a:solidFill>
              <a:effectLst/>
              <a:latin typeface="+mn-lt"/>
            </a:endParaRPr>
          </a:p>
          <a:p>
            <a:pPr marL="0" marR="0" indent="0">
              <a:lnSpc>
                <a:spcPct val="107000"/>
              </a:lnSpc>
              <a:spcBef>
                <a:spcPts val="0"/>
              </a:spcBef>
              <a:spcAft>
                <a:spcPts val="800"/>
              </a:spcAft>
              <a:buNone/>
            </a:pPr>
            <a:r>
              <a:rPr lang="en-US" sz="2000" b="1" i="0" dirty="0">
                <a:solidFill>
                  <a:srgbClr val="585858"/>
                </a:solidFill>
                <a:effectLst/>
                <a:latin typeface="+mn-lt"/>
              </a:rPr>
              <a:t>In Agile software development, velocity is the amount of work a team can handle in a set period of time (sprint).</a:t>
            </a:r>
          </a:p>
          <a:p>
            <a:pPr marL="0" marR="0" indent="0">
              <a:lnSpc>
                <a:spcPct val="107000"/>
              </a:lnSpc>
              <a:spcBef>
                <a:spcPts val="0"/>
              </a:spcBef>
              <a:spcAft>
                <a:spcPts val="800"/>
              </a:spcAft>
              <a:buNone/>
            </a:pPr>
            <a:r>
              <a:rPr lang="en-US" sz="2000" i="0" dirty="0">
                <a:solidFill>
                  <a:srgbClr val="585858"/>
                </a:solidFill>
                <a:effectLst/>
                <a:latin typeface="+mn-lt"/>
              </a:rPr>
              <a:t>Managers use velocity to measure the rate at which an Agile development team delivers </a:t>
            </a:r>
            <a:r>
              <a:rPr lang="en-US" sz="2000" b="1" i="0" dirty="0">
                <a:solidFill>
                  <a:srgbClr val="585858"/>
                </a:solidFill>
                <a:effectLst/>
                <a:latin typeface="+mn-lt"/>
              </a:rPr>
              <a:t>value to a business</a:t>
            </a:r>
            <a:r>
              <a:rPr lang="en-US" sz="2000" i="0" dirty="0">
                <a:solidFill>
                  <a:srgbClr val="585858"/>
                </a:solidFill>
                <a:effectLst/>
                <a:latin typeface="+mn-lt"/>
              </a:rPr>
              <a:t>. For example, Scrum velocity will help you determine how quickly a Scrum team can complete the work assigned to them.</a:t>
            </a:r>
          </a:p>
          <a:p>
            <a:pPr marL="0" indent="0">
              <a:spcBef>
                <a:spcPts val="0"/>
              </a:spcBef>
              <a:spcAft>
                <a:spcPts val="0"/>
              </a:spcAft>
              <a:buNone/>
            </a:pPr>
            <a:endParaRPr lang="en-US" sz="2000" dirty="0">
              <a:effectLst/>
              <a:latin typeface="Times New Roman" panose="02020603050405020304" pitchFamily="18" charset="0"/>
              <a:ea typeface="Times New Roman" panose="02020603050405020304" pitchFamily="18" charset="0"/>
            </a:endParaRPr>
          </a:p>
          <a:p>
            <a:pPr marL="0" indent="0">
              <a:spcBef>
                <a:spcPts val="0"/>
              </a:spcBef>
              <a:spcAft>
                <a:spcPts val="0"/>
              </a:spcAft>
              <a:buNone/>
            </a:pPr>
            <a:endParaRPr lang="en-US" sz="2000" dirty="0">
              <a:latin typeface="Times New Roman" panose="02020603050405020304" pitchFamily="18" charset="0"/>
              <a:ea typeface="Times New Roman" panose="02020603050405020304" pitchFamily="18" charset="0"/>
            </a:endParaRPr>
          </a:p>
          <a:p>
            <a:pPr marL="0" indent="0">
              <a:spcBef>
                <a:spcPts val="0"/>
              </a:spcBef>
              <a:spcAft>
                <a:spcPts val="0"/>
              </a:spcAft>
              <a:buNone/>
            </a:pPr>
            <a:r>
              <a:rPr lang="en-US" sz="2000" dirty="0">
                <a:solidFill>
                  <a:srgbClr val="585858"/>
                </a:solidFill>
                <a:latin typeface="+mn-lt"/>
              </a:rPr>
              <a:t>Velocity is used for measuring the rate at which scrum development teams consistently deliver business value in other words quantity of work a team can accomplish with in a sprint. It can be measured in terms of the of Story Points, days, ideal days, or hours a team can deliver per sprint of a given length, and with a predefined Definition of Done (DoD). Velocity helps a Team to forecast how many Sprints they need to develop new features.</a:t>
            </a:r>
          </a:p>
          <a:p>
            <a:pPr marL="0" indent="0">
              <a:spcBef>
                <a:spcPts val="0"/>
              </a:spcBef>
              <a:spcAft>
                <a:spcPts val="0"/>
              </a:spcAft>
              <a:buNone/>
            </a:pPr>
            <a:r>
              <a:rPr lang="en-US" sz="2000" dirty="0">
                <a:solidFill>
                  <a:srgbClr val="585858"/>
                </a:solidFill>
                <a:latin typeface="+mn-lt"/>
              </a:rPr>
              <a:t> </a:t>
            </a:r>
          </a:p>
          <a:p>
            <a:pPr marL="0" indent="0">
              <a:spcBef>
                <a:spcPts val="0"/>
              </a:spcBef>
              <a:spcAft>
                <a:spcPts val="0"/>
              </a:spcAft>
              <a:buNone/>
            </a:pPr>
            <a:r>
              <a:rPr lang="en-US" sz="2000" dirty="0">
                <a:solidFill>
                  <a:srgbClr val="585858"/>
                </a:solidFill>
                <a:latin typeface="+mn-lt"/>
              </a:rPr>
              <a:t>Velocity is the rate at which the Resources completes works  </a:t>
            </a:r>
          </a:p>
          <a:p>
            <a:pPr marL="0" indent="0">
              <a:lnSpc>
                <a:spcPct val="107000"/>
              </a:lnSpc>
              <a:spcBef>
                <a:spcPts val="0"/>
              </a:spcBef>
              <a:spcAft>
                <a:spcPts val="800"/>
              </a:spcAft>
              <a:buNone/>
            </a:pPr>
            <a:endParaRPr lang="en-US" dirty="0"/>
          </a:p>
        </p:txBody>
      </p:sp>
    </p:spTree>
    <p:extLst>
      <p:ext uri="{BB962C8B-B14F-4D97-AF65-F5344CB8AC3E}">
        <p14:creationId xmlns:p14="http://schemas.microsoft.com/office/powerpoint/2010/main" val="331298195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Project Triangle</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9" name="Picture 18">
            <a:extLst>
              <a:ext uri="{FF2B5EF4-FFF2-40B4-BE49-F238E27FC236}">
                <a16:creationId xmlns:a16="http://schemas.microsoft.com/office/drawing/2014/main" id="{2231CEDC-736E-4426-B92B-F7B635A99232}"/>
              </a:ext>
            </a:extLst>
          </p:cNvPr>
          <p:cNvPicPr/>
          <p:nvPr/>
        </p:nvPicPr>
        <p:blipFill>
          <a:blip r:embed="rId3"/>
          <a:stretch>
            <a:fillRect/>
          </a:stretch>
        </p:blipFill>
        <p:spPr>
          <a:xfrm>
            <a:off x="685800" y="857250"/>
            <a:ext cx="7696100" cy="5086284"/>
          </a:xfrm>
          <a:prstGeom prst="rect">
            <a:avLst/>
          </a:prstGeom>
        </p:spPr>
      </p:pic>
    </p:spTree>
    <p:extLst>
      <p:ext uri="{BB962C8B-B14F-4D97-AF65-F5344CB8AC3E}">
        <p14:creationId xmlns:p14="http://schemas.microsoft.com/office/powerpoint/2010/main" val="2074888771"/>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Agile Velocity Triangle</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E2D88FBB-04D1-422B-802C-450FE5550C58}"/>
              </a:ext>
            </a:extLst>
          </p:cNvPr>
          <p:cNvPicPr/>
          <p:nvPr/>
        </p:nvPicPr>
        <p:blipFill>
          <a:blip r:embed="rId3"/>
          <a:stretch>
            <a:fillRect/>
          </a:stretch>
        </p:blipFill>
        <p:spPr>
          <a:xfrm>
            <a:off x="685800" y="990664"/>
            <a:ext cx="7805738" cy="5029068"/>
          </a:xfrm>
          <a:prstGeom prst="rect">
            <a:avLst/>
          </a:prstGeom>
        </p:spPr>
      </p:pic>
    </p:spTree>
    <p:extLst>
      <p:ext uri="{BB962C8B-B14F-4D97-AF65-F5344CB8AC3E}">
        <p14:creationId xmlns:p14="http://schemas.microsoft.com/office/powerpoint/2010/main" val="80058140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Work Vs. Velocity</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2" name="Picture 1">
            <a:extLst>
              <a:ext uri="{FF2B5EF4-FFF2-40B4-BE49-F238E27FC236}">
                <a16:creationId xmlns:a16="http://schemas.microsoft.com/office/drawing/2014/main" id="{63B27431-4F96-43CA-B6EE-393EA9ED8AE1}"/>
              </a:ext>
            </a:extLst>
          </p:cNvPr>
          <p:cNvPicPr>
            <a:picLocks noChangeAspect="1"/>
          </p:cNvPicPr>
          <p:nvPr/>
        </p:nvPicPr>
        <p:blipFill>
          <a:blip r:embed="rId3"/>
          <a:stretch>
            <a:fillRect/>
          </a:stretch>
        </p:blipFill>
        <p:spPr>
          <a:xfrm>
            <a:off x="609704" y="907975"/>
            <a:ext cx="7909428" cy="5340351"/>
          </a:xfrm>
          <a:prstGeom prst="rect">
            <a:avLst/>
          </a:prstGeom>
        </p:spPr>
      </p:pic>
    </p:spTree>
    <p:extLst>
      <p:ext uri="{BB962C8B-B14F-4D97-AF65-F5344CB8AC3E}">
        <p14:creationId xmlns:p14="http://schemas.microsoft.com/office/powerpoint/2010/main" val="320491763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r>
              <a:rPr lang="en-US" sz="3200" dirty="0"/>
              <a:t>Estimation in Agile</a:t>
            </a: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18" name="Picture 17">
            <a:extLst>
              <a:ext uri="{FF2B5EF4-FFF2-40B4-BE49-F238E27FC236}">
                <a16:creationId xmlns:a16="http://schemas.microsoft.com/office/drawing/2014/main" id="{BCD65034-29DC-4010-9817-791581DD55FC}"/>
              </a:ext>
            </a:extLst>
          </p:cNvPr>
          <p:cNvPicPr/>
          <p:nvPr/>
        </p:nvPicPr>
        <p:blipFill>
          <a:blip r:embed="rId3"/>
          <a:stretch>
            <a:fillRect/>
          </a:stretch>
        </p:blipFill>
        <p:spPr>
          <a:xfrm>
            <a:off x="750795" y="1219259"/>
            <a:ext cx="7326313" cy="4724276"/>
          </a:xfrm>
          <a:prstGeom prst="rect">
            <a:avLst/>
          </a:prstGeom>
        </p:spPr>
      </p:pic>
    </p:spTree>
    <p:extLst>
      <p:ext uri="{BB962C8B-B14F-4D97-AF65-F5344CB8AC3E}">
        <p14:creationId xmlns:p14="http://schemas.microsoft.com/office/powerpoint/2010/main" val="142462740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Example - Velocity</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152516" y="914466"/>
            <a:ext cx="8686572" cy="5333934"/>
          </a:xfrm>
        </p:spPr>
        <p:txBody>
          <a:bodyPr/>
          <a:lstStyle/>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Let’s say that in an iteration, your team delivered PBI-10, PBI-11, and PBI-3, which are estimated at 3, 8, and 5 story points, respectively. Velocity for the iteration would be 16 or 16 story points, as calculated below.	</a:t>
            </a:r>
          </a:p>
          <a:p>
            <a:pPr marL="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Velocity = Estimate for PBI10 + Estimate for PBI11 + Estimate for PBI3</a:t>
            </a:r>
          </a:p>
          <a:p>
            <a:pPr marL="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Velocity = 16 (or 16 story points)</a:t>
            </a:r>
          </a:p>
          <a:p>
            <a:pPr marL="0" marR="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If you have an incomplete item, it won’t be considered for velocity calculation. For example, if PBI-11 remains incomplete at the of the iteration, the velocity will be 8 or 8 story points.</a:t>
            </a:r>
          </a:p>
          <a:p>
            <a:pPr marL="0" marR="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So, how does velocity help in answering the questions raised earlier, those of when the project will be complete and what items can be delivered?</a:t>
            </a:r>
          </a:p>
          <a:p>
            <a:pPr marL="0" marR="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Going back to our example, let’s assume the product backlog has 200 points worth of work, your velocity is 20 points per iteration, and each iteration has two-weeks duration.</a:t>
            </a:r>
          </a:p>
          <a:p>
            <a:pPr marL="0" marR="0" indent="0">
              <a:lnSpc>
                <a:spcPct val="107000"/>
              </a:lnSpc>
              <a:spcBef>
                <a:spcPts val="0"/>
              </a:spcBef>
              <a:spcAft>
                <a:spcPts val="800"/>
              </a:spcAft>
              <a:buNone/>
            </a:pPr>
            <a:r>
              <a:rPr lang="en-US" sz="2000" dirty="0">
                <a:latin typeface="Calibri" panose="020F0502020204030204" pitchFamily="34" charset="0"/>
                <a:cs typeface="Calibri" panose="020F0502020204030204" pitchFamily="34" charset="0"/>
              </a:rPr>
              <a:t>Number of iterations needed = 200 / 20=10</a:t>
            </a:r>
          </a:p>
          <a:p>
            <a:pPr marL="0" marR="0" indent="0">
              <a:lnSpc>
                <a:spcPct val="107000"/>
              </a:lnSpc>
              <a:spcBef>
                <a:spcPts val="0"/>
              </a:spcBef>
              <a:spcAft>
                <a:spcPts val="800"/>
              </a:spcAft>
              <a:buNone/>
            </a:pPr>
            <a:endParaRPr lang="en-US" sz="1800" dirty="0"/>
          </a:p>
        </p:txBody>
      </p:sp>
    </p:spTree>
    <p:extLst>
      <p:ext uri="{BB962C8B-B14F-4D97-AF65-F5344CB8AC3E}">
        <p14:creationId xmlns:p14="http://schemas.microsoft.com/office/powerpoint/2010/main" val="271816351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Velocity in Ranges and Confidence Level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228714" y="990663"/>
            <a:ext cx="8534176" cy="5559361"/>
          </a:xfrm>
        </p:spPr>
        <p:txBody>
          <a:bodyPr/>
          <a:lstStyle/>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It’s possible that velocity can fluctuate for a team over the duration of a project or release. Considering our previous example, it can be as low as 15 (minimum) or as high as 25 (maximum).</a:t>
            </a:r>
          </a:p>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No one exactly knows what the future entails. There can be inclusion of new high priority items, a change in a 3rd party component which introduces a number of bugs, or changes in team members for the project, etc. Hence, it’s a good practice to calculate the velocity range, in place of thinking of it in absolute numbers. For example, you can say that the team’s velocity range is between 15 to 25 story points. With this approach, you are conveying that it’s an estimation and nothing is absolutely certain.</a:t>
            </a:r>
          </a:p>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Next, let’s see how the duration changes with range in velocity numbers. With a velocity of 15, you will be needing around 14 iterations to complete (200 divided by 15 and rounded it to 14) the backlog items, whereas with a velocity of 25, the team will be needing just 8 iterations to complete the project (200 divided by 25).</a:t>
            </a:r>
          </a:p>
          <a:p>
            <a:pPr marL="0" marR="0" indent="0">
              <a:lnSpc>
                <a:spcPct val="107000"/>
              </a:lnSpc>
              <a:spcBef>
                <a:spcPts val="0"/>
              </a:spcBef>
              <a:spcAft>
                <a:spcPts val="800"/>
              </a:spcAft>
              <a:buNone/>
            </a:pPr>
            <a:endParaRPr lang="en-US" sz="1800" dirty="0"/>
          </a:p>
        </p:txBody>
      </p:sp>
    </p:spTree>
    <p:extLst>
      <p:ext uri="{BB962C8B-B14F-4D97-AF65-F5344CB8AC3E}">
        <p14:creationId xmlns:p14="http://schemas.microsoft.com/office/powerpoint/2010/main" val="113309293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r>
              <a:rPr lang="en-US" sz="2800" dirty="0"/>
              <a:t>Velocity in Ranges and Confidence Level</a:t>
            </a: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414338" y="1143060"/>
            <a:ext cx="8348552" cy="5105340"/>
          </a:xfrm>
        </p:spPr>
        <p:txBody>
          <a:bodyPr/>
          <a:lstStyle/>
          <a:p>
            <a:pPr marL="0" marR="0" indent="0">
              <a:lnSpc>
                <a:spcPct val="107000"/>
              </a:lnSpc>
              <a:spcBef>
                <a:spcPts val="0"/>
              </a:spcBef>
              <a:spcAft>
                <a:spcPts val="800"/>
              </a:spcAft>
              <a:buNone/>
            </a:pP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endParaRPr lang="en-US"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US" sz="2000" dirty="0">
                <a:effectLst/>
                <a:latin typeface="Calibri" panose="020F0502020204030204" pitchFamily="34" charset="0"/>
                <a:ea typeface="Calibri" panose="020F0502020204030204" pitchFamily="34" charset="0"/>
                <a:cs typeface="Calibri" panose="020F0502020204030204" pitchFamily="34" charset="0"/>
              </a:rPr>
              <a:t>Our velocity estimation can be refined further by looking at confidence intervals. For example, you can say the team can complete the initial 80 points with 90% confidence, whereas the next 70 points worth of work can be done with 50% confidence, and finally, the last 50 points worth of work with 10% or with very little confidence</a:t>
            </a:r>
            <a:r>
              <a:rPr lang="en-US" sz="2000" b="1" dirty="0">
                <a:effectLst/>
                <a:latin typeface="Calibri" panose="020F0502020204030204" pitchFamily="34" charset="0"/>
                <a:ea typeface="Calibri" panose="020F0502020204030204" pitchFamily="34" charset="0"/>
                <a:cs typeface="Calibri" panose="020F0502020204030204" pitchFamily="34" charset="0"/>
              </a:rPr>
              <a:t>.</a:t>
            </a:r>
          </a:p>
          <a:p>
            <a:pPr marL="0" marR="0" indent="0">
              <a:lnSpc>
                <a:spcPct val="107000"/>
              </a:lnSpc>
              <a:spcBef>
                <a:spcPts val="0"/>
              </a:spcBef>
              <a:spcAft>
                <a:spcPts val="800"/>
              </a:spcAft>
              <a:buNone/>
            </a:pPr>
            <a:endParaRPr lang="en-US" dirty="0"/>
          </a:p>
        </p:txBody>
      </p:sp>
      <p:pic>
        <p:nvPicPr>
          <p:cNvPr id="5" name="Picture 4">
            <a:extLst>
              <a:ext uri="{FF2B5EF4-FFF2-40B4-BE49-F238E27FC236}">
                <a16:creationId xmlns:a16="http://schemas.microsoft.com/office/drawing/2014/main" id="{654840A9-4F4C-4CA6-AFC9-497B358BA424}"/>
              </a:ext>
            </a:extLst>
          </p:cNvPr>
          <p:cNvPicPr>
            <a:picLocks noChangeAspect="1"/>
          </p:cNvPicPr>
          <p:nvPr/>
        </p:nvPicPr>
        <p:blipFill>
          <a:blip r:embed="rId3"/>
          <a:stretch>
            <a:fillRect/>
          </a:stretch>
        </p:blipFill>
        <p:spPr>
          <a:xfrm>
            <a:off x="685800" y="914466"/>
            <a:ext cx="7326313" cy="3560530"/>
          </a:xfrm>
          <a:prstGeom prst="rect">
            <a:avLst/>
          </a:prstGeom>
        </p:spPr>
      </p:pic>
    </p:spTree>
    <p:extLst>
      <p:ext uri="{BB962C8B-B14F-4D97-AF65-F5344CB8AC3E}">
        <p14:creationId xmlns:p14="http://schemas.microsoft.com/office/powerpoint/2010/main" val="17061337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2800" dirty="0"/>
              <a:t>How To Scale Or Stabilize Team Velocity</a:t>
            </a:r>
            <a:br>
              <a:rPr lang="en-US" sz="2000" b="0" i="0" dirty="0">
                <a:solidFill>
                  <a:srgbClr val="3A4C60"/>
                </a:solidFill>
                <a:effectLst/>
                <a:latin typeface="Varela Round"/>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304912" y="857250"/>
            <a:ext cx="8839088" cy="5391150"/>
          </a:xfrm>
        </p:spPr>
        <p:txBody>
          <a:bodyPr/>
          <a:lstStyle/>
          <a:p>
            <a:pPr marL="0" indent="0">
              <a:lnSpc>
                <a:spcPct val="107000"/>
              </a:lnSpc>
              <a:spcBef>
                <a:spcPts val="0"/>
              </a:spcBef>
              <a:spcAft>
                <a:spcPts val="800"/>
              </a:spcAft>
              <a:buNone/>
            </a:pPr>
            <a:r>
              <a:rPr lang="en-US" sz="2000" b="1" dirty="0">
                <a:latin typeface="+mn-lt"/>
              </a:rPr>
              <a:t>Clear User Stories</a:t>
            </a:r>
            <a:r>
              <a:rPr lang="en-US" sz="1800" dirty="0"/>
              <a:t>: </a:t>
            </a:r>
            <a:r>
              <a:rPr lang="en-US" sz="2000" dirty="0">
                <a:latin typeface="+mn-lt"/>
              </a:rPr>
              <a:t>User Stories are meant to be simple to read: giving more clear information on user requirement and providing sufficient information on the business case. The reason the Agile world encourages User Stories with a specific format is because the format is meant to be easy to read and simple to understand, both for the development team and other stakeholders. We must keep that in mind and encourage it in developing more meaningful User Stories that provide more granular detailed information. If the User Stories are clear and easy to assess story points or estimate time, then it becomes much easier to the development team to come up with accurate story points. If the story points are accurate and precise, then the development team can reach their goals in the assessed time. This indirectly helps to have stabilized and predictable team velocity</a:t>
            </a:r>
            <a:r>
              <a:rPr lang="en-US" sz="1800" dirty="0"/>
              <a:t>.</a:t>
            </a:r>
          </a:p>
          <a:p>
            <a:pPr marL="0" indent="0">
              <a:lnSpc>
                <a:spcPct val="107000"/>
              </a:lnSpc>
              <a:spcBef>
                <a:spcPts val="0"/>
              </a:spcBef>
              <a:spcAft>
                <a:spcPts val="800"/>
              </a:spcAft>
              <a:buNone/>
            </a:pPr>
            <a:r>
              <a:rPr lang="en-US" sz="2000" b="1" dirty="0">
                <a:latin typeface="+mn-lt"/>
              </a:rPr>
              <a:t>Define Team Roles And Avoid Changes In The Team: </a:t>
            </a:r>
            <a:r>
              <a:rPr lang="en-US" sz="2000" dirty="0">
                <a:latin typeface="+mn-lt"/>
              </a:rPr>
              <a:t>Your team should have a clear definition of their roles on the given tasks or backlogs. Make sure that there are as few changes in the team as possible. </a:t>
            </a:r>
            <a:r>
              <a:rPr lang="en-US" sz="2000" b="0" i="0" dirty="0">
                <a:effectLst/>
                <a:latin typeface="+mn-lt"/>
              </a:rPr>
              <a:t>"Keep teams stable and avoid shuffling people around between teams. Stable teams tend to get to know their capacity, which makes it possible for the business to have some predictability."</a:t>
            </a:r>
            <a:endParaRPr lang="en-US" sz="2000" dirty="0">
              <a:latin typeface="+mn-lt"/>
            </a:endParaRPr>
          </a:p>
          <a:p>
            <a:pPr marL="0" marR="0" indent="0">
              <a:lnSpc>
                <a:spcPct val="107000"/>
              </a:lnSpc>
              <a:spcBef>
                <a:spcPts val="0"/>
              </a:spcBef>
              <a:spcAft>
                <a:spcPts val="800"/>
              </a:spcAft>
              <a:buNone/>
            </a:pPr>
            <a:endParaRPr lang="en-US" sz="1800" dirty="0"/>
          </a:p>
          <a:p>
            <a:pPr marL="0" marR="0" indent="0">
              <a:lnSpc>
                <a:spcPct val="107000"/>
              </a:lnSpc>
              <a:spcBef>
                <a:spcPts val="0"/>
              </a:spcBef>
              <a:spcAft>
                <a:spcPts val="800"/>
              </a:spcAft>
              <a:buNone/>
            </a:pPr>
            <a:endParaRPr lang="en-US" sz="1800" dirty="0"/>
          </a:p>
        </p:txBody>
      </p:sp>
    </p:spTree>
    <p:extLst>
      <p:ext uri="{BB962C8B-B14F-4D97-AF65-F5344CB8AC3E}">
        <p14:creationId xmlns:p14="http://schemas.microsoft.com/office/powerpoint/2010/main" val="244802120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2800" dirty="0"/>
              <a:t>How To Scale Or Stabilize Team Velocity</a:t>
            </a:r>
            <a:br>
              <a:rPr lang="en-US" sz="2000" b="0" i="0" dirty="0">
                <a:solidFill>
                  <a:srgbClr val="3A4C60"/>
                </a:solidFill>
                <a:effectLst/>
                <a:latin typeface="Varela Round"/>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 name="Content Placeholder 2">
            <a:extLst>
              <a:ext uri="{FF2B5EF4-FFF2-40B4-BE49-F238E27FC236}">
                <a16:creationId xmlns:a16="http://schemas.microsoft.com/office/drawing/2014/main" id="{339433B4-5907-4AD7-AA2E-03B3EA64E3A6}"/>
              </a:ext>
            </a:extLst>
          </p:cNvPr>
          <p:cNvSpPr>
            <a:spLocks noGrp="1"/>
          </p:cNvSpPr>
          <p:nvPr>
            <p:ph idx="1"/>
          </p:nvPr>
        </p:nvSpPr>
        <p:spPr>
          <a:xfrm>
            <a:off x="228714" y="990664"/>
            <a:ext cx="8762770" cy="5257736"/>
          </a:xfrm>
        </p:spPr>
        <p:txBody>
          <a:bodyPr/>
          <a:lstStyle/>
          <a:p>
            <a:pPr marL="0" marR="0" indent="0">
              <a:lnSpc>
                <a:spcPct val="107000"/>
              </a:lnSpc>
              <a:spcBef>
                <a:spcPts val="0"/>
              </a:spcBef>
              <a:spcAft>
                <a:spcPts val="800"/>
              </a:spcAft>
              <a:buNone/>
            </a:pPr>
            <a:r>
              <a:rPr lang="en-US" sz="2000" b="1" dirty="0">
                <a:latin typeface="+mn-lt"/>
              </a:rPr>
              <a:t>Stick to the Daily Scrum: </a:t>
            </a:r>
            <a:r>
              <a:rPr lang="en-US" sz="2000" dirty="0">
                <a:latin typeface="+mn-lt"/>
              </a:rPr>
              <a:t>Maximize performance by calibrating daily. This optimizes team collaboration and performance by inspecting the work since the last Daily Scrum and forecasting upcoming Sprint work. The intention of the Daily Standup is to ensure that the team is coordinated and that anything distracting the team from accomplishing their goal is addressed</a:t>
            </a:r>
          </a:p>
          <a:p>
            <a:pPr marL="0" marR="0" indent="0">
              <a:lnSpc>
                <a:spcPct val="107000"/>
              </a:lnSpc>
              <a:spcBef>
                <a:spcPts val="0"/>
              </a:spcBef>
              <a:spcAft>
                <a:spcPts val="800"/>
              </a:spcAft>
              <a:buNone/>
            </a:pPr>
            <a:r>
              <a:rPr lang="en-US" sz="2000" b="1" dirty="0">
                <a:latin typeface="+mn-lt"/>
              </a:rPr>
              <a:t>Clear Sprint Goal and "Ready State": </a:t>
            </a:r>
            <a:r>
              <a:rPr lang="en-US" sz="2000" dirty="0">
                <a:latin typeface="+mn-lt"/>
              </a:rPr>
              <a:t>"Ready are you? What know you of ready?"</a:t>
            </a:r>
          </a:p>
          <a:p>
            <a:pPr marL="0" marR="0" indent="0">
              <a:lnSpc>
                <a:spcPct val="107000"/>
              </a:lnSpc>
              <a:spcBef>
                <a:spcPts val="0"/>
              </a:spcBef>
              <a:spcAft>
                <a:spcPts val="800"/>
              </a:spcAft>
              <a:buNone/>
            </a:pPr>
            <a:r>
              <a:rPr lang="en-US" sz="2000" dirty="0">
                <a:latin typeface="+mn-lt"/>
              </a:rPr>
              <a:t>Great performance first needs great preparation. Therefore, teams should invest in being "ready" before they start their work. In Agile, this is demonstrated through the Sprint Goal and the Product Backlog.</a:t>
            </a:r>
          </a:p>
          <a:p>
            <a:pPr marL="0" marR="0" indent="0">
              <a:lnSpc>
                <a:spcPct val="107000"/>
              </a:lnSpc>
              <a:spcBef>
                <a:spcPts val="0"/>
              </a:spcBef>
              <a:spcAft>
                <a:spcPts val="800"/>
              </a:spcAft>
              <a:buNone/>
            </a:pPr>
            <a:r>
              <a:rPr lang="en-US" sz="2000" b="1" dirty="0">
                <a:latin typeface="+mn-lt"/>
              </a:rPr>
              <a:t>No telling people what to do - self organize! </a:t>
            </a:r>
            <a:r>
              <a:rPr lang="en-US" sz="2000" dirty="0">
                <a:latin typeface="+mn-lt"/>
              </a:rPr>
              <a:t>Agile itself is driven by certain parameters such as prioritized backlogs and limiting work-in-progress. Due to the framework itself, having the team self-organize around the work helps the team become hyper-productive. The best teams in the world, whether its the Navy Seals or a World Cup team, self-organize to achieve their team goal.</a:t>
            </a:r>
          </a:p>
        </p:txBody>
      </p:sp>
    </p:spTree>
    <p:extLst>
      <p:ext uri="{BB962C8B-B14F-4D97-AF65-F5344CB8AC3E}">
        <p14:creationId xmlns:p14="http://schemas.microsoft.com/office/powerpoint/2010/main" val="85963240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2800" dirty="0"/>
              <a:t>How To Scale Or Stabilize Team Velocity</a:t>
            </a:r>
            <a:br>
              <a:rPr lang="en-US" sz="2000" b="0" i="0" dirty="0">
                <a:solidFill>
                  <a:srgbClr val="3A4C60"/>
                </a:solidFill>
                <a:effectLst/>
                <a:latin typeface="Varela Round"/>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19" name="TextBox 18">
            <a:extLst>
              <a:ext uri="{FF2B5EF4-FFF2-40B4-BE49-F238E27FC236}">
                <a16:creationId xmlns:a16="http://schemas.microsoft.com/office/drawing/2014/main" id="{A7D0BBAF-B245-4609-818D-C073F1B23124}"/>
              </a:ext>
            </a:extLst>
          </p:cNvPr>
          <p:cNvSpPr txBox="1"/>
          <p:nvPr/>
        </p:nvSpPr>
        <p:spPr>
          <a:xfrm>
            <a:off x="304912" y="1143060"/>
            <a:ext cx="8610374" cy="6181500"/>
          </a:xfrm>
          <a:prstGeom prst="rect">
            <a:avLst/>
          </a:prstGeom>
          <a:noFill/>
        </p:spPr>
        <p:txBody>
          <a:bodyPr wrap="square">
            <a:spAutoFit/>
          </a:bodyPr>
          <a:lstStyle/>
          <a:p>
            <a:pPr marL="0" marR="0" indent="0">
              <a:lnSpc>
                <a:spcPct val="107000"/>
              </a:lnSpc>
              <a:spcBef>
                <a:spcPts val="0"/>
              </a:spcBef>
              <a:spcAft>
                <a:spcPts val="800"/>
              </a:spcAft>
              <a:buNone/>
            </a:pPr>
            <a:r>
              <a:rPr lang="en-US" sz="2000" b="1" dirty="0">
                <a:latin typeface="+mn-lt"/>
              </a:rPr>
              <a:t>Take Advantage Of Retrospective: </a:t>
            </a:r>
            <a:r>
              <a:rPr lang="en-US" sz="2000" dirty="0">
                <a:latin typeface="+mn-lt"/>
              </a:rPr>
              <a:t>Every retrospective is a chance to learn. Your team needs to use the opportunity to grow and improve. They need to be able to understand the situation they are in. </a:t>
            </a:r>
          </a:p>
          <a:p>
            <a:pPr marL="0" marR="0" indent="0">
              <a:lnSpc>
                <a:spcPct val="107000"/>
              </a:lnSpc>
              <a:spcBef>
                <a:spcPts val="0"/>
              </a:spcBef>
              <a:spcAft>
                <a:spcPts val="800"/>
              </a:spcAft>
              <a:buNone/>
            </a:pPr>
            <a:r>
              <a:rPr lang="en-US" sz="2000" b="1" dirty="0">
                <a:latin typeface="+mn-lt"/>
              </a:rPr>
              <a:t>Eliminate Dependencies: </a:t>
            </a:r>
            <a:r>
              <a:rPr lang="en-US" sz="2000" dirty="0">
                <a:latin typeface="+mn-lt"/>
              </a:rPr>
              <a:t>Dependencies always delay the work of the team. I suggest to first start looking for dependencies in the User Stories. These help us know the internal and external dependencies. It’s best to select the stories where your team is most comfortable—whether in handling them together or one at a time. Also, look at the big picture and see if any other external dependencies will affect the sprint.</a:t>
            </a:r>
          </a:p>
          <a:p>
            <a:pPr marL="0" marR="0" indent="0">
              <a:lnSpc>
                <a:spcPct val="107000"/>
              </a:lnSpc>
              <a:spcBef>
                <a:spcPts val="0"/>
              </a:spcBef>
              <a:spcAft>
                <a:spcPts val="800"/>
              </a:spcAft>
              <a:buNone/>
            </a:pPr>
            <a:r>
              <a:rPr lang="en-US" sz="2000" b="1" dirty="0">
                <a:latin typeface="+mn-lt"/>
              </a:rPr>
              <a:t>Automation/Process: </a:t>
            </a:r>
            <a:r>
              <a:rPr lang="en-US" sz="2000" dirty="0">
                <a:latin typeface="+mn-lt"/>
              </a:rPr>
              <a:t>Automating QA helps improve the validation process of the developed product. In the same way, we can extend the automation process to build procedures. These steps help in reducing the known and unknown issues, as well as help to improve the development process, thus helping to scale or stabilize the velocity.</a:t>
            </a:r>
          </a:p>
          <a:p>
            <a:pPr marL="0" marR="0" indent="0">
              <a:lnSpc>
                <a:spcPct val="107000"/>
              </a:lnSpc>
              <a:spcBef>
                <a:spcPts val="0"/>
              </a:spcBef>
              <a:spcAft>
                <a:spcPts val="800"/>
              </a:spcAft>
              <a:buNone/>
            </a:pPr>
            <a:endParaRPr lang="en-US" sz="2000" b="1" dirty="0">
              <a:latin typeface="+mn-lt"/>
            </a:endParaRPr>
          </a:p>
          <a:p>
            <a:pPr marL="0" marR="0" indent="0">
              <a:lnSpc>
                <a:spcPct val="107000"/>
              </a:lnSpc>
              <a:spcBef>
                <a:spcPts val="0"/>
              </a:spcBef>
              <a:spcAft>
                <a:spcPts val="800"/>
              </a:spcAft>
              <a:buNone/>
            </a:pPr>
            <a:endParaRPr lang="en-US" sz="2000" dirty="0">
              <a:latin typeface="+mn-lt"/>
            </a:endParaRPr>
          </a:p>
          <a:p>
            <a:pPr marL="0" marR="0" indent="0">
              <a:lnSpc>
                <a:spcPct val="107000"/>
              </a:lnSpc>
              <a:spcBef>
                <a:spcPts val="0"/>
              </a:spcBef>
              <a:spcAft>
                <a:spcPts val="800"/>
              </a:spcAft>
              <a:buNone/>
            </a:pPr>
            <a:endParaRPr lang="en-US" sz="2000" dirty="0"/>
          </a:p>
        </p:txBody>
      </p:sp>
    </p:spTree>
    <p:extLst>
      <p:ext uri="{BB962C8B-B14F-4D97-AF65-F5344CB8AC3E}">
        <p14:creationId xmlns:p14="http://schemas.microsoft.com/office/powerpoint/2010/main" val="286192323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6"/>
          <p:cNvSpPr>
            <a:spLocks noGrp="1" noChangeArrowheads="1"/>
          </p:cNvSpPr>
          <p:nvPr>
            <p:ph type="title"/>
          </p:nvPr>
        </p:nvSpPr>
        <p:spPr>
          <a:xfrm>
            <a:off x="1165225" y="307975"/>
            <a:ext cx="7326313" cy="549275"/>
          </a:xfrm>
        </p:spPr>
        <p:txBody>
          <a:bodyPr lIns="90488" tIns="44450" rIns="90488" bIns="44450"/>
          <a:lstStyle/>
          <a:p>
            <a:pPr algn="ctr" eaLnBrk="1" hangingPunct="1"/>
            <a:br>
              <a:rPr lang="en-US" sz="3200" dirty="0"/>
            </a:br>
            <a:br>
              <a:rPr lang="en-US" sz="3200" dirty="0"/>
            </a:br>
            <a:r>
              <a:rPr lang="en-US" sz="2800" dirty="0"/>
              <a:t>How To Scale Or Stabilize Team Velocity</a:t>
            </a:r>
            <a:br>
              <a:rPr lang="en-US" sz="2000" b="0" i="0" dirty="0">
                <a:solidFill>
                  <a:srgbClr val="3A4C60"/>
                </a:solidFill>
                <a:effectLst/>
                <a:latin typeface="Varela Round"/>
              </a:rPr>
            </a:br>
            <a:br>
              <a:rPr lang="en-US" sz="1800" dirty="0">
                <a:effectLst/>
                <a:latin typeface="Calibri" panose="020F0502020204030204" pitchFamily="34" charset="0"/>
                <a:ea typeface="SimSun" panose="02010600030101010101" pitchFamily="2" charset="-122"/>
                <a:cs typeface="Times New Roman" panose="02020603050405020304" pitchFamily="18" charset="0"/>
              </a:rPr>
            </a:br>
            <a:endParaRPr lang="en-US" altLang="de-DE" sz="3200" dirty="0"/>
          </a:p>
        </p:txBody>
      </p:sp>
      <p:sp>
        <p:nvSpPr>
          <p:cNvPr id="30724" name="Rectangle 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5" name="Rectangle 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6" name="Rectangle 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7" name="Rectangle 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8" name="Rectangle 6"/>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29" name="Rectangle 7"/>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0" name="Rectangle 8"/>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1" name="Rectangle 9"/>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2" name="Rectangle 10"/>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3" name="Rectangle 11"/>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4" name="Rectangle 12"/>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5" name="Rectangle 13"/>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6" name="Rectangle 14"/>
          <p:cNvSpPr>
            <a:spLocks noChangeArrowheads="1"/>
          </p:cNvSpPr>
          <p:nvPr/>
        </p:nvSpPr>
        <p:spPr bwMode="auto">
          <a:xfrm>
            <a:off x="6858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sp>
        <p:nvSpPr>
          <p:cNvPr id="30737" name="Rectangle 15"/>
          <p:cNvSpPr>
            <a:spLocks noChangeArrowheads="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p>
        </p:txBody>
      </p:sp>
      <p:pic>
        <p:nvPicPr>
          <p:cNvPr id="3" name="Picture 2">
            <a:extLst>
              <a:ext uri="{FF2B5EF4-FFF2-40B4-BE49-F238E27FC236}">
                <a16:creationId xmlns:a16="http://schemas.microsoft.com/office/drawing/2014/main" id="{9237C0DA-B974-4291-80B4-6461AA343E58}"/>
              </a:ext>
            </a:extLst>
          </p:cNvPr>
          <p:cNvPicPr>
            <a:picLocks noChangeAspect="1"/>
          </p:cNvPicPr>
          <p:nvPr/>
        </p:nvPicPr>
        <p:blipFill>
          <a:blip r:embed="rId3"/>
          <a:stretch>
            <a:fillRect/>
          </a:stretch>
        </p:blipFill>
        <p:spPr>
          <a:xfrm>
            <a:off x="304912" y="1013668"/>
            <a:ext cx="8574814" cy="4853668"/>
          </a:xfrm>
          <a:prstGeom prst="rect">
            <a:avLst/>
          </a:prstGeom>
        </p:spPr>
      </p:pic>
    </p:spTree>
    <p:extLst>
      <p:ext uri="{BB962C8B-B14F-4D97-AF65-F5344CB8AC3E}">
        <p14:creationId xmlns:p14="http://schemas.microsoft.com/office/powerpoint/2010/main" val="72821592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3D156-2C7E-4365-BD74-ED47EFB002DD}"/>
              </a:ext>
            </a:extLst>
          </p:cNvPr>
          <p:cNvSpPr>
            <a:spLocks noGrp="1"/>
          </p:cNvSpPr>
          <p:nvPr>
            <p:ph type="title"/>
          </p:nvPr>
        </p:nvSpPr>
        <p:spPr/>
        <p:txBody>
          <a:bodyPr/>
          <a:lstStyle/>
          <a:p>
            <a:r>
              <a:rPr lang="en-US" dirty="0"/>
              <a:t>Thank</a:t>
            </a:r>
            <a:br>
              <a:rPr lang="en-US" dirty="0"/>
            </a:br>
            <a:r>
              <a:rPr lang="en-US" sz="3600" dirty="0"/>
              <a:t>You</a:t>
            </a:r>
          </a:p>
        </p:txBody>
      </p:sp>
    </p:spTree>
    <p:extLst>
      <p:ext uri="{BB962C8B-B14F-4D97-AF65-F5344CB8AC3E}">
        <p14:creationId xmlns:p14="http://schemas.microsoft.com/office/powerpoint/2010/main" val="31078471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91440" tIns="45720" rIns="91440" bIns="45720" rtlCol="0" anchor="ctr">
        <a:noAutofit/>
      </a:bodyPr>
      <a:lstStyle>
        <a:defPPr algn="l">
          <a:defRPr sz="4000" dirty="0" smtClean="0">
            <a:solidFill>
              <a:srgbClr val="F68B1F"/>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534</TotalTime>
  <Words>3499</Words>
  <Application>Microsoft Office PowerPoint</Application>
  <PresentationFormat>On-screen Show (4:3)</PresentationFormat>
  <Paragraphs>158</Paragraphs>
  <Slides>31</Slides>
  <Notes>30</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31</vt:i4>
      </vt:variant>
    </vt:vector>
  </HeadingPairs>
  <TitlesOfParts>
    <vt:vector size="40" baseType="lpstr">
      <vt:lpstr>Arial</vt:lpstr>
      <vt:lpstr>Calibri</vt:lpstr>
      <vt:lpstr>Calibri Light</vt:lpstr>
      <vt:lpstr>Times New Roman</vt:lpstr>
      <vt:lpstr>Varela Round</vt:lpstr>
      <vt:lpstr>Wingdings</vt:lpstr>
      <vt:lpstr>Custom Design</vt:lpstr>
      <vt:lpstr>1_Custom Design</vt:lpstr>
      <vt:lpstr>2_Custom Design</vt:lpstr>
      <vt:lpstr>Agile 3-DB Systel </vt:lpstr>
      <vt:lpstr> Story Points in Agile </vt:lpstr>
      <vt:lpstr> Are Story points just similar than hours? </vt:lpstr>
      <vt:lpstr>  Each developer has a different set of skills and experience  </vt:lpstr>
      <vt:lpstr>  A story point has a different meaning for each developer  </vt:lpstr>
      <vt:lpstr> Absolute Vs Relative Estimation </vt:lpstr>
      <vt:lpstr> Absolute Vs Relative Estimation </vt:lpstr>
      <vt:lpstr> How to Estimate with Story Points in Agile </vt:lpstr>
      <vt:lpstr> Poker Estimation For Sprint Planning </vt:lpstr>
      <vt:lpstr> Poker Estimation For Sprint Planning </vt:lpstr>
      <vt:lpstr> Poker Estimation For Sprint Planning </vt:lpstr>
      <vt:lpstr> Poker Estimation For Sprint Planning </vt:lpstr>
      <vt:lpstr> Poker Estimation For Sprint Planning </vt:lpstr>
      <vt:lpstr> Poker Estimation For Sprint Planning </vt:lpstr>
      <vt:lpstr> What are the benefits of User Story Points </vt:lpstr>
      <vt:lpstr>Velocity is the key Metric in Scrum</vt:lpstr>
      <vt:lpstr>Velocity</vt:lpstr>
      <vt:lpstr>Velocity</vt:lpstr>
      <vt:lpstr>Velocity</vt:lpstr>
      <vt:lpstr>Project Triangle</vt:lpstr>
      <vt:lpstr>Agile Velocity Triangle</vt:lpstr>
      <vt:lpstr>Work Vs. Velocity</vt:lpstr>
      <vt:lpstr>Estimation in Agile</vt:lpstr>
      <vt:lpstr> Example - Velocity </vt:lpstr>
      <vt:lpstr> Velocity in Ranges and Confidence Level </vt:lpstr>
      <vt:lpstr> Velocity in Ranges and Confidence Level </vt:lpstr>
      <vt:lpstr>  How To Scale Or Stabilize Team Velocity  </vt:lpstr>
      <vt:lpstr>  How To Scale Or Stabilize Team Velocity  </vt:lpstr>
      <vt:lpstr>  How To Scale Or Stabilize Team Velocity  </vt:lpstr>
      <vt:lpstr>  How To Scale Or Stabilize Team Velocity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Agile 2-DB Systel </dc:title>
  <dc:creator>Neeraj Vohra</dc:creator>
  <cp:lastModifiedBy>Neeraj Vohra</cp:lastModifiedBy>
  <cp:revision>63</cp:revision>
  <dcterms:created xsi:type="dcterms:W3CDTF">2020-11-13T06:55:29Z</dcterms:created>
  <dcterms:modified xsi:type="dcterms:W3CDTF">2021-03-20T13:54:59Z</dcterms:modified>
</cp:coreProperties>
</file>