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7" r:id="rId2"/>
    <p:sldMasterId id="2147483686" r:id="rId3"/>
  </p:sldMasterIdLst>
  <p:notesMasterIdLst>
    <p:notesMasterId r:id="rId24"/>
  </p:notesMasterIdLst>
  <p:handoutMasterIdLst>
    <p:handoutMasterId r:id="rId25"/>
  </p:handoutMasterIdLst>
  <p:sldIdLst>
    <p:sldId id="1134" r:id="rId4"/>
    <p:sldId id="1150" r:id="rId5"/>
    <p:sldId id="1151" r:id="rId6"/>
    <p:sldId id="1152" r:id="rId7"/>
    <p:sldId id="1153" r:id="rId8"/>
    <p:sldId id="1154" r:id="rId9"/>
    <p:sldId id="1155" r:id="rId10"/>
    <p:sldId id="1156" r:id="rId11"/>
    <p:sldId id="1157" r:id="rId12"/>
    <p:sldId id="1158" r:id="rId13"/>
    <p:sldId id="1159" r:id="rId14"/>
    <p:sldId id="1160" r:id="rId15"/>
    <p:sldId id="1161" r:id="rId16"/>
    <p:sldId id="1162" r:id="rId17"/>
    <p:sldId id="1163" r:id="rId18"/>
    <p:sldId id="1165" r:id="rId19"/>
    <p:sldId id="1164" r:id="rId20"/>
    <p:sldId id="1166" r:id="rId21"/>
    <p:sldId id="1167" r:id="rId22"/>
    <p:sldId id="1137" r:id="rId23"/>
  </p:sldIdLst>
  <p:sldSz cx="9144000" cy="6858000" type="screen4x3"/>
  <p:notesSz cx="6732588" cy="9871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58">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63D"/>
    <a:srgbClr val="00FF00"/>
    <a:srgbClr val="FF6600"/>
    <a:srgbClr val="FF3300"/>
    <a:srgbClr val="FF9900"/>
    <a:srgbClr val="0000FF"/>
    <a:srgbClr val="FF3399"/>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8" autoAdjust="0"/>
    <p:restoredTop sz="82375" autoAdjust="0"/>
  </p:normalViewPr>
  <p:slideViewPr>
    <p:cSldViewPr>
      <p:cViewPr>
        <p:scale>
          <a:sx n="60" d="100"/>
          <a:sy n="60" d="100"/>
        </p:scale>
        <p:origin x="1644" y="48"/>
      </p:cViewPr>
      <p:guideLst>
        <p:guide orient="horz" pos="2158"/>
        <p:guide pos="28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27330" name="Rectangle 1026"/>
          <p:cNvSpPr>
            <a:spLocks noGrp="1" noChangeArrowheads="1"/>
          </p:cNvSpPr>
          <p:nvPr>
            <p:ph type="hdr" sz="quarter"/>
          </p:nvPr>
        </p:nvSpPr>
        <p:spPr bwMode="auto">
          <a:xfrm>
            <a:off x="0" y="0"/>
            <a:ext cx="2917825" cy="493713"/>
          </a:xfrm>
          <a:prstGeom prst="rect">
            <a:avLst/>
          </a:prstGeom>
          <a:noFill/>
          <a:ln w="12700">
            <a:noFill/>
            <a:miter lim="800000"/>
          </a:ln>
          <a:effectLst/>
        </p:spPr>
        <p:txBody>
          <a:bodyPr vert="horz" wrap="square" lIns="91440" tIns="45720" rIns="91440" bIns="45720" numCol="1" anchor="t" anchorCtr="0" compatLnSpc="1"/>
          <a:lstStyle>
            <a:lvl1pPr eaLnBrk="0" hangingPunct="0">
              <a:defRPr sz="1200"/>
            </a:lvl1pPr>
          </a:lstStyle>
          <a:p>
            <a:pPr>
              <a:defRPr/>
            </a:pPr>
            <a:endParaRPr lang="en-US"/>
          </a:p>
        </p:txBody>
      </p:sp>
      <p:sp>
        <p:nvSpPr>
          <p:cNvPr id="227331" name="Rectangle 1027"/>
          <p:cNvSpPr>
            <a:spLocks noGrp="1" noChangeArrowheads="1"/>
          </p:cNvSpPr>
          <p:nvPr>
            <p:ph type="dt" idx="1"/>
          </p:nvPr>
        </p:nvSpPr>
        <p:spPr bwMode="auto">
          <a:xfrm>
            <a:off x="3814763" y="0"/>
            <a:ext cx="2917825" cy="493713"/>
          </a:xfrm>
          <a:prstGeom prst="rect">
            <a:avLst/>
          </a:prstGeom>
          <a:noFill/>
          <a:ln w="12700">
            <a:noFill/>
            <a:miter lim="800000"/>
          </a:ln>
          <a:effectLst/>
        </p:spPr>
        <p:txBody>
          <a:bodyPr vert="horz" wrap="square" lIns="91440" tIns="45720" rIns="91440" bIns="45720" numCol="1" anchor="t" anchorCtr="0" compatLnSpc="1"/>
          <a:lstStyle>
            <a:lvl1pPr algn="r" eaLnBrk="0" hangingPunct="0">
              <a:defRPr sz="1200"/>
            </a:lvl1pPr>
          </a:lstStyle>
          <a:p>
            <a:pPr>
              <a:defRPr/>
            </a:pPr>
            <a:fld id="{F2B75972-D2A2-41F7-904E-1E64020CAC85}" type="datetime1">
              <a:rPr lang="en-US"/>
              <a:t>3/21/2021</a:t>
            </a:fld>
            <a:endParaRPr lang="en-US"/>
          </a:p>
        </p:txBody>
      </p:sp>
      <p:sp>
        <p:nvSpPr>
          <p:cNvPr id="28676" name="Rectangle 1028"/>
          <p:cNvSpPr>
            <a:spLocks noGrp="1" noRot="1" noChangeAspect="1" noChangeArrowheads="1" noTextEdit="1"/>
          </p:cNvSpPr>
          <p:nvPr>
            <p:ph type="sldImg" idx="4294967295"/>
          </p:nvPr>
        </p:nvSpPr>
        <p:spPr bwMode="auto">
          <a:xfrm>
            <a:off x="898525" y="739775"/>
            <a:ext cx="4935538"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7333" name="Rectangle 1029"/>
          <p:cNvSpPr>
            <a:spLocks noGrp="1" noChangeArrowheads="1"/>
          </p:cNvSpPr>
          <p:nvPr>
            <p:ph type="body" sz="quarter" idx="3"/>
          </p:nvPr>
        </p:nvSpPr>
        <p:spPr bwMode="auto">
          <a:xfrm>
            <a:off x="896938" y="4689475"/>
            <a:ext cx="4938712" cy="4441825"/>
          </a:xfrm>
          <a:prstGeom prst="rect">
            <a:avLst/>
          </a:prstGeom>
          <a:noFill/>
          <a:ln w="12700">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7334" name="Rectangle 1030"/>
          <p:cNvSpPr>
            <a:spLocks noGrp="1" noChangeArrowheads="1"/>
          </p:cNvSpPr>
          <p:nvPr>
            <p:ph type="ftr" sz="quarter" idx="4"/>
          </p:nvPr>
        </p:nvSpPr>
        <p:spPr bwMode="auto">
          <a:xfrm>
            <a:off x="0" y="9377363"/>
            <a:ext cx="2917825" cy="493712"/>
          </a:xfrm>
          <a:prstGeom prst="rect">
            <a:avLst/>
          </a:prstGeom>
          <a:noFill/>
          <a:ln w="12700">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27335" name="Rectangle 1031"/>
          <p:cNvSpPr>
            <a:spLocks noGrp="1" noChangeArrowheads="1"/>
          </p:cNvSpPr>
          <p:nvPr>
            <p:ph type="sldNum" sz="quarter" idx="5"/>
          </p:nvPr>
        </p:nvSpPr>
        <p:spPr bwMode="auto">
          <a:xfrm>
            <a:off x="3814763" y="9377363"/>
            <a:ext cx="2917825" cy="493712"/>
          </a:xfrm>
          <a:prstGeom prst="rect">
            <a:avLst/>
          </a:prstGeom>
          <a:noFill/>
          <a:ln w="12700">
            <a:noFill/>
            <a:miter lim="800000"/>
          </a:ln>
          <a:effectLst/>
        </p:spPr>
        <p:txBody>
          <a:bodyPr vert="horz" wrap="square" lIns="91440" tIns="45720" rIns="91440" bIns="45720" numCol="1" anchor="b" anchorCtr="0" compatLnSpc="1"/>
          <a:lstStyle>
            <a:lvl1pPr algn="r">
              <a:defRPr sz="1200"/>
            </a:lvl1pPr>
          </a:lstStyle>
          <a:p>
            <a:pPr>
              <a:defRPr/>
            </a:pPr>
            <a:fld id="{E55696C8-9EA1-42CE-8D53-842C598E3543}" type="slidenum">
              <a:rPr lang="en-US" altLang="en-US"/>
              <a:t>‹#›</a:t>
            </a:fld>
            <a:endParaRPr lang="en-US" altLang="en-US"/>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pPr>
              <a:defRPr/>
            </a:pPr>
            <a:fld id="{F2B75972-D2A2-41F7-904E-1E64020CAC85}" type="datetime1">
              <a:rPr lang="en-US" smtClean="0"/>
              <a:t>3/21/2021</a:t>
            </a:fld>
            <a:endParaRPr lang="en-US"/>
          </a:p>
        </p:txBody>
      </p:sp>
    </p:spTree>
    <p:extLst>
      <p:ext uri="{BB962C8B-B14F-4D97-AF65-F5344CB8AC3E}">
        <p14:creationId xmlns:p14="http://schemas.microsoft.com/office/powerpoint/2010/main" val="416738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10681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91764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06869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692540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405813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6648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119660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057926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494392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736733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077706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566542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253663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27659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29273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184807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951145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695921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2.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3.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userDrawn="1"/>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userDrawn="1"/>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userDrawn="1"/>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ound Single Corner Rectangle 6"/>
          <p:cNvSpPr/>
          <p:nvPr userDrawn="1"/>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userDrawn="1"/>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userDrawn="1"/>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userDrawn="1"/>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userDrawn="1"/>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userDrawn="1"/>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Arc 10"/>
          <p:cNvSpPr>
            <a:spLocks noChangeAspect="1"/>
          </p:cNvSpPr>
          <p:nvPr userDrawn="1"/>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userDrawn="1"/>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userDrawn="1"/>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0450552-B38F-4EEB-B3F7-964F287A877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96243A8C-8571-4B1B-865B-0AE06F5B3A38}"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63DD3FC1-8B8F-46A3-B85E-093632260D0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Oval 8"/>
          <p:cNvSpPr/>
          <p:nvPr userDrawn="1"/>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userDrawn="1"/>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userDrawn="1"/>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userDrawn="1"/>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Oval 5"/>
          <p:cNvSpPr/>
          <p:nvPr userDrawn="1"/>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userDrawn="1"/>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userDrawn="1"/>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userDrawn="1"/>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userDrawn="1"/>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userDrawn="1"/>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userDrawn="1"/>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userDrawn="1"/>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userDrawn="1"/>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DCC19A6C-97F2-40B8-B2C9-6A0CE13C5205}"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userDrawn="1"/>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userDrawn="1"/>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userDrawn="1"/>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userDrawn="1"/>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userDrawn="1"/>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userDrawn="1"/>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userDrawn="1"/>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userDrawn="1"/>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772400" cy="685800"/>
          </a:xfrm>
        </p:spPr>
        <p:txBody>
          <a:bodyPr/>
          <a:lstStyle/>
          <a:p>
            <a:r>
              <a:rPr lang="en-US" noProof="1"/>
              <a:t>Click to edit Master title style</a:t>
            </a:r>
          </a:p>
        </p:txBody>
      </p:sp>
      <p:sp>
        <p:nvSpPr>
          <p:cNvPr id="3" name="SmartArt Placeholder 2"/>
          <p:cNvSpPr>
            <a:spLocks noGrp="1"/>
          </p:cNvSpPr>
          <p:nvPr>
            <p:ph type="pic" idx="1"/>
          </p:nvPr>
        </p:nvSpPr>
        <p:spPr>
          <a:xfrm>
            <a:off x="381000" y="1219200"/>
            <a:ext cx="7924800" cy="4648200"/>
          </a:xfrm>
        </p:spPr>
        <p:txBody>
          <a:bodyPr rtlCol="0">
            <a:normAutofit/>
          </a:bodyPr>
          <a:lstStyle/>
          <a:p>
            <a:pPr lvl="0"/>
            <a:endParaRPr lang="en-US" noProof="0"/>
          </a:p>
        </p:txBody>
      </p:sp>
      <p:sp>
        <p:nvSpPr>
          <p:cNvPr id="4" name="Rectangle 1029"/>
          <p:cNvSpPr>
            <a:spLocks noGrp="1" noChangeArrowheads="1"/>
          </p:cNvSpPr>
          <p:nvPr>
            <p:ph type="dt" sz="half" idx="10"/>
          </p:nvPr>
        </p:nvSpPr>
        <p:spPr>
          <a:xfrm>
            <a:off x="0" y="0"/>
            <a:ext cx="0" cy="0"/>
          </a:xfrm>
        </p:spPr>
        <p:txBody>
          <a:bodyPr/>
          <a:lstStyle>
            <a:lvl1pPr>
              <a:defRPr/>
            </a:lvl1pPr>
          </a:lstStyle>
          <a:p>
            <a:pPr>
              <a:defRPr/>
            </a:pPr>
            <a:endParaRPr lang="en-US"/>
          </a:p>
        </p:txBody>
      </p:sp>
      <p:sp>
        <p:nvSpPr>
          <p:cNvPr id="5" name="Rectangle 1031"/>
          <p:cNvSpPr>
            <a:spLocks noGrp="1" noChangeArrowheads="1"/>
          </p:cNvSpPr>
          <p:nvPr>
            <p:ph type="sldNum" sz="quarter" idx="11"/>
          </p:nvPr>
        </p:nvSpPr>
        <p:spPr>
          <a:xfrm>
            <a:off x="0" y="0"/>
            <a:ext cx="0" cy="0"/>
          </a:xfrm>
        </p:spPr>
        <p:txBody>
          <a:bodyPr/>
          <a:lstStyle>
            <a:lvl1pPr>
              <a:defRPr/>
            </a:lvl1pPr>
          </a:lstStyle>
          <a:p>
            <a:pPr>
              <a:defRPr/>
            </a:pPr>
            <a:fld id="{557C4883-017D-421A-9754-0B089E9ECB85}"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image" Target="../media/image1.jpe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3.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2051"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2052"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FB28ABBC-DA78-4D5A-81AA-B36017CC35B4}" type="slidenum">
              <a:rPr lang="en-GB" sz="790" smtClean="0">
                <a:solidFill>
                  <a:schemeClr val="bg1">
                    <a:lumMod val="50000"/>
                  </a:schemeClr>
                </a:solidFill>
              </a:rPr>
              <a:t>‹#›</a:t>
            </a:fld>
            <a:endParaRPr lang="en-GB" sz="790" dirty="0">
              <a:solidFill>
                <a:schemeClr val="bg1">
                  <a:lumMod val="50000"/>
                </a:schemeClr>
              </a:solidFill>
            </a:endParaRPr>
          </a:p>
        </p:txBody>
      </p:sp>
      <p:pic>
        <p:nvPicPr>
          <p:cNvPr id="2055"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a:xfrm flipH="1">
            <a:off x="4648198" y="2770424"/>
            <a:ext cx="4419484" cy="865188"/>
          </a:xfrm>
        </p:spPr>
        <p:txBody>
          <a:bodyPr/>
          <a:lstStyle/>
          <a:p>
            <a:pPr algn="ctr" eaLnBrk="1" hangingPunct="1"/>
            <a:r>
              <a:rPr lang="en-US" altLang="de-DE" sz="4000" dirty="0"/>
              <a:t>Agile 7-DB Systel </a:t>
            </a:r>
            <a:br>
              <a:rPr lang="en-US" altLang="de-DE" sz="4000" dirty="0"/>
            </a:br>
            <a:r>
              <a:rPr lang="en-US" altLang="de-DE" sz="3200" dirty="0"/>
              <a:t>Japanese</a:t>
            </a:r>
            <a:endParaRPr lang="en-US" altLang="de-DE" sz="4000" dirty="0"/>
          </a:p>
        </p:txBody>
      </p:sp>
      <p:sp>
        <p:nvSpPr>
          <p:cNvPr id="3" name="Text Placeholder 2"/>
          <p:cNvSpPr>
            <a:spLocks noGrp="1"/>
          </p:cNvSpPr>
          <p:nvPr>
            <p:ph type="body" sz="quarter" idx="16"/>
          </p:nvPr>
        </p:nvSpPr>
        <p:spPr>
          <a:xfrm>
            <a:off x="6705544" y="4876762"/>
            <a:ext cx="1984375" cy="292100"/>
          </a:xfrm>
        </p:spPr>
        <p:txBody>
          <a:bodyPr rtlCol="0"/>
          <a:lstStyle/>
          <a:p>
            <a:pPr eaLnBrk="1" fontAlgn="auto" hangingPunct="1">
              <a:spcAft>
                <a:spcPts val="0"/>
              </a:spcAft>
              <a:defRPr/>
            </a:pPr>
            <a:r>
              <a:rPr lang="en-US" dirty="0"/>
              <a:t>Neeraj Vohra</a:t>
            </a:r>
          </a:p>
        </p:txBody>
      </p:sp>
      <p:pic>
        <p:nvPicPr>
          <p:cNvPr id="29700" name="Picture 11" descr="DB-MNL_rgb_M"/>
          <p:cNvPicPr>
            <a:picLocks noChangeAspect="1" noChangeArrowheads="1"/>
          </p:cNvPicPr>
          <p:nvPr/>
        </p:nvPicPr>
        <p:blipFill>
          <a:blip r:embed="rId3">
            <a:extLst>
              <a:ext uri="{28A0092B-C50C-407E-A947-70E740481C1C}">
                <a14:useLocalDpi xmlns:a14="http://schemas.microsoft.com/office/drawing/2010/main" val="0"/>
              </a:ext>
            </a:extLst>
          </a:blip>
          <a:srcRect l="-2255" t="-46503" r="-16711" b="-14403"/>
          <a:stretch>
            <a:fillRect/>
          </a:stretch>
        </p:blipFill>
        <p:spPr bwMode="auto">
          <a:xfrm>
            <a:off x="4570413" y="5791200"/>
            <a:ext cx="19843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Shu Ha Ri?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914466"/>
            <a:ext cx="8272354" cy="5333934"/>
          </a:xfrm>
        </p:spPr>
        <p:txBody>
          <a:bodyPr/>
          <a:lstStyle/>
          <a:p>
            <a:pPr marL="0" indent="0">
              <a:lnSpc>
                <a:spcPct val="107000"/>
              </a:lnSpc>
              <a:spcBef>
                <a:spcPts val="0"/>
              </a:spcBef>
              <a:spcAft>
                <a:spcPts val="800"/>
              </a:spcAft>
              <a:buNone/>
            </a:pPr>
            <a:endParaRPr lang="en-US" sz="2000" b="1"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7000"/>
              </a:lnSpc>
              <a:spcBef>
                <a:spcPts val="0"/>
              </a:spcBef>
              <a:spcAft>
                <a:spcPts val="800"/>
              </a:spcAft>
              <a:buNone/>
            </a:pPr>
            <a:endParaRPr lang="en-US" sz="2000" b="1"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7000"/>
              </a:lnSpc>
              <a:spcBef>
                <a:spcPts val="0"/>
              </a:spcBef>
              <a:spcAft>
                <a:spcPts val="800"/>
              </a:spcAft>
              <a:buNone/>
            </a:pPr>
            <a:endParaRPr lang="en-US" sz="2000" b="1"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7000"/>
              </a:lnSpc>
              <a:spcBef>
                <a:spcPts val="0"/>
              </a:spcBef>
              <a:spcAft>
                <a:spcPts val="800"/>
              </a:spcAft>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19" name="TextBox 18">
            <a:extLst>
              <a:ext uri="{FF2B5EF4-FFF2-40B4-BE49-F238E27FC236}">
                <a16:creationId xmlns:a16="http://schemas.microsoft.com/office/drawing/2014/main" id="{26D059B0-1510-4BD5-9444-971F98FB1F7B}"/>
              </a:ext>
            </a:extLst>
          </p:cNvPr>
          <p:cNvSpPr txBox="1"/>
          <p:nvPr/>
        </p:nvSpPr>
        <p:spPr>
          <a:xfrm>
            <a:off x="414338" y="914466"/>
            <a:ext cx="8729662" cy="707886"/>
          </a:xfrm>
          <a:prstGeom prst="rect">
            <a:avLst/>
          </a:prstGeom>
          <a:noFill/>
        </p:spPr>
        <p:txBody>
          <a:bodyPr wrap="square">
            <a:spAutoFit/>
          </a:bodyPr>
          <a:lstStyle/>
          <a:p>
            <a:r>
              <a:rPr lang="en-US" sz="2000" dirty="0">
                <a:latin typeface="+mn-lt"/>
              </a:rPr>
              <a:t>Shu-Ha-Ri is a way of thinking about how you learn a technique. The description of Shu Ha Ri comes from the Japanese martial arts’ Kata (AKA forms)</a:t>
            </a:r>
          </a:p>
        </p:txBody>
      </p:sp>
      <p:pic>
        <p:nvPicPr>
          <p:cNvPr id="20" name="Picture 19">
            <a:extLst>
              <a:ext uri="{FF2B5EF4-FFF2-40B4-BE49-F238E27FC236}">
                <a16:creationId xmlns:a16="http://schemas.microsoft.com/office/drawing/2014/main" id="{25E53F24-144B-45E3-A03D-69D49F251BF8}"/>
              </a:ext>
            </a:extLst>
          </p:cNvPr>
          <p:cNvPicPr/>
          <p:nvPr/>
        </p:nvPicPr>
        <p:blipFill>
          <a:blip r:embed="rId3"/>
          <a:stretch>
            <a:fillRect/>
          </a:stretch>
        </p:blipFill>
        <p:spPr>
          <a:xfrm>
            <a:off x="2209800" y="2409755"/>
            <a:ext cx="4724400" cy="3686175"/>
          </a:xfrm>
          <a:prstGeom prst="rect">
            <a:avLst/>
          </a:prstGeom>
        </p:spPr>
      </p:pic>
    </p:spTree>
    <p:extLst>
      <p:ext uri="{BB962C8B-B14F-4D97-AF65-F5344CB8AC3E}">
        <p14:creationId xmlns:p14="http://schemas.microsoft.com/office/powerpoint/2010/main" val="165538318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        </a:t>
            </a:r>
            <a:r>
              <a:rPr lang="en-US" sz="2800" dirty="0"/>
              <a:t>Shu Ha Ri?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FB23C130-9BC6-41F0-BC96-95385574D061}"/>
              </a:ext>
            </a:extLst>
          </p:cNvPr>
          <p:cNvSpPr txBox="1"/>
          <p:nvPr/>
        </p:nvSpPr>
        <p:spPr>
          <a:xfrm>
            <a:off x="120" y="914466"/>
            <a:ext cx="9144000" cy="6247864"/>
          </a:xfrm>
          <a:prstGeom prst="rect">
            <a:avLst/>
          </a:prstGeom>
          <a:noFill/>
        </p:spPr>
        <p:txBody>
          <a:bodyPr wrap="square">
            <a:spAutoFit/>
          </a:bodyPr>
          <a:lstStyle/>
          <a:p>
            <a:r>
              <a:rPr lang="en-US" sz="2000" b="1" dirty="0">
                <a:latin typeface="+mn-lt"/>
              </a:rPr>
              <a:t>Shu</a:t>
            </a:r>
            <a:r>
              <a:rPr lang="en-US" sz="2000" dirty="0">
                <a:latin typeface="+mn-lt"/>
              </a:rPr>
              <a:t>: In this beginning stage students follow the teachings of one master precisely. They concentrate on how to do the task, without worrying too much about the underlying theory. If there are multiple variations on how to do the task, they concentrate on just the one way their master teaches them.</a:t>
            </a:r>
          </a:p>
          <a:p>
            <a:r>
              <a:rPr lang="en-US" sz="2000" dirty="0">
                <a:latin typeface="+mn-lt"/>
              </a:rPr>
              <a:t>A team starts with Shu. During this stage, team needs coaching, mentoring, and guidance to know what rules to follow. It practices Scrum by the book, follow the roles, the meetings/ceremonies, and the artifacts.  Shu: Follow the rule. Attributes: mimics the practices, learn the process basics.</a:t>
            </a:r>
          </a:p>
          <a:p>
            <a:endParaRPr lang="en-US" sz="2000" dirty="0">
              <a:latin typeface="+mn-lt"/>
            </a:endParaRPr>
          </a:p>
          <a:p>
            <a:r>
              <a:rPr lang="en-US" sz="2000" b="1" dirty="0">
                <a:latin typeface="+mn-lt"/>
              </a:rPr>
              <a:t>Ha:</a:t>
            </a:r>
            <a:r>
              <a:rPr lang="en-US" sz="2000" dirty="0">
                <a:latin typeface="+mn-lt"/>
              </a:rPr>
              <a:t> At this point students begin to branch out. With the basic practices working they now start to learn the underlying principles and theory behind the technique. They also start learning from other masters and integrates that learning into his practice.</a:t>
            </a:r>
          </a:p>
          <a:p>
            <a:r>
              <a:rPr lang="en-US" sz="2000" dirty="0">
                <a:latin typeface="+mn-lt"/>
              </a:rPr>
              <a:t>A team enters the Ha stage only after it has shown its ability to use Scrum as it was intended and has achieved a deep understanding of the spirit of Scrum, core values and 12 guiding principles. The team moves beyond a collection of skilled individuals toward thinking and acting as one unit. The team as a whole develop its own personality, staying consistent with practices, values and working through failures using retrospectives and adapt. Ha: break the rules.  Attributes: learning, growing, flexible</a:t>
            </a:r>
          </a:p>
          <a:p>
            <a:endParaRPr lang="en-US" sz="2000" dirty="0">
              <a:latin typeface="+mn-lt"/>
            </a:endParaRPr>
          </a:p>
        </p:txBody>
      </p:sp>
    </p:spTree>
    <p:extLst>
      <p:ext uri="{BB962C8B-B14F-4D97-AF65-F5344CB8AC3E}">
        <p14:creationId xmlns:p14="http://schemas.microsoft.com/office/powerpoint/2010/main" val="368492950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        </a:t>
            </a:r>
            <a:r>
              <a:rPr lang="en-US" sz="2800" dirty="0"/>
              <a:t>Shu Ha Ri?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FB23C130-9BC6-41F0-BC96-95385574D061}"/>
              </a:ext>
            </a:extLst>
          </p:cNvPr>
          <p:cNvSpPr txBox="1"/>
          <p:nvPr/>
        </p:nvSpPr>
        <p:spPr>
          <a:xfrm>
            <a:off x="120" y="914466"/>
            <a:ext cx="9144000" cy="5324535"/>
          </a:xfrm>
          <a:prstGeom prst="rect">
            <a:avLst/>
          </a:prstGeom>
          <a:noFill/>
        </p:spPr>
        <p:txBody>
          <a:bodyPr wrap="square">
            <a:spAutoFit/>
          </a:bodyPr>
          <a:lstStyle/>
          <a:p>
            <a:r>
              <a:rPr lang="en-US" sz="2000" b="1" dirty="0">
                <a:latin typeface="+mn-lt"/>
              </a:rPr>
              <a:t>Ri: </a:t>
            </a:r>
            <a:r>
              <a:rPr lang="en-US" sz="2000" dirty="0">
                <a:latin typeface="+mn-lt"/>
              </a:rPr>
              <a:t>Now the students aren't learning from other people, but from their own practice. They create their own approaches and adapts what they've learned to their own particular circumstances.</a:t>
            </a:r>
          </a:p>
          <a:p>
            <a:endParaRPr lang="en-US" sz="2000" dirty="0">
              <a:latin typeface="+mn-lt"/>
            </a:endParaRPr>
          </a:p>
          <a:p>
            <a:r>
              <a:rPr lang="en-US" sz="2000" dirty="0">
                <a:latin typeface="+mn-lt"/>
              </a:rPr>
              <a:t>Ri is the highest-level team may reach and output of the team is greater than the sum of the work of the individuals on the team. In Ri level, the team is innovative, and they experiment with new ideas and concepts, share the results, and make a recommendation as to how to proceed. Here the team is more sustainable and predictable, with a clear focus on improved throughput.  Ri: be the rule. Attributes: efficient, precise, confident, self-managing, transparent, trusted, and proven.</a:t>
            </a:r>
          </a:p>
          <a:p>
            <a:endParaRPr lang="en-US" sz="2000" dirty="0">
              <a:latin typeface="+mn-lt"/>
            </a:endParaRPr>
          </a:p>
          <a:p>
            <a:r>
              <a:rPr lang="en-US" sz="2000" dirty="0">
                <a:latin typeface="+mn-lt"/>
              </a:rPr>
              <a:t>Like any self-disciplined skills of martial arts, </a:t>
            </a:r>
            <a:r>
              <a:rPr lang="en-US" sz="2000" b="1" dirty="0">
                <a:latin typeface="+mn-lt"/>
              </a:rPr>
              <a:t>the transition to next higher level depends on team members’ dedication to learn, inspect and adapt</a:t>
            </a:r>
            <a:r>
              <a:rPr lang="en-US" sz="2000" dirty="0">
                <a:latin typeface="+mn-lt"/>
              </a:rPr>
              <a:t>.  However, at each level, team should operate few sprints in learning what to do and then some more sprints to do it better in consistent way.</a:t>
            </a:r>
          </a:p>
          <a:p>
            <a:endParaRPr lang="en-US" sz="2000" dirty="0">
              <a:latin typeface="+mn-lt"/>
            </a:endParaRPr>
          </a:p>
          <a:p>
            <a:endParaRPr lang="en-US" sz="2000" dirty="0">
              <a:latin typeface="+mn-lt"/>
            </a:endParaRPr>
          </a:p>
        </p:txBody>
      </p:sp>
    </p:spTree>
    <p:extLst>
      <p:ext uri="{BB962C8B-B14F-4D97-AF65-F5344CB8AC3E}">
        <p14:creationId xmlns:p14="http://schemas.microsoft.com/office/powerpoint/2010/main" val="97731554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        </a:t>
            </a:r>
            <a:r>
              <a:rPr lang="en-US" sz="2800" dirty="0"/>
              <a:t>Shu Ha Ri?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FB23C130-9BC6-41F0-BC96-95385574D061}"/>
              </a:ext>
            </a:extLst>
          </p:cNvPr>
          <p:cNvSpPr txBox="1"/>
          <p:nvPr/>
        </p:nvSpPr>
        <p:spPr>
          <a:xfrm>
            <a:off x="120" y="914466"/>
            <a:ext cx="9144000" cy="5940088"/>
          </a:xfrm>
          <a:prstGeom prst="rect">
            <a:avLst/>
          </a:prstGeom>
          <a:noFill/>
        </p:spPr>
        <p:txBody>
          <a:bodyPr wrap="square">
            <a:spAutoFit/>
          </a:bodyPr>
          <a:lstStyle/>
          <a:p>
            <a:r>
              <a:rPr lang="en-US" sz="2000" b="1" dirty="0">
                <a:latin typeface="+mn-lt"/>
              </a:rPr>
              <a:t>Benefits for pursuing higher Stage (Ri – Level 3)</a:t>
            </a:r>
          </a:p>
          <a:p>
            <a:r>
              <a:rPr lang="en-US" sz="2000" b="1" dirty="0">
                <a:latin typeface="+mn-lt"/>
              </a:rPr>
              <a:t>Hyper-productivity</a:t>
            </a:r>
            <a:r>
              <a:rPr lang="en-US" sz="2000" dirty="0">
                <a:latin typeface="+mn-lt"/>
              </a:rPr>
              <a:t> – the team will be able to produce quality software at an amazing rate enabling a faster time to market and lower IT costs.</a:t>
            </a:r>
          </a:p>
          <a:p>
            <a:endParaRPr lang="en-US" sz="2000" dirty="0">
              <a:latin typeface="+mn-lt"/>
            </a:endParaRPr>
          </a:p>
          <a:p>
            <a:r>
              <a:rPr lang="en-US" sz="2000" b="1" dirty="0">
                <a:latin typeface="+mn-lt"/>
              </a:rPr>
              <a:t>Extremely efficient</a:t>
            </a:r>
            <a:r>
              <a:rPr lang="en-US" sz="2000" dirty="0">
                <a:latin typeface="+mn-lt"/>
              </a:rPr>
              <a:t> – the team will efficiently estimate, plan, execute and report progress and impediments.</a:t>
            </a:r>
          </a:p>
          <a:p>
            <a:endParaRPr lang="en-US" sz="2000" dirty="0">
              <a:latin typeface="+mn-lt"/>
            </a:endParaRPr>
          </a:p>
          <a:p>
            <a:r>
              <a:rPr lang="en-US" sz="2000" b="1" dirty="0">
                <a:latin typeface="+mn-lt"/>
              </a:rPr>
              <a:t>Higher quality</a:t>
            </a:r>
            <a:r>
              <a:rPr lang="en-US" sz="2000" dirty="0">
                <a:latin typeface="+mn-lt"/>
              </a:rPr>
              <a:t> – fewer defects will result from their work.</a:t>
            </a:r>
          </a:p>
          <a:p>
            <a:endParaRPr lang="en-US" sz="2000" dirty="0">
              <a:latin typeface="+mn-lt"/>
            </a:endParaRPr>
          </a:p>
          <a:p>
            <a:r>
              <a:rPr lang="en-US" sz="2000" b="1" dirty="0">
                <a:latin typeface="+mn-lt"/>
              </a:rPr>
              <a:t>Predictable and consistent</a:t>
            </a:r>
            <a:r>
              <a:rPr lang="en-US" sz="2000" dirty="0">
                <a:latin typeface="+mn-lt"/>
              </a:rPr>
              <a:t> – their velocity is well known and consistent, allowing for greater confidence in future delivery estimates.</a:t>
            </a:r>
          </a:p>
          <a:p>
            <a:endParaRPr lang="en-US" sz="2000" dirty="0">
              <a:latin typeface="+mn-lt"/>
            </a:endParaRPr>
          </a:p>
          <a:p>
            <a:r>
              <a:rPr lang="en-US" sz="2000" b="1" dirty="0">
                <a:latin typeface="+mn-lt"/>
              </a:rPr>
              <a:t>Improved morale</a:t>
            </a:r>
            <a:r>
              <a:rPr lang="en-US" sz="2000" dirty="0">
                <a:latin typeface="+mn-lt"/>
              </a:rPr>
              <a:t> – members want to work together more for the betterment of the team.</a:t>
            </a:r>
          </a:p>
          <a:p>
            <a:endParaRPr lang="en-US" sz="2000" dirty="0">
              <a:latin typeface="+mn-lt"/>
            </a:endParaRPr>
          </a:p>
          <a:p>
            <a:r>
              <a:rPr lang="en-US" sz="2000" b="1" dirty="0">
                <a:latin typeface="+mn-lt"/>
              </a:rPr>
              <a:t>Improved stakeholder satisfaction</a:t>
            </a:r>
            <a:r>
              <a:rPr lang="en-US" sz="2000" dirty="0">
                <a:latin typeface="+mn-lt"/>
              </a:rPr>
              <a:t> – business sponsors working with RI teams will enjoy working with the team.</a:t>
            </a:r>
          </a:p>
          <a:p>
            <a:endParaRPr lang="en-US" sz="2000" b="1" dirty="0">
              <a:latin typeface="+mn-lt"/>
            </a:endParaRPr>
          </a:p>
          <a:p>
            <a:endParaRPr lang="en-US" sz="2000" dirty="0">
              <a:latin typeface="+mn-lt"/>
            </a:endParaRPr>
          </a:p>
        </p:txBody>
      </p:sp>
    </p:spTree>
    <p:extLst>
      <p:ext uri="{BB962C8B-B14F-4D97-AF65-F5344CB8AC3E}">
        <p14:creationId xmlns:p14="http://schemas.microsoft.com/office/powerpoint/2010/main" val="189343504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        </a:t>
            </a:r>
            <a:r>
              <a:rPr lang="en-US" sz="2800" dirty="0"/>
              <a:t>Shu Ha Ri?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FB23C130-9BC6-41F0-BC96-95385574D061}"/>
              </a:ext>
            </a:extLst>
          </p:cNvPr>
          <p:cNvSpPr txBox="1"/>
          <p:nvPr/>
        </p:nvSpPr>
        <p:spPr>
          <a:xfrm>
            <a:off x="120" y="914466"/>
            <a:ext cx="9144000" cy="4708981"/>
          </a:xfrm>
          <a:prstGeom prst="rect">
            <a:avLst/>
          </a:prstGeom>
          <a:noFill/>
        </p:spPr>
        <p:txBody>
          <a:bodyPr wrap="square">
            <a:spAutoFit/>
          </a:bodyPr>
          <a:lstStyle/>
          <a:p>
            <a:r>
              <a:rPr lang="en-US" sz="2000" b="1" dirty="0">
                <a:latin typeface="+mn-lt"/>
              </a:rPr>
              <a:t>Characteristics of Best Performing Agile Team.</a:t>
            </a:r>
          </a:p>
          <a:p>
            <a:r>
              <a:rPr lang="en-US" sz="2000" dirty="0">
                <a:latin typeface="+mn-lt"/>
              </a:rPr>
              <a:t>A cross-functional, self-organizing agile team exhibits following behaviors to create a successful team and product.</a:t>
            </a:r>
          </a:p>
          <a:p>
            <a:r>
              <a:rPr lang="en-US" sz="2000" b="1" dirty="0">
                <a:latin typeface="+mn-lt"/>
              </a:rPr>
              <a:t>respect</a:t>
            </a:r>
            <a:r>
              <a:rPr lang="en-US" sz="2000" dirty="0">
                <a:latin typeface="+mn-lt"/>
              </a:rPr>
              <a:t> - between individuals and teams, also from leadership and the business regarding velocity</a:t>
            </a:r>
          </a:p>
          <a:p>
            <a:r>
              <a:rPr lang="en-US" sz="2000" b="1" dirty="0">
                <a:latin typeface="+mn-lt"/>
              </a:rPr>
              <a:t>transparency</a:t>
            </a:r>
            <a:r>
              <a:rPr lang="en-US" sz="2000" dirty="0">
                <a:latin typeface="+mn-lt"/>
              </a:rPr>
              <a:t> - makes successes, issues, risks, and failures visible</a:t>
            </a:r>
          </a:p>
          <a:p>
            <a:r>
              <a:rPr lang="en-US" sz="2000" b="1" dirty="0">
                <a:latin typeface="+mn-lt"/>
              </a:rPr>
              <a:t>commitment </a:t>
            </a:r>
            <a:r>
              <a:rPr lang="en-US" sz="2000" dirty="0">
                <a:latin typeface="+mn-lt"/>
              </a:rPr>
              <a:t>- to complete the work that was committed to</a:t>
            </a:r>
          </a:p>
          <a:p>
            <a:r>
              <a:rPr lang="en-US" sz="2000" b="1" dirty="0">
                <a:latin typeface="+mn-lt"/>
              </a:rPr>
              <a:t>simplicity</a:t>
            </a:r>
            <a:r>
              <a:rPr lang="en-US" sz="2000" dirty="0">
                <a:latin typeface="+mn-lt"/>
              </a:rPr>
              <a:t> - in process, in tools, in our designs, and in what is built</a:t>
            </a:r>
          </a:p>
          <a:p>
            <a:r>
              <a:rPr lang="en-US" sz="2000" b="1" dirty="0">
                <a:latin typeface="+mn-lt"/>
              </a:rPr>
              <a:t>truth</a:t>
            </a:r>
            <a:r>
              <a:rPr lang="en-US" sz="2000" dirty="0">
                <a:latin typeface="+mn-lt"/>
              </a:rPr>
              <a:t> - in every communication</a:t>
            </a:r>
          </a:p>
          <a:p>
            <a:r>
              <a:rPr lang="en-US" sz="2000" b="1" dirty="0">
                <a:latin typeface="+mn-lt"/>
              </a:rPr>
              <a:t>focus</a:t>
            </a:r>
            <a:r>
              <a:rPr lang="en-US" sz="2000" dirty="0">
                <a:latin typeface="+mn-lt"/>
              </a:rPr>
              <a:t> - on the critical path and in resolving issues with urgency</a:t>
            </a:r>
          </a:p>
          <a:p>
            <a:r>
              <a:rPr lang="en-US" sz="2000" b="1" dirty="0">
                <a:latin typeface="+mn-lt"/>
              </a:rPr>
              <a:t>trust</a:t>
            </a:r>
            <a:r>
              <a:rPr lang="en-US" sz="2000" dirty="0">
                <a:latin typeface="+mn-lt"/>
              </a:rPr>
              <a:t> - between individuals and teams, between business and technology,</a:t>
            </a:r>
          </a:p>
          <a:p>
            <a:r>
              <a:rPr lang="en-US" sz="2000" b="1" dirty="0">
                <a:latin typeface="+mn-lt"/>
              </a:rPr>
              <a:t>feedback</a:t>
            </a:r>
            <a:r>
              <a:rPr lang="en-US" sz="2000" dirty="0">
                <a:latin typeface="+mn-lt"/>
              </a:rPr>
              <a:t> - via demonstrations and retrospectives</a:t>
            </a:r>
          </a:p>
          <a:p>
            <a:r>
              <a:rPr lang="en-US" sz="2000" b="1" dirty="0">
                <a:latin typeface="+mn-lt"/>
              </a:rPr>
              <a:t>courage</a:t>
            </a:r>
            <a:r>
              <a:rPr lang="en-US" sz="2000" dirty="0">
                <a:latin typeface="+mn-lt"/>
              </a:rPr>
              <a:t> - to do/say what is right especially when that will be uncomfortable for those involved</a:t>
            </a:r>
          </a:p>
          <a:p>
            <a:endParaRPr lang="en-US" sz="2000" dirty="0">
              <a:latin typeface="+mn-lt"/>
            </a:endParaRPr>
          </a:p>
        </p:txBody>
      </p:sp>
    </p:spTree>
    <p:extLst>
      <p:ext uri="{BB962C8B-B14F-4D97-AF65-F5344CB8AC3E}">
        <p14:creationId xmlns:p14="http://schemas.microsoft.com/office/powerpoint/2010/main" val="20470782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        </a:t>
            </a:r>
            <a:r>
              <a:rPr lang="en-US" sz="2800" dirty="0"/>
              <a:t>Shu Ha Ri?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FDF0A380-00F1-47C0-8CEB-FF8064B53C9D}"/>
              </a:ext>
            </a:extLst>
          </p:cNvPr>
          <p:cNvPicPr/>
          <p:nvPr/>
        </p:nvPicPr>
        <p:blipFill>
          <a:blip r:embed="rId3"/>
          <a:stretch>
            <a:fillRect/>
          </a:stretch>
        </p:blipFill>
        <p:spPr>
          <a:xfrm>
            <a:off x="838298" y="990664"/>
            <a:ext cx="7162612" cy="4724276"/>
          </a:xfrm>
          <a:prstGeom prst="rect">
            <a:avLst/>
          </a:prstGeom>
        </p:spPr>
      </p:pic>
    </p:spTree>
    <p:extLst>
      <p:ext uri="{BB962C8B-B14F-4D97-AF65-F5344CB8AC3E}">
        <p14:creationId xmlns:p14="http://schemas.microsoft.com/office/powerpoint/2010/main" val="94799112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        </a:t>
            </a:r>
            <a:br>
              <a:rPr lang="en-US" sz="3200" dirty="0"/>
            </a:br>
            <a:r>
              <a:rPr lang="en-US" sz="2800" dirty="0"/>
              <a:t>Poka-yoke</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FB23C130-9BC6-41F0-BC96-95385574D061}"/>
              </a:ext>
            </a:extLst>
          </p:cNvPr>
          <p:cNvSpPr txBox="1"/>
          <p:nvPr/>
        </p:nvSpPr>
        <p:spPr>
          <a:xfrm>
            <a:off x="120" y="1005959"/>
            <a:ext cx="9144000" cy="4708981"/>
          </a:xfrm>
          <a:prstGeom prst="rect">
            <a:avLst/>
          </a:prstGeom>
          <a:noFill/>
        </p:spPr>
        <p:txBody>
          <a:bodyPr wrap="square">
            <a:spAutoFit/>
          </a:bodyPr>
          <a:lstStyle/>
          <a:p>
            <a:r>
              <a:rPr lang="en-US" sz="2000" dirty="0">
                <a:latin typeface="+mn-lt"/>
              </a:rPr>
              <a:t>Humans make mistakes, and these mistakes can cause defective products. Poka-Yoke, also known as </a:t>
            </a:r>
            <a:r>
              <a:rPr lang="en-US" sz="2000" b="1" dirty="0">
                <a:latin typeface="+mn-lt"/>
              </a:rPr>
              <a:t>mistake-proofing</a:t>
            </a:r>
            <a:r>
              <a:rPr lang="en-US" sz="2000" dirty="0">
                <a:latin typeface="+mn-lt"/>
              </a:rPr>
              <a:t>, is a technique for avoiding simple human errors at work.</a:t>
            </a:r>
          </a:p>
          <a:p>
            <a:r>
              <a:rPr lang="en-US" sz="2000" dirty="0">
                <a:latin typeface="+mn-lt"/>
              </a:rPr>
              <a:t>'Poka’ means 'Mistakes' and 'Yoke' means 'Avoid'. Its objective is to achieve Zero defects.</a:t>
            </a:r>
          </a:p>
          <a:p>
            <a:endParaRPr lang="en-US" sz="2000" dirty="0">
              <a:latin typeface="+mn-lt"/>
            </a:endParaRPr>
          </a:p>
          <a:p>
            <a:r>
              <a:rPr lang="en-US" sz="2000" dirty="0">
                <a:latin typeface="+mn-lt"/>
              </a:rPr>
              <a:t>'Poka-yoke' is a quality assurance technique. the aim of poka-yoke is to eliminate defects in a product by preventing or correcting mistakes as early possible.</a:t>
            </a:r>
          </a:p>
          <a:p>
            <a:endParaRPr lang="en-US" sz="2000" dirty="0">
              <a:latin typeface="+mn-lt"/>
            </a:endParaRPr>
          </a:p>
          <a:p>
            <a:r>
              <a:rPr lang="en-US" sz="2000" dirty="0">
                <a:latin typeface="+mn-lt"/>
              </a:rPr>
              <a:t>When a mistake reaches the customer, it becomes a defect. Poka yoke aims to prevent defects by catching, correcting, and eliminating mistakes at the source.</a:t>
            </a:r>
          </a:p>
          <a:p>
            <a:endParaRPr lang="en-US" sz="2000" dirty="0">
              <a:latin typeface="+mn-lt"/>
            </a:endParaRPr>
          </a:p>
          <a:p>
            <a:r>
              <a:rPr lang="en-US" sz="2000" dirty="0">
                <a:latin typeface="+mn-lt"/>
              </a:rPr>
              <a:t>Immediate corrective or preventative actions.</a:t>
            </a:r>
          </a:p>
          <a:p>
            <a:r>
              <a:rPr lang="en-US" sz="2000" dirty="0">
                <a:latin typeface="+mn-lt"/>
              </a:rPr>
              <a:t>You have a step on brake or clutch before you start your 🚗.</a:t>
            </a:r>
          </a:p>
          <a:p>
            <a:endParaRPr lang="en-US" sz="2000" dirty="0">
              <a:latin typeface="+mn-lt"/>
            </a:endParaRPr>
          </a:p>
        </p:txBody>
      </p:sp>
    </p:spTree>
    <p:extLst>
      <p:ext uri="{BB962C8B-B14F-4D97-AF65-F5344CB8AC3E}">
        <p14:creationId xmlns:p14="http://schemas.microsoft.com/office/powerpoint/2010/main" val="160512664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        </a:t>
            </a:r>
            <a:br>
              <a:rPr lang="en-US" sz="3200" dirty="0"/>
            </a:br>
            <a:r>
              <a:rPr lang="en-US" sz="2800" dirty="0"/>
              <a:t>The six principles of poka-yoke</a:t>
            </a:r>
            <a:br>
              <a:rPr lang="en-US" sz="2800" dirty="0"/>
            </a:b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FB23C130-9BC6-41F0-BC96-95385574D061}"/>
              </a:ext>
            </a:extLst>
          </p:cNvPr>
          <p:cNvSpPr txBox="1"/>
          <p:nvPr/>
        </p:nvSpPr>
        <p:spPr>
          <a:xfrm>
            <a:off x="120" y="1005959"/>
            <a:ext cx="9144000" cy="5632311"/>
          </a:xfrm>
          <a:prstGeom prst="rect">
            <a:avLst/>
          </a:prstGeom>
          <a:noFill/>
        </p:spPr>
        <p:txBody>
          <a:bodyPr wrap="square">
            <a:spAutoFit/>
          </a:bodyPr>
          <a:lstStyle/>
          <a:p>
            <a:r>
              <a:rPr lang="en-US" sz="2000" b="1" dirty="0">
                <a:latin typeface="+mn-lt"/>
              </a:rPr>
              <a:t>Elimination</a:t>
            </a:r>
            <a:r>
              <a:rPr lang="en-US" sz="2000" dirty="0">
                <a:latin typeface="+mn-lt"/>
              </a:rPr>
              <a:t> – the most preferable solution. It involves redesigning a product or process so that a particular step is no longer necessary.</a:t>
            </a:r>
          </a:p>
          <a:p>
            <a:endParaRPr lang="en-US" sz="2000" b="1" dirty="0">
              <a:latin typeface="+mn-lt"/>
            </a:endParaRPr>
          </a:p>
          <a:p>
            <a:r>
              <a:rPr lang="en-US" sz="2000" b="1" dirty="0">
                <a:latin typeface="+mn-lt"/>
              </a:rPr>
              <a:t>Prevention</a:t>
            </a:r>
            <a:r>
              <a:rPr lang="en-US" sz="2000" dirty="0">
                <a:latin typeface="+mn-lt"/>
              </a:rPr>
              <a:t> – or engineering a product or service so that it is virtually impossible for an individual to make a mistake.</a:t>
            </a:r>
          </a:p>
          <a:p>
            <a:endParaRPr lang="en-US" sz="2000" dirty="0">
              <a:latin typeface="+mn-lt"/>
            </a:endParaRPr>
          </a:p>
          <a:p>
            <a:r>
              <a:rPr lang="en-US" sz="2000" b="1" dirty="0">
                <a:latin typeface="+mn-lt"/>
              </a:rPr>
              <a:t>Replacement</a:t>
            </a:r>
            <a:r>
              <a:rPr lang="en-US" sz="2000" dirty="0">
                <a:latin typeface="+mn-lt"/>
              </a:rPr>
              <a:t> – can a more reliable process be substituted in to lessen the chances of an error occurring?</a:t>
            </a:r>
          </a:p>
          <a:p>
            <a:endParaRPr lang="en-US" sz="2000" dirty="0">
              <a:latin typeface="+mn-lt"/>
            </a:endParaRPr>
          </a:p>
          <a:p>
            <a:r>
              <a:rPr lang="en-US" sz="2000" b="1" dirty="0">
                <a:latin typeface="+mn-lt"/>
              </a:rPr>
              <a:t>Facilitation</a:t>
            </a:r>
            <a:r>
              <a:rPr lang="en-US" sz="2000" dirty="0">
                <a:latin typeface="+mn-lt"/>
              </a:rPr>
              <a:t> – or the adoption of techniques to make a task easier to perform. This may involve combining certain steps.</a:t>
            </a:r>
          </a:p>
          <a:p>
            <a:endParaRPr lang="en-US" sz="2000" dirty="0">
              <a:latin typeface="+mn-lt"/>
            </a:endParaRPr>
          </a:p>
          <a:p>
            <a:r>
              <a:rPr lang="en-US" sz="2000" b="1" dirty="0">
                <a:latin typeface="+mn-lt"/>
              </a:rPr>
              <a:t>Detection</a:t>
            </a:r>
            <a:r>
              <a:rPr lang="en-US" sz="2000" dirty="0">
                <a:latin typeface="+mn-lt"/>
              </a:rPr>
              <a:t> – or identifying an error before further process steps are undertaken. This allows the error to be rectified without further damage to equipment or personnel.</a:t>
            </a:r>
          </a:p>
          <a:p>
            <a:endParaRPr lang="en-US" sz="2000" dirty="0">
              <a:latin typeface="+mn-lt"/>
            </a:endParaRPr>
          </a:p>
          <a:p>
            <a:r>
              <a:rPr lang="en-US" sz="2000" b="1" dirty="0">
                <a:latin typeface="+mn-lt"/>
              </a:rPr>
              <a:t>Mitigation</a:t>
            </a:r>
            <a:r>
              <a:rPr lang="en-US" sz="2000" dirty="0">
                <a:latin typeface="+mn-lt"/>
              </a:rPr>
              <a:t> – the least preferable solution. Here, the aim is to minimize the effects of errors without necessarily solving them.</a:t>
            </a:r>
          </a:p>
          <a:p>
            <a:endParaRPr lang="en-US" sz="2000" dirty="0">
              <a:latin typeface="+mn-lt"/>
            </a:endParaRPr>
          </a:p>
        </p:txBody>
      </p:sp>
    </p:spTree>
    <p:extLst>
      <p:ext uri="{BB962C8B-B14F-4D97-AF65-F5344CB8AC3E}">
        <p14:creationId xmlns:p14="http://schemas.microsoft.com/office/powerpoint/2010/main" val="399993061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        </a:t>
            </a:r>
            <a:br>
              <a:rPr lang="en-US" sz="3200" dirty="0"/>
            </a:br>
            <a:r>
              <a:rPr lang="en-US" sz="2800" dirty="0"/>
              <a:t>The six principles of poka-yoke</a:t>
            </a:r>
            <a:br>
              <a:rPr lang="en-US" sz="2800" dirty="0"/>
            </a:b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69589A94-4F63-4311-981A-A5C79F2FC927}"/>
              </a:ext>
            </a:extLst>
          </p:cNvPr>
          <p:cNvPicPr>
            <a:picLocks noChangeAspect="1"/>
          </p:cNvPicPr>
          <p:nvPr/>
        </p:nvPicPr>
        <p:blipFill>
          <a:blip r:embed="rId3"/>
          <a:stretch>
            <a:fillRect/>
          </a:stretch>
        </p:blipFill>
        <p:spPr>
          <a:xfrm>
            <a:off x="342900" y="1404937"/>
            <a:ext cx="8458200" cy="4048125"/>
          </a:xfrm>
          <a:prstGeom prst="rect">
            <a:avLst/>
          </a:prstGeom>
        </p:spPr>
      </p:pic>
    </p:spTree>
    <p:extLst>
      <p:ext uri="{BB962C8B-B14F-4D97-AF65-F5344CB8AC3E}">
        <p14:creationId xmlns:p14="http://schemas.microsoft.com/office/powerpoint/2010/main" val="2357155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        </a:t>
            </a:r>
            <a:r>
              <a:rPr lang="en-US" sz="2800" dirty="0"/>
              <a:t>kata</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962591"/>
            <a:ext cx="9144000" cy="1323439"/>
          </a:xfrm>
          <a:prstGeom prst="rect">
            <a:avLst/>
          </a:prstGeom>
          <a:noFill/>
        </p:spPr>
        <p:txBody>
          <a:bodyPr wrap="square">
            <a:spAutoFit/>
          </a:bodyPr>
          <a:lstStyle/>
          <a:p>
            <a:r>
              <a:rPr lang="en-US" sz="2000" dirty="0">
                <a:latin typeface="+mn-lt"/>
              </a:rPr>
              <a:t>Kata is structured practice for consistent improvement.</a:t>
            </a:r>
          </a:p>
          <a:p>
            <a:r>
              <a:rPr lang="en-US" sz="2000" dirty="0">
                <a:latin typeface="+mn-lt"/>
              </a:rPr>
              <a:t>The form and order of doing things. Instead of rushing to fix a problem when you have little to no-insight, kata in courage think before doing.</a:t>
            </a:r>
          </a:p>
          <a:p>
            <a:endParaRPr lang="en-US" sz="2000" dirty="0">
              <a:latin typeface="+mn-lt"/>
            </a:endParaRPr>
          </a:p>
        </p:txBody>
      </p:sp>
      <p:pic>
        <p:nvPicPr>
          <p:cNvPr id="18" name="Picture 17">
            <a:extLst>
              <a:ext uri="{FF2B5EF4-FFF2-40B4-BE49-F238E27FC236}">
                <a16:creationId xmlns:a16="http://schemas.microsoft.com/office/drawing/2014/main" id="{DF4D4BEB-8FA1-46B5-8CE0-23FE15ECDAD5}"/>
              </a:ext>
            </a:extLst>
          </p:cNvPr>
          <p:cNvPicPr/>
          <p:nvPr/>
        </p:nvPicPr>
        <p:blipFill>
          <a:blip r:embed="rId3"/>
          <a:stretch>
            <a:fillRect/>
          </a:stretch>
        </p:blipFill>
        <p:spPr>
          <a:xfrm>
            <a:off x="685903" y="2133635"/>
            <a:ext cx="7391205" cy="3733701"/>
          </a:xfrm>
          <a:prstGeom prst="rect">
            <a:avLst/>
          </a:prstGeom>
        </p:spPr>
      </p:pic>
    </p:spTree>
    <p:extLst>
      <p:ext uri="{BB962C8B-B14F-4D97-AF65-F5344CB8AC3E}">
        <p14:creationId xmlns:p14="http://schemas.microsoft.com/office/powerpoint/2010/main" val="394066748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        </a:t>
            </a:r>
            <a:r>
              <a:rPr lang="en-US" sz="2800" dirty="0"/>
              <a:t>Andon cord</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1325673"/>
            <a:ext cx="9144000" cy="3170099"/>
          </a:xfrm>
          <a:prstGeom prst="rect">
            <a:avLst/>
          </a:prstGeom>
          <a:noFill/>
        </p:spPr>
        <p:txBody>
          <a:bodyPr wrap="square">
            <a:spAutoFit/>
          </a:bodyPr>
          <a:lstStyle/>
          <a:p>
            <a:r>
              <a:rPr lang="en-US" sz="2000" dirty="0">
                <a:latin typeface="+mn-lt"/>
              </a:rPr>
              <a:t>Toyota developed the </a:t>
            </a:r>
            <a:r>
              <a:rPr lang="en-US" sz="2000" dirty="0" err="1">
                <a:latin typeface="+mn-lt"/>
              </a:rPr>
              <a:t>andon</a:t>
            </a:r>
            <a:r>
              <a:rPr lang="en-US" sz="2000" dirty="0">
                <a:latin typeface="+mn-lt"/>
              </a:rPr>
              <a:t> cord method in lean manufacturing whereby if a defect were to be detected on the production line, an employee can pull a cord or push a button to stop production so the defect can be addressed immediately. The aim was to give the worker the ability, and moreover the empowerment, to stop production when a defect is found, and immediately call for assistance.</a:t>
            </a:r>
          </a:p>
          <a:p>
            <a:endParaRPr lang="en-US" sz="2000" dirty="0">
              <a:latin typeface="+mn-lt"/>
            </a:endParaRPr>
          </a:p>
          <a:p>
            <a:r>
              <a:rPr lang="en-US" sz="2000" b="1" dirty="0">
                <a:latin typeface="+mn-lt"/>
              </a:rPr>
              <a:t>Applying the </a:t>
            </a:r>
            <a:r>
              <a:rPr lang="en-US" sz="2000" b="1" dirty="0" err="1">
                <a:latin typeface="+mn-lt"/>
              </a:rPr>
              <a:t>andon</a:t>
            </a:r>
            <a:r>
              <a:rPr lang="en-US" sz="2000" b="1" dirty="0">
                <a:latin typeface="+mn-lt"/>
              </a:rPr>
              <a:t> cord to Agile</a:t>
            </a:r>
          </a:p>
          <a:p>
            <a:r>
              <a:rPr lang="en-US" sz="2000" dirty="0">
                <a:latin typeface="+mn-lt"/>
              </a:rPr>
              <a:t>The principle is quite simple: if an issue occurs when testing, the tester has the empowerment to communicate the defect to the developer and the defect becomes the focus of attention until it’s rectified.</a:t>
            </a:r>
          </a:p>
        </p:txBody>
      </p:sp>
    </p:spTree>
    <p:extLst>
      <p:ext uri="{BB962C8B-B14F-4D97-AF65-F5344CB8AC3E}">
        <p14:creationId xmlns:p14="http://schemas.microsoft.com/office/powerpoint/2010/main" val="422080921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        Sashimi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1325673"/>
            <a:ext cx="9144000" cy="3477875"/>
          </a:xfrm>
          <a:prstGeom prst="rect">
            <a:avLst/>
          </a:prstGeom>
          <a:noFill/>
        </p:spPr>
        <p:txBody>
          <a:bodyPr wrap="square">
            <a:spAutoFit/>
          </a:bodyPr>
          <a:lstStyle/>
          <a:p>
            <a:r>
              <a:rPr lang="en-US" sz="2000" dirty="0">
                <a:latin typeface="+mn-lt"/>
              </a:rPr>
              <a:t>Sashimi is a Japanese word that means a pierced body. Basically, it is a Japanese dish that consists of fresh meat or fish, sliced into thin pieces. Each piece is similar in taste when compared with the other pieces.</a:t>
            </a:r>
          </a:p>
          <a:p>
            <a:endParaRPr lang="en-US" sz="2000" dirty="0">
              <a:latin typeface="+mn-lt"/>
            </a:endParaRPr>
          </a:p>
          <a:p>
            <a:r>
              <a:rPr lang="en-US" sz="2000" dirty="0">
                <a:latin typeface="+mn-lt"/>
              </a:rPr>
              <a:t>Sashimi in scrum methodology means every phase of the software development cycle in a sprint which includes requirement analysis, planning &amp;  design, development, testing, documentation is complete or not and the product is ready to be displayed, etc.</a:t>
            </a:r>
          </a:p>
          <a:p>
            <a:endParaRPr lang="en-US" sz="2000" dirty="0">
              <a:latin typeface="+mn-lt"/>
            </a:endParaRPr>
          </a:p>
          <a:p>
            <a:r>
              <a:rPr lang="en-IN" sz="2000" dirty="0">
                <a:effectLst/>
                <a:latin typeface="+mn-lt"/>
                <a:ea typeface="Times New Roman" panose="02020603050405020304" pitchFamily="18" charset="0"/>
                <a:cs typeface="Times New Roman" panose="02020603050405020304" pitchFamily="18" charset="0"/>
              </a:rPr>
              <a:t>This term is analogous to </a:t>
            </a:r>
            <a:r>
              <a:rPr lang="en-IN" sz="2000" dirty="0">
                <a:effectLst/>
                <a:latin typeface="+mn-lt"/>
                <a:ea typeface="Times New Roman" panose="02020603050405020304" pitchFamily="18" charset="0"/>
              </a:rPr>
              <a:t>“</a:t>
            </a:r>
            <a:r>
              <a:rPr lang="en-IN" sz="2000" dirty="0">
                <a:effectLst/>
                <a:latin typeface="+mn-lt"/>
                <a:ea typeface="Times New Roman" panose="02020603050405020304" pitchFamily="18" charset="0"/>
                <a:cs typeface="Times New Roman" panose="02020603050405020304" pitchFamily="18" charset="0"/>
              </a:rPr>
              <a:t>done</a:t>
            </a:r>
            <a:r>
              <a:rPr lang="en-IN" sz="2000" dirty="0">
                <a:effectLst/>
                <a:latin typeface="+mn-lt"/>
                <a:ea typeface="Times New Roman" panose="02020603050405020304" pitchFamily="18" charset="0"/>
              </a:rPr>
              <a:t>”;</a:t>
            </a:r>
            <a:r>
              <a:rPr lang="en-IN" sz="2000" dirty="0">
                <a:effectLst/>
                <a:latin typeface="+mn-lt"/>
                <a:ea typeface="Times New Roman" panose="02020603050405020304" pitchFamily="18" charset="0"/>
                <a:cs typeface="Times New Roman" panose="02020603050405020304" pitchFamily="18" charset="0"/>
              </a:rPr>
              <a:t> it is used to define the specific task when it is completed. Vertical slice of part of system functionality</a:t>
            </a:r>
            <a:endParaRPr lang="en-US" sz="2000" dirty="0">
              <a:latin typeface="+mn-lt"/>
            </a:endParaRPr>
          </a:p>
        </p:txBody>
      </p:sp>
    </p:spTree>
    <p:extLst>
      <p:ext uri="{BB962C8B-B14F-4D97-AF65-F5344CB8AC3E}">
        <p14:creationId xmlns:p14="http://schemas.microsoft.com/office/powerpoint/2010/main" val="406198657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Gemba Walk</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1325673"/>
            <a:ext cx="9144000" cy="5324535"/>
          </a:xfrm>
          <a:prstGeom prst="rect">
            <a:avLst/>
          </a:prstGeom>
          <a:noFill/>
        </p:spPr>
        <p:txBody>
          <a:bodyPr wrap="square">
            <a:spAutoFit/>
          </a:bodyPr>
          <a:lstStyle/>
          <a:p>
            <a:r>
              <a:rPr lang="en-US" sz="2000" dirty="0">
                <a:latin typeface="+mn-lt"/>
              </a:rPr>
              <a:t>Gemba (</a:t>
            </a:r>
            <a:r>
              <a:rPr lang="ja-JP" altLang="en-US" sz="2000" dirty="0">
                <a:latin typeface="+mn-lt"/>
              </a:rPr>
              <a:t>現場</a:t>
            </a:r>
            <a:r>
              <a:rPr lang="en-US" altLang="ja-JP" sz="2000" dirty="0">
                <a:latin typeface="+mn-lt"/>
              </a:rPr>
              <a:t>, </a:t>
            </a:r>
            <a:r>
              <a:rPr lang="en-US" sz="2000" dirty="0">
                <a:latin typeface="+mn-lt"/>
              </a:rPr>
              <a:t>also spelt less commonly as genba) is a japanese term meaning "the real place." Japanese police could refer to a crime scene as gemba, and TV reporters often refer to themselves as reporting live from gemba. </a:t>
            </a:r>
          </a:p>
          <a:p>
            <a:endParaRPr lang="en-US" sz="2000" dirty="0">
              <a:latin typeface="+mn-lt"/>
            </a:endParaRPr>
          </a:p>
          <a:p>
            <a:r>
              <a:rPr lang="en-US" sz="2000" dirty="0">
                <a:latin typeface="+mn-lt"/>
              </a:rPr>
              <a:t>Quite simply, for rock bands, the “Gemba” is the recording studio. For Formula 1 teams, the “Gemba” is wherever the car is. For manufacturers, it’s the factory floor and so on. In other words, it is where the real work happens, so you can observe and analyze it.</a:t>
            </a:r>
          </a:p>
          <a:p>
            <a:endParaRPr lang="en-US" sz="2000" dirty="0">
              <a:latin typeface="+mn-lt"/>
            </a:endParaRPr>
          </a:p>
          <a:p>
            <a:r>
              <a:rPr lang="en-US" sz="2000" b="1" dirty="0">
                <a:latin typeface="+mn-lt"/>
              </a:rPr>
              <a:t>What is a Gemba Walk?</a:t>
            </a:r>
          </a:p>
          <a:p>
            <a:r>
              <a:rPr lang="en-US" sz="2000" dirty="0">
                <a:latin typeface="+mn-lt"/>
              </a:rPr>
              <a:t>In lean manufacturing, the whole point of gemba is that problems in a business process or production line are often easily visible, and the best improvement come from going to 'the real place', where leaders can see the state of the process for themselves.</a:t>
            </a:r>
          </a:p>
          <a:p>
            <a:endParaRPr lang="en-US" sz="2000" dirty="0">
              <a:latin typeface="+mn-lt"/>
            </a:endParaRPr>
          </a:p>
          <a:p>
            <a:r>
              <a:rPr lang="en-US" sz="2000" b="1" dirty="0">
                <a:latin typeface="+mn-lt"/>
              </a:rPr>
              <a:t>"Go see, ask why, show respect"</a:t>
            </a:r>
          </a:p>
          <a:p>
            <a:endParaRPr lang="en-US" sz="2000" dirty="0">
              <a:latin typeface="+mn-lt"/>
            </a:endParaRPr>
          </a:p>
        </p:txBody>
      </p:sp>
    </p:spTree>
    <p:extLst>
      <p:ext uri="{BB962C8B-B14F-4D97-AF65-F5344CB8AC3E}">
        <p14:creationId xmlns:p14="http://schemas.microsoft.com/office/powerpoint/2010/main" val="255853297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Gemba Walk</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685872"/>
            <a:ext cx="9144000" cy="2246769"/>
          </a:xfrm>
          <a:prstGeom prst="rect">
            <a:avLst/>
          </a:prstGeom>
          <a:noFill/>
        </p:spPr>
        <p:txBody>
          <a:bodyPr wrap="square">
            <a:spAutoFit/>
          </a:bodyPr>
          <a:lstStyle/>
          <a:p>
            <a:r>
              <a:rPr lang="en-US" sz="2000" dirty="0">
                <a:latin typeface="+mn-lt"/>
              </a:rPr>
              <a:t>Over the course of a Gemba Walk, leaders, managers and supervisors are expected to simply observe and understand process. As part of the Kaizen methodology, it is also supposed to </a:t>
            </a:r>
            <a:r>
              <a:rPr lang="en-US" sz="2000" b="1" dirty="0">
                <a:latin typeface="+mn-lt"/>
              </a:rPr>
              <a:t>encourage greater communication</a:t>
            </a:r>
            <a:r>
              <a:rPr lang="en-US" sz="2000" dirty="0">
                <a:latin typeface="+mn-lt"/>
              </a:rPr>
              <a:t>, </a:t>
            </a:r>
            <a:r>
              <a:rPr lang="en-US" sz="2000" b="1" dirty="0">
                <a:latin typeface="+mn-lt"/>
              </a:rPr>
              <a:t>transparency and trust</a:t>
            </a:r>
            <a:r>
              <a:rPr lang="en-US" sz="2000" dirty="0">
                <a:latin typeface="+mn-lt"/>
              </a:rPr>
              <a:t> between the lower-level of employees and leadership. For this reason, it is not appropriate to use a Gemba walk to point out employee flaws or enforce policy - this runs the risk of employees putting up barriers to leadership or closing off altogether.</a:t>
            </a:r>
          </a:p>
          <a:p>
            <a:endParaRPr lang="en-US" sz="2000" dirty="0">
              <a:latin typeface="+mn-lt"/>
            </a:endParaRPr>
          </a:p>
        </p:txBody>
      </p:sp>
      <p:pic>
        <p:nvPicPr>
          <p:cNvPr id="3" name="Picture 2">
            <a:extLst>
              <a:ext uri="{FF2B5EF4-FFF2-40B4-BE49-F238E27FC236}">
                <a16:creationId xmlns:a16="http://schemas.microsoft.com/office/drawing/2014/main" id="{22F240E0-FEFF-445C-9658-F3D0655574A9}"/>
              </a:ext>
            </a:extLst>
          </p:cNvPr>
          <p:cNvPicPr>
            <a:picLocks noChangeAspect="1"/>
          </p:cNvPicPr>
          <p:nvPr/>
        </p:nvPicPr>
        <p:blipFill>
          <a:blip r:embed="rId3"/>
          <a:stretch>
            <a:fillRect/>
          </a:stretch>
        </p:blipFill>
        <p:spPr>
          <a:xfrm>
            <a:off x="1952625" y="2590822"/>
            <a:ext cx="5238750" cy="4124325"/>
          </a:xfrm>
          <a:prstGeom prst="rect">
            <a:avLst/>
          </a:prstGeom>
        </p:spPr>
      </p:pic>
    </p:spTree>
    <p:extLst>
      <p:ext uri="{BB962C8B-B14F-4D97-AF65-F5344CB8AC3E}">
        <p14:creationId xmlns:p14="http://schemas.microsoft.com/office/powerpoint/2010/main" val="7860024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Gemba </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6" name="Picture 5">
            <a:extLst>
              <a:ext uri="{FF2B5EF4-FFF2-40B4-BE49-F238E27FC236}">
                <a16:creationId xmlns:a16="http://schemas.microsoft.com/office/drawing/2014/main" id="{1C0A28A6-86DD-41B8-BC5B-0E08758655D7}"/>
              </a:ext>
            </a:extLst>
          </p:cNvPr>
          <p:cNvPicPr>
            <a:picLocks noChangeAspect="1"/>
          </p:cNvPicPr>
          <p:nvPr/>
        </p:nvPicPr>
        <p:blipFill>
          <a:blip r:embed="rId3"/>
          <a:stretch>
            <a:fillRect/>
          </a:stretch>
        </p:blipFill>
        <p:spPr>
          <a:xfrm>
            <a:off x="519698" y="1295456"/>
            <a:ext cx="7959879" cy="4190890"/>
          </a:xfrm>
          <a:prstGeom prst="rect">
            <a:avLst/>
          </a:prstGeom>
        </p:spPr>
      </p:pic>
    </p:spTree>
    <p:extLst>
      <p:ext uri="{BB962C8B-B14F-4D97-AF65-F5344CB8AC3E}">
        <p14:creationId xmlns:p14="http://schemas.microsoft.com/office/powerpoint/2010/main" val="219729617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Genchi Genbutsu</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1322689"/>
            <a:ext cx="9144000" cy="3477875"/>
          </a:xfrm>
          <a:prstGeom prst="rect">
            <a:avLst/>
          </a:prstGeom>
          <a:noFill/>
        </p:spPr>
        <p:txBody>
          <a:bodyPr wrap="square">
            <a:spAutoFit/>
          </a:bodyPr>
          <a:lstStyle/>
          <a:p>
            <a:r>
              <a:rPr lang="en-US" sz="2000" dirty="0">
                <a:latin typeface="+mn-lt"/>
              </a:rPr>
              <a:t>Genchi Genbutsu (</a:t>
            </a:r>
            <a:r>
              <a:rPr lang="ja-JP" altLang="en-US" sz="2000" dirty="0">
                <a:latin typeface="+mn-lt"/>
              </a:rPr>
              <a:t>現地現物</a:t>
            </a:r>
            <a:r>
              <a:rPr lang="en-US" altLang="ja-JP" sz="2000" dirty="0">
                <a:latin typeface="+mn-lt"/>
              </a:rPr>
              <a:t>) </a:t>
            </a:r>
            <a:r>
              <a:rPr lang="en-US" sz="2000" dirty="0">
                <a:latin typeface="+mn-lt"/>
              </a:rPr>
              <a:t>literally translates "real location, real thing” and it is a key principle of the Toyota Production System. The principle is sometimes referred to as "go and see." It suggests that in order to truly understand a situation one needs to observe what is happening at the site where work actually takes place: the genba (</a:t>
            </a:r>
            <a:r>
              <a:rPr lang="ja-JP" altLang="en-US" sz="2000" dirty="0">
                <a:latin typeface="+mn-lt"/>
              </a:rPr>
              <a:t>現場</a:t>
            </a:r>
            <a:r>
              <a:rPr lang="en-US" altLang="ja-JP" sz="2000" dirty="0">
                <a:latin typeface="+mn-lt"/>
              </a:rPr>
              <a:t>). </a:t>
            </a:r>
            <a:r>
              <a:rPr lang="en-US" sz="2000" dirty="0">
                <a:latin typeface="+mn-lt"/>
              </a:rPr>
              <a:t>One definition is that it is "collecting facts and data at the actual site of the work or problem.</a:t>
            </a:r>
          </a:p>
          <a:p>
            <a:endParaRPr lang="en-US" sz="2000" dirty="0">
              <a:latin typeface="+mn-lt"/>
            </a:endParaRPr>
          </a:p>
          <a:p>
            <a:r>
              <a:rPr lang="en-US" sz="2000" dirty="0">
                <a:latin typeface="+mn-lt"/>
              </a:rPr>
              <a:t>Genchi-Genbutsu is the Japanese expression for a practice of finding your answers right down at the source, rather than relying on second-hand reports or charts of data to achieve true understanding. This practice emphasizes going to a place(gemba) where you watch, observe and ask “WHY” five times.</a:t>
            </a:r>
          </a:p>
        </p:txBody>
      </p:sp>
    </p:spTree>
    <p:extLst>
      <p:ext uri="{BB962C8B-B14F-4D97-AF65-F5344CB8AC3E}">
        <p14:creationId xmlns:p14="http://schemas.microsoft.com/office/powerpoint/2010/main" val="145160047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Jidoka</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1143060"/>
            <a:ext cx="9144000" cy="4708981"/>
          </a:xfrm>
          <a:prstGeom prst="rect">
            <a:avLst/>
          </a:prstGeom>
          <a:noFill/>
        </p:spPr>
        <p:txBody>
          <a:bodyPr wrap="square">
            <a:spAutoFit/>
          </a:bodyPr>
          <a:lstStyle/>
          <a:p>
            <a:r>
              <a:rPr lang="en-US" sz="2000" dirty="0">
                <a:latin typeface="+mn-lt"/>
              </a:rPr>
              <a:t>Jidoka is a Japanese word that means "Autonomation", Autonomation not Automation. Autonomation means Automation with human Intelligence.</a:t>
            </a:r>
          </a:p>
          <a:p>
            <a:endParaRPr lang="en-US" sz="2000" dirty="0">
              <a:latin typeface="+mn-lt"/>
            </a:endParaRPr>
          </a:p>
          <a:p>
            <a:r>
              <a:rPr lang="en-US" sz="2000" dirty="0">
                <a:latin typeface="+mn-lt"/>
              </a:rPr>
              <a:t>Jidoka is a Lean quality concept, its original purpose was to provide machines with a way to detect errors and alert the operators.</a:t>
            </a:r>
          </a:p>
          <a:p>
            <a:endParaRPr lang="en-US" sz="2000" dirty="0">
              <a:latin typeface="+mn-lt"/>
            </a:endParaRPr>
          </a:p>
          <a:p>
            <a:r>
              <a:rPr lang="en-US" sz="2000" dirty="0">
                <a:latin typeface="+mn-lt"/>
              </a:rPr>
              <a:t>Jidoka relies on 4 simple principles to ensure that a company would deliver defect-free products:</a:t>
            </a:r>
          </a:p>
          <a:p>
            <a:pPr marL="342900" indent="-342900">
              <a:buFont typeface="Arial" panose="020B0604020202020204" pitchFamily="34" charset="0"/>
              <a:buChar char="•"/>
            </a:pPr>
            <a:r>
              <a:rPr lang="en-US" sz="2000" dirty="0">
                <a:latin typeface="+mn-lt"/>
              </a:rPr>
              <a:t>Discover an abnormality</a:t>
            </a:r>
          </a:p>
          <a:p>
            <a:pPr marL="342900" indent="-342900">
              <a:buFont typeface="Arial" panose="020B0604020202020204" pitchFamily="34" charset="0"/>
              <a:buChar char="•"/>
            </a:pPr>
            <a:r>
              <a:rPr lang="en-US" sz="2000" dirty="0">
                <a:latin typeface="+mn-lt"/>
              </a:rPr>
              <a:t>Stop the process</a:t>
            </a:r>
          </a:p>
          <a:p>
            <a:pPr marL="342900" indent="-342900">
              <a:buFont typeface="Arial" panose="020B0604020202020204" pitchFamily="34" charset="0"/>
              <a:buChar char="•"/>
            </a:pPr>
            <a:r>
              <a:rPr lang="en-US" sz="2000" dirty="0">
                <a:latin typeface="+mn-lt"/>
              </a:rPr>
              <a:t>Fix the immediate problem</a:t>
            </a:r>
          </a:p>
          <a:p>
            <a:pPr marL="342900" indent="-342900">
              <a:buFont typeface="Arial" panose="020B0604020202020204" pitchFamily="34" charset="0"/>
              <a:buChar char="•"/>
            </a:pPr>
            <a:r>
              <a:rPr lang="en-US" sz="2000" dirty="0">
                <a:latin typeface="+mn-lt"/>
              </a:rPr>
              <a:t>Investigate and solve the root cause</a:t>
            </a:r>
          </a:p>
          <a:p>
            <a:r>
              <a:rPr lang="en-US" sz="2000" dirty="0">
                <a:latin typeface="+mn-lt"/>
              </a:rPr>
              <a:t>These 4 steps can be applied in various ways depending on your industry and can serve as a steady foundation for achieving continuous improvement of your process</a:t>
            </a:r>
          </a:p>
          <a:p>
            <a:endParaRPr lang="en-US" sz="2000" dirty="0">
              <a:latin typeface="+mn-lt"/>
            </a:endParaRPr>
          </a:p>
        </p:txBody>
      </p:sp>
    </p:spTree>
    <p:extLst>
      <p:ext uri="{BB962C8B-B14F-4D97-AF65-F5344CB8AC3E}">
        <p14:creationId xmlns:p14="http://schemas.microsoft.com/office/powerpoint/2010/main" val="36228074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9" y="152401"/>
            <a:ext cx="8305582" cy="762066"/>
          </a:xfrm>
        </p:spPr>
        <p:txBody>
          <a:bodyPr lIns="90488" tIns="44450" rIns="90488" bIns="44450"/>
          <a:lstStyle/>
          <a:p>
            <a:pPr algn="ctr" eaLnBrk="1" hangingPunct="1"/>
            <a:br>
              <a:rPr lang="en-US" sz="3200" dirty="0"/>
            </a:br>
            <a:r>
              <a:rPr lang="en-US" sz="3200" dirty="0"/>
              <a:t>Yokoten</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21D787F1-936D-4D3B-AF76-198A3C718D29}"/>
              </a:ext>
            </a:extLst>
          </p:cNvPr>
          <p:cNvSpPr txBox="1"/>
          <p:nvPr/>
        </p:nvSpPr>
        <p:spPr>
          <a:xfrm>
            <a:off x="120" y="1143060"/>
            <a:ext cx="9144000" cy="2246769"/>
          </a:xfrm>
          <a:prstGeom prst="rect">
            <a:avLst/>
          </a:prstGeom>
          <a:noFill/>
        </p:spPr>
        <p:txBody>
          <a:bodyPr wrap="square">
            <a:spAutoFit/>
          </a:bodyPr>
          <a:lstStyle/>
          <a:p>
            <a:r>
              <a:rPr lang="en-US" sz="2000" dirty="0">
                <a:latin typeface="+mn-lt"/>
              </a:rPr>
              <a:t>Yokoten is a Japanese term roughly translated to “across every,” and is also referred to as “best practice sharing.” Yokoten is the practice consisting of replicating effective practices laterally from one area to another. It is important to note Yokoten is not the practice of copying or benchmarking exactly; rather Yokoten is the method of copying successful strategies and improving upon their implementation. Effectively practicing and implementing Yokoten will help an organization’s Kaizen efforts by continuously improving processes.</a:t>
            </a:r>
          </a:p>
        </p:txBody>
      </p:sp>
      <p:pic>
        <p:nvPicPr>
          <p:cNvPr id="3" name="Picture 2">
            <a:extLst>
              <a:ext uri="{FF2B5EF4-FFF2-40B4-BE49-F238E27FC236}">
                <a16:creationId xmlns:a16="http://schemas.microsoft.com/office/drawing/2014/main" id="{79A6FFE8-013D-45F8-9F2F-E3EC69C02312}"/>
              </a:ext>
            </a:extLst>
          </p:cNvPr>
          <p:cNvPicPr>
            <a:picLocks noChangeAspect="1"/>
          </p:cNvPicPr>
          <p:nvPr/>
        </p:nvPicPr>
        <p:blipFill>
          <a:blip r:embed="rId3"/>
          <a:stretch>
            <a:fillRect/>
          </a:stretch>
        </p:blipFill>
        <p:spPr>
          <a:xfrm>
            <a:off x="2681287" y="3324135"/>
            <a:ext cx="3781425" cy="3533775"/>
          </a:xfrm>
          <a:prstGeom prst="rect">
            <a:avLst/>
          </a:prstGeom>
        </p:spPr>
      </p:pic>
    </p:spTree>
    <p:extLst>
      <p:ext uri="{BB962C8B-B14F-4D97-AF65-F5344CB8AC3E}">
        <p14:creationId xmlns:p14="http://schemas.microsoft.com/office/powerpoint/2010/main" val="82472978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D156-2C7E-4365-BD74-ED47EFB002DD}"/>
              </a:ext>
            </a:extLst>
          </p:cNvPr>
          <p:cNvSpPr>
            <a:spLocks noGrp="1"/>
          </p:cNvSpPr>
          <p:nvPr>
            <p:ph type="title"/>
          </p:nvPr>
        </p:nvSpPr>
        <p:spPr/>
        <p:txBody>
          <a:bodyPr/>
          <a:lstStyle/>
          <a:p>
            <a:r>
              <a:rPr lang="en-US" dirty="0"/>
              <a:t>Thank</a:t>
            </a:r>
            <a:br>
              <a:rPr lang="en-US" dirty="0"/>
            </a:br>
            <a:r>
              <a:rPr lang="en-US" sz="3600" dirty="0"/>
              <a:t>You</a:t>
            </a:r>
          </a:p>
        </p:txBody>
      </p:sp>
    </p:spTree>
    <p:extLst>
      <p:ext uri="{BB962C8B-B14F-4D97-AF65-F5344CB8AC3E}">
        <p14:creationId xmlns:p14="http://schemas.microsoft.com/office/powerpoint/2010/main" val="31078471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TotalTime>
  <Words>1999</Words>
  <Application>Microsoft Office PowerPoint</Application>
  <PresentationFormat>On-screen Show (4:3)</PresentationFormat>
  <Paragraphs>133</Paragraphs>
  <Slides>20</Slides>
  <Notes>19</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20</vt:i4>
      </vt:variant>
    </vt:vector>
  </HeadingPairs>
  <TitlesOfParts>
    <vt:vector size="27" baseType="lpstr">
      <vt:lpstr>Arial</vt:lpstr>
      <vt:lpstr>Calibri</vt:lpstr>
      <vt:lpstr>Times New Roman</vt:lpstr>
      <vt:lpstr>Wingdings</vt:lpstr>
      <vt:lpstr>Custom Design</vt:lpstr>
      <vt:lpstr>1_Custom Design</vt:lpstr>
      <vt:lpstr>2_Custom Design</vt:lpstr>
      <vt:lpstr>Agile 7-DB Systel  Japanese</vt:lpstr>
      <vt:lpstr> Shu Ha Ri? </vt:lpstr>
      <vt:lpstr>         Shu Ha Ri?  </vt:lpstr>
      <vt:lpstr>         Shu Ha Ri?  </vt:lpstr>
      <vt:lpstr>         Shu Ha Ri?  </vt:lpstr>
      <vt:lpstr>         Shu Ha Ri?  </vt:lpstr>
      <vt:lpstr>         Shu Ha Ri?  </vt:lpstr>
      <vt:lpstr>          Poka-yoke  </vt:lpstr>
      <vt:lpstr>          The six principles of poka-yoke   </vt:lpstr>
      <vt:lpstr>          The six principles of poka-yoke   </vt:lpstr>
      <vt:lpstr>         kata </vt:lpstr>
      <vt:lpstr>         Andon cord </vt:lpstr>
      <vt:lpstr>         Sashimi </vt:lpstr>
      <vt:lpstr> Gemba Walk </vt:lpstr>
      <vt:lpstr> Gemba Walk </vt:lpstr>
      <vt:lpstr> Gemba  </vt:lpstr>
      <vt:lpstr> Genchi Genbutsu </vt:lpstr>
      <vt:lpstr> Jidoka </vt:lpstr>
      <vt:lpstr> Yokoten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2-DB Systel </dc:title>
  <dc:creator>Neeraj Vohra</dc:creator>
  <cp:lastModifiedBy>Neeraj Vohra</cp:lastModifiedBy>
  <cp:revision>78</cp:revision>
  <dcterms:created xsi:type="dcterms:W3CDTF">2020-11-13T06:55:29Z</dcterms:created>
  <dcterms:modified xsi:type="dcterms:W3CDTF">2021-03-21T16:20:58Z</dcterms:modified>
</cp:coreProperties>
</file>