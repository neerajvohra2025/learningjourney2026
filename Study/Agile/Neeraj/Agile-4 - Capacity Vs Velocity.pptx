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7" r:id="rId2"/>
    <p:sldMasterId id="2147483686" r:id="rId3"/>
  </p:sldMasterIdLst>
  <p:notesMasterIdLst>
    <p:notesMasterId r:id="rId13"/>
  </p:notesMasterIdLst>
  <p:handoutMasterIdLst>
    <p:handoutMasterId r:id="rId14"/>
  </p:handoutMasterIdLst>
  <p:sldIdLst>
    <p:sldId id="1134" r:id="rId4"/>
    <p:sldId id="1150" r:id="rId5"/>
    <p:sldId id="1151" r:id="rId6"/>
    <p:sldId id="1153" r:id="rId7"/>
    <p:sldId id="1152" r:id="rId8"/>
    <p:sldId id="1154" r:id="rId9"/>
    <p:sldId id="1156" r:id="rId10"/>
    <p:sldId id="1157" r:id="rId11"/>
    <p:sldId id="1137" r:id="rId12"/>
  </p:sldIdLst>
  <p:sldSz cx="9144000" cy="6858000" type="screen4x3"/>
  <p:notesSz cx="6732588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63D"/>
    <a:srgbClr val="00FF00"/>
    <a:srgbClr val="FF6600"/>
    <a:srgbClr val="FF3300"/>
    <a:srgbClr val="FF9900"/>
    <a:srgbClr val="0000FF"/>
    <a:srgbClr val="FF3399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82375" autoAdjust="0"/>
  </p:normalViewPr>
  <p:slideViewPr>
    <p:cSldViewPr>
      <p:cViewPr varScale="1">
        <p:scale>
          <a:sx n="60" d="100"/>
          <a:sy n="60" d="100"/>
        </p:scale>
        <p:origin x="1644" y="60"/>
      </p:cViewPr>
      <p:guideLst>
        <p:guide orient="horz" pos="2158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733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7825" cy="49371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2B75972-D2A2-41F7-904E-1E64020CAC85}" type="datetime1">
              <a:rPr lang="en-US"/>
              <a:t>3/20/2021</a:t>
            </a:fld>
            <a:endParaRPr lang="en-US"/>
          </a:p>
        </p:txBody>
      </p:sp>
      <p:sp>
        <p:nvSpPr>
          <p:cNvPr id="28676" name="Rectangle 1028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898525" y="739775"/>
            <a:ext cx="4935538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938" y="4689475"/>
            <a:ext cx="4938712" cy="444182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733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7363"/>
            <a:ext cx="2917825" cy="493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733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7363"/>
            <a:ext cx="2917825" cy="493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E55696C8-9EA1-42CE-8D53-842C598E3543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2B75972-D2A2-41F7-904E-1E64020CAC85}" type="datetime1">
              <a:rPr lang="en-US" smtClean="0"/>
              <a:t>3/20/2021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8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0681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8458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8654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353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5121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6728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3/20/2021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407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7F73BAD-4833-495F-BA9D-4827F5D68C9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0DDC219-6C7D-4E08-BDF2-79E6087E5D71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907E527-3BD8-493F-873D-FCC367DC724E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B014F5B-34A7-4DA4-BCA0-585CF1CE164D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 userDrawn="1"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 userDrawn="1"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 userDrawn="1"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 userDrawn="1"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 userDrawn="1"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 userDrawn="1"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 userDrawn="1"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 userDrawn="1"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 userDrawn="1"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 userDrawn="1"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 userDrawn="1"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0450552-B38F-4EEB-B3F7-964F287A877B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6243A8C-8571-4B1B-865B-0AE06F5B3A38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DD3FC1-8B8F-46A3-B85E-093632260D0B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 userDrawn="1"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 userDrawn="1"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 userDrawn="1"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 userDrawn="1"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 userDrawn="1"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 userDrawn="1"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 userDrawn="1"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 userDrawn="1"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 userDrawn="1"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 userDrawn="1"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 userDrawn="1"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 userDrawn="1"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 userDrawn="1"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 userDrawn="1"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DCC19A6C-97F2-40B8-B2C9-6A0CE13C5205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 userDrawn="1"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 userDrawn="1"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 userDrawn="1"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 userDrawn="1"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 userDrawn="1"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 userDrawn="1"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 userDrawn="1"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 userDrawn="1"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 userDrawn="1"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7F73BAD-4833-495F-BA9D-4827F5D68C9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0DDC219-6C7D-4E08-BDF2-79E6087E5D71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907E527-3BD8-493F-873D-FCC367DC724E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B014F5B-34A7-4DA4-BCA0-585CF1CE164D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772400" cy="68580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381000" y="1219200"/>
            <a:ext cx="7924800" cy="46482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C4883-017D-421A-9754-0B089E9ECB8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247EB91D-0BE3-4590-9C17-0A91BFDDB51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1" name="Picture 9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2052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B28ABBC-DA78-4D5A-81AA-B36017CC35B4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55" name="Picture 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247EB91D-0BE3-4590-9C17-0A91BFDDB51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1" name="Picture 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>
          <a:xfrm>
            <a:off x="5113338" y="2514600"/>
            <a:ext cx="4030662" cy="1149350"/>
          </a:xfrm>
        </p:spPr>
        <p:txBody>
          <a:bodyPr/>
          <a:lstStyle/>
          <a:p>
            <a:pPr algn="ctr" eaLnBrk="1" hangingPunct="1"/>
            <a:r>
              <a:rPr lang="en-US" altLang="de-DE" sz="4000" dirty="0"/>
              <a:t>Agile 4-DB Systel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705544" y="4876762"/>
            <a:ext cx="1984375" cy="2921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Neeraj Vohra</a:t>
            </a:r>
          </a:p>
        </p:txBody>
      </p:sp>
      <p:pic>
        <p:nvPicPr>
          <p:cNvPr id="29700" name="Picture 11" descr="DB-MNL_rgb_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55" t="-46503" r="-16711" b="-14403"/>
          <a:stretch>
            <a:fillRect/>
          </a:stretch>
        </p:blipFill>
        <p:spPr bwMode="auto">
          <a:xfrm>
            <a:off x="4570413" y="5791200"/>
            <a:ext cx="1984375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8C06FF-9DF1-45D2-A211-8C290BEDBB0F}"/>
              </a:ext>
            </a:extLst>
          </p:cNvPr>
          <p:cNvSpPr txBox="1"/>
          <p:nvPr/>
        </p:nvSpPr>
        <p:spPr>
          <a:xfrm>
            <a:off x="5257782" y="3962386"/>
            <a:ext cx="2438336" cy="5333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 sz="2000" dirty="0">
                <a:solidFill>
                  <a:srgbClr val="F68B1F"/>
                </a:solidFill>
              </a:rPr>
              <a:t>Capacity Vs Velocity</a:t>
            </a:r>
            <a:endParaRPr lang="en-US" sz="4000" dirty="0">
              <a:solidFill>
                <a:srgbClr val="F68B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1165225" y="307975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The Difference between Velocity, Capacity, and Load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90590"/>
            <a:ext cx="8272354" cy="51815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As you know Scrum is based on empiricism — All that is known is based on experience or evidence. Hence </a:t>
            </a:r>
            <a:r>
              <a:rPr lang="en-US" sz="2000" b="1" dirty="0">
                <a:latin typeface="+mn-lt"/>
              </a:rPr>
              <a:t>velocity</a:t>
            </a:r>
            <a:r>
              <a:rPr lang="en-US" sz="2000" dirty="0">
                <a:latin typeface="+mn-lt"/>
              </a:rPr>
              <a:t> in the scrum defines the amount of work a team has successfully completed in the past sprint(s).</a:t>
            </a: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Velocity </a:t>
            </a:r>
            <a:r>
              <a:rPr lang="en-US" sz="2000" dirty="0">
                <a:latin typeface="+mn-lt"/>
              </a:rPr>
              <a:t>is the measure of work that is done in the </a:t>
            </a:r>
            <a:r>
              <a:rPr lang="en-US" sz="2000" b="1" dirty="0">
                <a:latin typeface="+mn-lt"/>
              </a:rPr>
              <a:t>previous sprint</a:t>
            </a:r>
            <a:r>
              <a:rPr lang="en-US" sz="2000" dirty="0">
                <a:latin typeface="+mn-lt"/>
              </a:rPr>
              <a:t>(s).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Velocity</a:t>
            </a:r>
            <a:r>
              <a:rPr lang="en-US" sz="2000" dirty="0">
                <a:latin typeface="+mn-lt"/>
              </a:rPr>
              <a:t> is a measurement of the </a:t>
            </a:r>
            <a:r>
              <a:rPr lang="en-US" sz="2000" b="1" dirty="0">
                <a:latin typeface="+mn-lt"/>
              </a:rPr>
              <a:t>average amount of story points</a:t>
            </a:r>
            <a:r>
              <a:rPr lang="en-US" sz="2000" dirty="0">
                <a:latin typeface="+mn-lt"/>
              </a:rPr>
              <a:t> delivered in a given time period. </a:t>
            </a:r>
            <a:r>
              <a:rPr lang="en-US" sz="2000" b="1" dirty="0">
                <a:latin typeface="+mn-lt"/>
              </a:rPr>
              <a:t>Planning based on velocity</a:t>
            </a:r>
            <a:r>
              <a:rPr lang="en-US" sz="2000" dirty="0">
                <a:latin typeface="+mn-lt"/>
              </a:rPr>
              <a:t> means basing your estimates on past performance, i.e., an </a:t>
            </a:r>
            <a:r>
              <a:rPr lang="en-US" sz="2000" b="1" dirty="0">
                <a:latin typeface="+mn-lt"/>
              </a:rPr>
              <a:t>estimate relative to the measured past.</a:t>
            </a:r>
          </a:p>
          <a:p>
            <a:pPr marL="0" indent="0">
              <a:buNone/>
            </a:pPr>
            <a:endParaRPr lang="en-US" sz="2000" dirty="0">
              <a:solidFill>
                <a:srgbClr val="333333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is an estimate of the total amount of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engineering time 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available in a given sprint.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Planning based on capacity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means planning based on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future expectations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of available time, i.e., an estimate relative to the expected future.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538318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1165225" y="307975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The Difference between Velocity, Capacity, and Load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90664"/>
            <a:ext cx="8272354" cy="525773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Capacity</a:t>
            </a:r>
            <a:r>
              <a:rPr lang="en-US" sz="2000" dirty="0">
                <a:latin typeface="+mn-lt"/>
              </a:rPr>
              <a:t> is the expected availability of the team members during the upcoming sprint.</a:t>
            </a:r>
          </a:p>
          <a:p>
            <a:pPr marL="0" indent="0">
              <a:buNone/>
            </a:pPr>
            <a:endParaRPr lang="en-US" sz="2000" b="1" dirty="0"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Capacity </a:t>
            </a:r>
            <a:r>
              <a:rPr lang="en-US" sz="2000" dirty="0">
                <a:latin typeface="+mn-lt"/>
              </a:rPr>
              <a:t>is an estimated value that potentially can be delivered that is determined during PI planning. </a:t>
            </a:r>
            <a:r>
              <a:rPr lang="en-US" sz="2000" b="1" dirty="0">
                <a:latin typeface="+mn-lt"/>
              </a:rPr>
              <a:t>It is based on Velocity </a:t>
            </a:r>
            <a:r>
              <a:rPr lang="en-US" sz="2000" dirty="0">
                <a:latin typeface="+mn-lt"/>
              </a:rPr>
              <a:t>and modified for the realities of </a:t>
            </a:r>
            <a:r>
              <a:rPr lang="en-US" sz="2000" b="1" dirty="0">
                <a:latin typeface="+mn-lt"/>
              </a:rPr>
              <a:t>anticipated holidays, staffing absences or changes.</a:t>
            </a:r>
            <a:r>
              <a:rPr lang="en-US" sz="2000" dirty="0">
                <a:latin typeface="+mn-lt"/>
              </a:rPr>
              <a:t> If our velocity was 40, but the US Thanksgiving holiday falls in the next sprint, we might use a capacity of 25 while our </a:t>
            </a:r>
            <a:r>
              <a:rPr lang="en-US" sz="2000" b="1" dirty="0">
                <a:latin typeface="+mn-lt"/>
              </a:rPr>
              <a:t>velocity remains unchanged</a:t>
            </a:r>
            <a:r>
              <a:rPr lang="en-US" sz="2000" dirty="0">
                <a:latin typeface="+mn-lt"/>
              </a:rPr>
              <a:t> at 40. The velocity, itself, is unchanged since it is the calculated average of past performance.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Capacity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an estimate of the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future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velocity</a:t>
            </a:r>
            <a:r>
              <a:rPr lang="en-US" sz="2000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 measurement of the </a:t>
            </a:r>
            <a:r>
              <a:rPr lang="en-US" sz="2000" b="1" dirty="0">
                <a:solidFill>
                  <a:srgbClr val="333333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past.</a:t>
            </a:r>
            <a:endParaRPr lang="en-US" sz="2400" b="1" dirty="0">
              <a:latin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Load </a:t>
            </a:r>
            <a:r>
              <a:rPr lang="en-US" sz="2000" dirty="0">
                <a:latin typeface="+mn-lt"/>
              </a:rPr>
              <a:t>is the committed value of the number of points the team intends to deliver in a sprint or PI. It is based on team capacity and the stories available in the backlog. we can also include </a:t>
            </a:r>
            <a:r>
              <a:rPr lang="en-US" sz="2000" b="1" dirty="0">
                <a:latin typeface="+mn-lt"/>
              </a:rPr>
              <a:t>stretch</a:t>
            </a:r>
            <a:r>
              <a:rPr lang="en-US" sz="2000" dirty="0">
                <a:latin typeface="+mn-lt"/>
              </a:rPr>
              <a:t> user story in a sprint. .</a:t>
            </a:r>
          </a:p>
        </p:txBody>
      </p:sp>
    </p:spTree>
    <p:extLst>
      <p:ext uri="{BB962C8B-B14F-4D97-AF65-F5344CB8AC3E}">
        <p14:creationId xmlns:p14="http://schemas.microsoft.com/office/powerpoint/2010/main" val="27978003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762100" y="304882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Capacity Vs. Velocity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90664"/>
            <a:ext cx="8272354" cy="525773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velocity and capacity are 2 factors that the team needs to consider while pulling in product backlog items in the sprint backlog.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E5A324-94ED-45E6-94BE-0FEEA2EF023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43090" y="1905040"/>
            <a:ext cx="6945322" cy="432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606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762100" y="304882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Capacity Vs. Velocity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90664"/>
            <a:ext cx="8272354" cy="525773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Ideally, capacity and velocity work in conjunction. Velocity measures what a team is doing, on average, over time, and capacity estimates what a team is actually able to do in the next sprint (whether that be above or below average).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97936C-7E26-457E-8414-A50B6BED83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3506" y="2362155"/>
            <a:ext cx="7924592" cy="403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82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762100" y="304882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br>
              <a:rPr lang="en-US" sz="2800" dirty="0"/>
            </a:br>
            <a:r>
              <a:rPr lang="en-US" sz="2800" dirty="0"/>
              <a:t>How to Perform Capacity Planning for Sprints?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C0B8D-AF8D-4396-9688-F2E185D3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34" y="1371654"/>
            <a:ext cx="8220358" cy="38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577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762100" y="304882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Capacity Vs. Velocity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5A2F4-2CCA-45C3-B3A0-D63BFDE61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295456"/>
            <a:ext cx="86010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192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762100" y="304882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en-US" sz="2800" dirty="0"/>
              <a:t>Capacity Vs. Velocity (Explain)</a:t>
            </a: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90664"/>
            <a:ext cx="8272354" cy="525773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Imagine we have 9 team members, who work within 2-week Sprints 40 hours a week. The maximum Team’s Capacity is: 9 * 2 * 40 = 720 hours.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Now imagine, 1 software engineer and 1 business analyst are going to have their 2-week vacations during the next Sprint and all the team will be away on holiday. So, the adjusted Capacity is: 720 − (2 * 40 * 2 + 9 * 8) = 720 − 232 = 488 hours.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The ratio is: 488 / 720 = 0.68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If the average Velocity for the previous three Sprints was 160 points. Then the refined forecast for the upcoming Sprint is: 160 * 0.68 = 109 points.</a:t>
            </a:r>
          </a:p>
        </p:txBody>
      </p:sp>
    </p:spTree>
    <p:extLst>
      <p:ext uri="{BB962C8B-B14F-4D97-AF65-F5344CB8AC3E}">
        <p14:creationId xmlns:p14="http://schemas.microsoft.com/office/powerpoint/2010/main" val="19365107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D156-2C7E-4365-BD74-ED47EFB0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sz="36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07847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570</Words>
  <Application>Microsoft Office PowerPoint</Application>
  <PresentationFormat>On-screen Show (4:3)</PresentationFormat>
  <Paragraphs>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Custom Design</vt:lpstr>
      <vt:lpstr>1_Custom Design</vt:lpstr>
      <vt:lpstr>2_Custom Design</vt:lpstr>
      <vt:lpstr>Agile 4-DB Systel </vt:lpstr>
      <vt:lpstr>The Difference between Velocity, Capacity, and Load</vt:lpstr>
      <vt:lpstr>The Difference between Velocity, Capacity, and Load</vt:lpstr>
      <vt:lpstr>Capacity Vs. Velocity</vt:lpstr>
      <vt:lpstr>Capacity Vs. Velocity</vt:lpstr>
      <vt:lpstr> How to Perform Capacity Planning for Sprints?</vt:lpstr>
      <vt:lpstr>Capacity Vs. Velocity</vt:lpstr>
      <vt:lpstr>Capacity Vs. Velocity (Explain)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2-DB Systel </dc:title>
  <dc:creator>Neeraj Vohra</dc:creator>
  <cp:lastModifiedBy>Neeraj Vohra</cp:lastModifiedBy>
  <cp:revision>65</cp:revision>
  <dcterms:created xsi:type="dcterms:W3CDTF">2020-11-13T06:55:29Z</dcterms:created>
  <dcterms:modified xsi:type="dcterms:W3CDTF">2021-03-20T14:06:57Z</dcterms:modified>
</cp:coreProperties>
</file>