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96" r:id="rId2"/>
    <p:sldId id="262" r:id="rId3"/>
    <p:sldId id="260" r:id="rId4"/>
    <p:sldId id="29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94" r:id="rId13"/>
    <p:sldId id="293" r:id="rId14"/>
    <p:sldId id="272" r:id="rId15"/>
    <p:sldId id="273" r:id="rId16"/>
    <p:sldId id="274" r:id="rId17"/>
    <p:sldId id="275" r:id="rId18"/>
    <p:sldId id="276" r:id="rId19"/>
    <p:sldId id="271" r:id="rId20"/>
    <p:sldId id="277" r:id="rId21"/>
    <p:sldId id="291" r:id="rId22"/>
    <p:sldId id="295" r:id="rId23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Josefin Sans" pitchFamily="2" charset="77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verlock" panose="02000506030000020004" pitchFamily="2" charset="77"/>
      <p:regular r:id="rId39"/>
      <p:bold r:id="rId40"/>
      <p:italic r:id="rId41"/>
      <p:boldItalic r:id="rId42"/>
    </p:embeddedFont>
    <p:embeddedFont>
      <p:font typeface="PT Sans Narrow" panose="020B0506020203020204" pitchFamily="34" charset="77"/>
      <p:regular r:id="rId43"/>
      <p:bold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5"/>
    <p:restoredTop sz="94514"/>
  </p:normalViewPr>
  <p:slideViewPr>
    <p:cSldViewPr snapToGrid="0">
      <p:cViewPr varScale="1">
        <p:scale>
          <a:sx n="139" d="100"/>
          <a:sy n="139" d="100"/>
        </p:scale>
        <p:origin x="632" y="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317a9eb3b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317a9eb3b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548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257c70d9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257c70d9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2cb4b6dd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2cb4b6dd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2cb4b6dd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2cb4b6dd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82cb4b6dd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82cb4b6dd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2cb4b6dd9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82cb4b6dd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257c70d9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257c70d94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2cb4b6dd9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82cb4b6dd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2cb4b6dd9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82cb4b6dd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257c70d9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257c70d9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2cb4b6dd9_0_3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82cb4b6dd9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2cb4b6dd9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2cb4b6dd9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2cb4b6dd9_0_3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82cb4b6dd9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2cb4b6dd9_0_3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82cb4b6dd9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2cb4b6dd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2cb4b6dd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82cb4b6dd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82cb4b6dd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82cb4b6dd9_0_4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82cb4b6dd9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2cb4b6dd9_0_4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82cb4b6dd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257c70d94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257c70d94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2cb4b6dd9_0_4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82cb4b6dd9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82cb4b6dd9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82cb4b6dd9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1" y="1414026"/>
            <a:ext cx="6259286" cy="2278587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51462" y="357352"/>
            <a:ext cx="3788229" cy="607879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116954"/>
                </a:solidFill>
              </a:rPr>
            </a:br>
            <a:r>
              <a:rPr lang="en-US" sz="4800" b="1" dirty="0">
                <a:solidFill>
                  <a:srgbClr val="116954"/>
                </a:solidFill>
              </a:rPr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248374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165700" y="153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Software Engineering</a:t>
            </a:r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1"/>
          </p:nvPr>
        </p:nvSpPr>
        <p:spPr>
          <a:xfrm>
            <a:off x="244325" y="920400"/>
            <a:ext cx="8751300" cy="39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"The systematic, disciplined approach to the </a:t>
            </a:r>
            <a:r>
              <a:rPr lang="en" sz="2000" dirty="0">
                <a:solidFill>
                  <a:srgbClr val="FF000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development</a:t>
            </a: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, </a:t>
            </a:r>
            <a:r>
              <a:rPr lang="en" sz="2000" dirty="0">
                <a:solidFill>
                  <a:srgbClr val="FF000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operation</a:t>
            </a: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and </a:t>
            </a:r>
            <a:r>
              <a:rPr lang="en" sz="2000" dirty="0">
                <a:solidFill>
                  <a:srgbClr val="FF000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maintenance</a:t>
            </a: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of </a:t>
            </a:r>
            <a:r>
              <a:rPr lang="en" sz="2000" u="sng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  <a:hlinkClick r:id="rId3"/>
              </a:rPr>
              <a:t>software</a:t>
            </a: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“</a:t>
            </a:r>
            <a:endParaRPr sz="2000">
              <a:solidFill>
                <a:srgbClr val="233A44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                                                     -- IEEE</a:t>
            </a:r>
            <a:endParaRPr lang="en-US" sz="2000" dirty="0">
              <a:solidFill>
                <a:srgbClr val="233A44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0" lvl="0" indent="0" algn="just">
              <a:buNone/>
              <a:defRPr/>
            </a:pPr>
            <a:r>
              <a:rPr lang="en-US" b="1" i="1" u="sng" dirty="0">
                <a:solidFill>
                  <a:schemeClr val="bg2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Goal: </a:t>
            </a:r>
          </a:p>
          <a:p>
            <a:pPr marL="0" lvl="0" indent="0" algn="just">
              <a:buNone/>
              <a:defRPr/>
            </a:pPr>
            <a:r>
              <a:rPr lang="en-US" i="1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Is to deliver an </a:t>
            </a:r>
            <a:r>
              <a:rPr lang="en-US" i="1" dirty="0">
                <a:solidFill>
                  <a:srgbClr val="FF000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efficient</a:t>
            </a:r>
            <a:r>
              <a:rPr lang="en-US" i="1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and </a:t>
            </a:r>
            <a:r>
              <a:rPr lang="en-US" i="1" dirty="0">
                <a:solidFill>
                  <a:srgbClr val="FF000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reliable</a:t>
            </a:r>
            <a:r>
              <a:rPr lang="en-US" i="1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software product to </a:t>
            </a:r>
            <a:r>
              <a:rPr lang="en-US" b="1" i="1" dirty="0">
                <a:solidFill>
                  <a:srgbClr val="00B05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client</a:t>
            </a:r>
            <a:r>
              <a:rPr lang="en-US" i="1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OR to </a:t>
            </a:r>
            <a:r>
              <a:rPr lang="en-US" b="1" i="1" dirty="0">
                <a:solidFill>
                  <a:srgbClr val="00B05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end user</a:t>
            </a:r>
            <a:r>
              <a:rPr lang="en-US" i="1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OR to </a:t>
            </a:r>
            <a:r>
              <a:rPr lang="en-US" b="1" i="1" dirty="0">
                <a:solidFill>
                  <a:srgbClr val="00B05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market.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210625" y="1418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Basics...</a:t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07" y="778008"/>
            <a:ext cx="3096350" cy="29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575" y="206963"/>
            <a:ext cx="1244575" cy="129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4750" y="249963"/>
            <a:ext cx="1244575" cy="12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475" y="1722975"/>
            <a:ext cx="5256673" cy="250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950100" y="4449625"/>
            <a:ext cx="72438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Josefin Sans"/>
                <a:ea typeface="Josefin Sans"/>
                <a:cs typeface="Josefin Sans"/>
                <a:sym typeface="Josefin Sans"/>
              </a:rPr>
              <a:t>Server                                                 Applications</a:t>
            </a:r>
            <a:endParaRPr sz="1800" b="1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210625" y="141800"/>
            <a:ext cx="4098616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Basics...  Application Types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309" y="756744"/>
            <a:ext cx="849235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Standalone Applications:   </a:t>
            </a:r>
          </a:p>
          <a:p>
            <a:pPr marL="342900" lvl="3" indent="-342900" algn="just"/>
            <a:r>
              <a:rPr lang="en-US" dirty="0"/>
              <a:t>	applications we install on </a:t>
            </a:r>
            <a:r>
              <a:rPr lang="en-US" b="1" dirty="0">
                <a:solidFill>
                  <a:srgbClr val="C00000"/>
                </a:solidFill>
              </a:rPr>
              <a:t>Desktops</a:t>
            </a:r>
            <a:r>
              <a:rPr lang="en-US" dirty="0"/>
              <a:t> – only a </a:t>
            </a:r>
            <a:r>
              <a:rPr lang="en-US" b="1" dirty="0">
                <a:solidFill>
                  <a:srgbClr val="C00000"/>
                </a:solidFill>
              </a:rPr>
              <a:t>single user</a:t>
            </a:r>
            <a:r>
              <a:rPr lang="en-US" dirty="0"/>
              <a:t> can access the application at any point of time </a:t>
            </a:r>
          </a:p>
          <a:p>
            <a:pPr marL="342900" lvl="3" indent="-342900" algn="just"/>
            <a:r>
              <a:rPr lang="en-US" dirty="0"/>
              <a:t>		</a:t>
            </a:r>
            <a:r>
              <a:rPr lang="en-US" u="sng" dirty="0"/>
              <a:t>ex: VLC player, calc app, MS Office etc..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Web Applications:</a:t>
            </a:r>
          </a:p>
          <a:p>
            <a:pPr marL="342900" lvl="3" indent="-342900" algn="just"/>
            <a:r>
              <a:rPr lang="en-US" dirty="0"/>
              <a:t>	applications that can be accessed by N number of people from N number of Geographic Locations over an internet. </a:t>
            </a:r>
          </a:p>
          <a:p>
            <a:pPr marL="342900" lvl="3" indent="-342900" algn="just"/>
            <a:r>
              <a:rPr lang="en-US" dirty="0"/>
              <a:t>		</a:t>
            </a:r>
            <a:r>
              <a:rPr lang="en-US" u="sng" dirty="0"/>
              <a:t>ex: simple websites like </a:t>
            </a:r>
            <a:r>
              <a:rPr lang="en-US" u="sng" dirty="0" err="1"/>
              <a:t>ThinkWright.in</a:t>
            </a:r>
            <a:r>
              <a:rPr lang="en-US" u="sng" dirty="0"/>
              <a:t>, simplesite.com etc.. </a:t>
            </a:r>
          </a:p>
          <a:p>
            <a:pPr marL="342900" lvl="3" indent="-342900" algn="just"/>
            <a:r>
              <a:rPr lang="en-US" dirty="0"/>
              <a:t>	These application we host on </a:t>
            </a:r>
            <a:r>
              <a:rPr lang="en-US" b="1" dirty="0">
                <a:solidFill>
                  <a:srgbClr val="C00000"/>
                </a:solidFill>
              </a:rPr>
              <a:t>web servers </a:t>
            </a:r>
            <a:r>
              <a:rPr lang="en-US" dirty="0"/>
              <a:t>such as </a:t>
            </a:r>
            <a:r>
              <a:rPr lang="en-US" b="1" dirty="0">
                <a:solidFill>
                  <a:srgbClr val="C00000"/>
                </a:solidFill>
              </a:rPr>
              <a:t>apache, </a:t>
            </a:r>
            <a:r>
              <a:rPr lang="en-US" b="1" dirty="0" err="1">
                <a:solidFill>
                  <a:srgbClr val="C00000"/>
                </a:solidFill>
              </a:rPr>
              <a:t>nginx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 err="1">
                <a:solidFill>
                  <a:srgbClr val="C00000"/>
                </a:solidFill>
              </a:rPr>
              <a:t>iis</a:t>
            </a:r>
            <a:r>
              <a:rPr lang="en-US" b="1" dirty="0">
                <a:solidFill>
                  <a:srgbClr val="C00000"/>
                </a:solidFill>
              </a:rPr>
              <a:t>, tomcat etc…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Enterprise Applications:</a:t>
            </a:r>
          </a:p>
          <a:p>
            <a:pPr marL="342900" indent="-342900" algn="just"/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dirty="0"/>
              <a:t>applications that can be accessed by N number of people from N number of Geographic Locations over a internet, but have an extended features over web applications such as  </a:t>
            </a:r>
            <a:r>
              <a:rPr lang="en-US" b="1" dirty="0">
                <a:solidFill>
                  <a:srgbClr val="002060"/>
                </a:solidFill>
              </a:rPr>
              <a:t>security, messaging, High Availability, Integrations etc..</a:t>
            </a:r>
          </a:p>
          <a:p>
            <a:pPr marL="342900" indent="-342900" algn="just"/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u="sng" dirty="0"/>
              <a:t>ex: amazon.com, </a:t>
            </a:r>
            <a:r>
              <a:rPr lang="en-US" u="sng" dirty="0" err="1"/>
              <a:t>bookmyshow</a:t>
            </a:r>
            <a:r>
              <a:rPr lang="en-US" u="sng" dirty="0"/>
              <a:t>, </a:t>
            </a:r>
            <a:r>
              <a:rPr lang="en-US" u="sng" dirty="0" err="1"/>
              <a:t>flipkart</a:t>
            </a:r>
            <a:r>
              <a:rPr lang="en-US" u="sng" dirty="0"/>
              <a:t>, etc…</a:t>
            </a:r>
          </a:p>
          <a:p>
            <a:pPr marL="342900" indent="-342900" algn="just"/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dirty="0"/>
              <a:t>These type of application we host / install on </a:t>
            </a:r>
            <a:r>
              <a:rPr lang="en-US" b="1" dirty="0">
                <a:solidFill>
                  <a:srgbClr val="C00000"/>
                </a:solidFill>
              </a:rPr>
              <a:t>application servers </a:t>
            </a:r>
            <a:r>
              <a:rPr lang="en-US" dirty="0"/>
              <a:t>such as </a:t>
            </a:r>
            <a:r>
              <a:rPr lang="en-US" b="1" dirty="0">
                <a:solidFill>
                  <a:srgbClr val="C00000"/>
                </a:solidFill>
              </a:rPr>
              <a:t>WebSphere, </a:t>
            </a:r>
            <a:r>
              <a:rPr lang="en-US" b="1" dirty="0" err="1">
                <a:solidFill>
                  <a:srgbClr val="C00000"/>
                </a:solidFill>
              </a:rPr>
              <a:t>Jboss</a:t>
            </a:r>
            <a:r>
              <a:rPr lang="en-US" b="1" dirty="0">
                <a:solidFill>
                  <a:srgbClr val="C00000"/>
                </a:solidFill>
              </a:rPr>
              <a:t>, Weblogic etc…</a:t>
            </a:r>
          </a:p>
          <a:p>
            <a:pPr marL="342900" indent="-342900"/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8330" y="872359"/>
            <a:ext cx="3771561" cy="36101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09903" y="1471448"/>
            <a:ext cx="41410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cs typeface="HP Simplified" pitchFamily="34" charset="0"/>
              </a:rPr>
              <a:t>SDLC</a:t>
            </a:r>
            <a:r>
              <a:rPr lang="en-US" sz="1600" dirty="0">
                <a:cs typeface="HP Simplified" pitchFamily="34" charset="0"/>
              </a:rPr>
              <a:t> defines the complete life cycle of software i.e. all the tasks involved in planning, creating, testing, and delivering a Software to client or market.</a:t>
            </a:r>
          </a:p>
          <a:p>
            <a:pPr algn="just"/>
            <a:endParaRPr lang="en-US" sz="1600" dirty="0">
              <a:cs typeface="HP Simplified" pitchFamily="34" charset="0"/>
            </a:endParaRPr>
          </a:p>
          <a:p>
            <a:pPr algn="just"/>
            <a:r>
              <a:rPr lang="en-US" sz="1600" b="1" dirty="0">
                <a:solidFill>
                  <a:srgbClr val="C00000"/>
                </a:solidFill>
                <a:cs typeface="HP Simplified" pitchFamily="34" charset="0"/>
              </a:rPr>
              <a:t>SDLC</a:t>
            </a:r>
            <a:r>
              <a:rPr lang="en-US" sz="1600" dirty="0">
                <a:solidFill>
                  <a:srgbClr val="C00000"/>
                </a:solidFill>
                <a:cs typeface="HP Simplified" pitchFamily="34" charset="0"/>
              </a:rPr>
              <a:t> process aims to produce high-quality software that meets customer expectations</a:t>
            </a:r>
          </a:p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5091" y="377793"/>
            <a:ext cx="1882592" cy="589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SDLC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77407" y="1166649"/>
            <a:ext cx="4462263" cy="35524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14069" y="1113516"/>
            <a:ext cx="1882592" cy="589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99544" y="1839902"/>
            <a:ext cx="406224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cs typeface="HP Simplified" pitchFamily="34" charset="0"/>
              </a:rPr>
              <a:t>New phase in the development process begins only if the previous phase is complete</a:t>
            </a:r>
          </a:p>
          <a:p>
            <a:pPr algn="just"/>
            <a:endParaRPr lang="en-IN" dirty="0">
              <a:cs typeface="HP Simplified" pitchFamily="34" charset="0"/>
            </a:endParaRPr>
          </a:p>
          <a:p>
            <a:pPr algn="just"/>
            <a:r>
              <a:rPr lang="en-IN" b="1" u="sng" dirty="0">
                <a:solidFill>
                  <a:schemeClr val="tx2">
                    <a:lumMod val="75000"/>
                  </a:schemeClr>
                </a:solidFill>
                <a:cs typeface="HP Simplified" pitchFamily="34" charset="0"/>
              </a:rPr>
              <a:t>Challenges:</a:t>
            </a:r>
          </a:p>
          <a:p>
            <a:pPr algn="just"/>
            <a:endParaRPr lang="en-IN" dirty="0">
              <a:cs typeface="HP Simplified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IN" dirty="0">
                <a:cs typeface="HP Simplified" pitchFamily="34" charset="0"/>
              </a:rPr>
              <a:t>    Time to market is very high</a:t>
            </a:r>
          </a:p>
          <a:p>
            <a:pPr algn="just">
              <a:buFont typeface="Wingdings" pitchFamily="2" charset="2"/>
              <a:buChar char="ü"/>
            </a:pPr>
            <a:endParaRPr lang="en-IN" dirty="0">
              <a:cs typeface="HP Simplified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IN" dirty="0">
                <a:cs typeface="HP Simplified" pitchFamily="34" charset="0"/>
              </a:rPr>
              <a:t>    No client interaction</a:t>
            </a:r>
          </a:p>
          <a:p>
            <a:pPr algn="just">
              <a:buFont typeface="Wingdings" pitchFamily="2" charset="2"/>
              <a:buChar char="ü"/>
            </a:pPr>
            <a:endParaRPr lang="en-IN" dirty="0">
              <a:cs typeface="HP Simplified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IN" dirty="0">
                <a:cs typeface="HP Simplified" pitchFamily="34" charset="0"/>
              </a:rPr>
              <a:t>    Requirements are rigid, means we cannot accommodate dynamic requirements.</a:t>
            </a:r>
          </a:p>
        </p:txBody>
      </p:sp>
      <p:sp>
        <p:nvSpPr>
          <p:cNvPr id="5" name="Google Shape;215;p35"/>
          <p:cNvSpPr txBox="1">
            <a:spLocks noGrp="1"/>
          </p:cNvSpPr>
          <p:nvPr>
            <p:ph type="title"/>
          </p:nvPr>
        </p:nvSpPr>
        <p:spPr>
          <a:xfrm>
            <a:off x="141081" y="253816"/>
            <a:ext cx="2696712" cy="534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109550" y="85650"/>
            <a:ext cx="2696712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0" y="741875"/>
            <a:ext cx="8751300" cy="15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42900" y="154484"/>
            <a:ext cx="61722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body" idx="1"/>
          </p:nvPr>
        </p:nvSpPr>
        <p:spPr>
          <a:xfrm>
            <a:off x="342900" y="900114"/>
            <a:ext cx="6172200" cy="25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24" name="Google Shape;22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5" y="895663"/>
            <a:ext cx="5839605" cy="37023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5;p35"/>
          <p:cNvSpPr txBox="1">
            <a:spLocks/>
          </p:cNvSpPr>
          <p:nvPr/>
        </p:nvSpPr>
        <p:spPr>
          <a:xfrm>
            <a:off x="109550" y="85650"/>
            <a:ext cx="2560078" cy="56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Narrow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D85C6"/>
                </a:solidFill>
                <a:effectLst/>
                <a:uLnTx/>
                <a:uFillTx/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title"/>
          </p:nvPr>
        </p:nvSpPr>
        <p:spPr>
          <a:xfrm>
            <a:off x="53400" y="0"/>
            <a:ext cx="8520600" cy="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0" y="707400"/>
            <a:ext cx="8908501" cy="29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>
            <a:spLocks noGrp="1"/>
          </p:cNvSpPr>
          <p:nvPr>
            <p:ph type="title"/>
          </p:nvPr>
        </p:nvSpPr>
        <p:spPr>
          <a:xfrm>
            <a:off x="-1758883" y="167269"/>
            <a:ext cx="64476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n" sz="3300" dirty="0">
                <a:solidFill>
                  <a:srgbClr val="0B5394"/>
                </a:solidFill>
                <a:latin typeface="Josefin Sans"/>
                <a:ea typeface="Josefin Sans"/>
                <a:cs typeface="Josefin Sans"/>
                <a:sym typeface="Josefin Sans"/>
              </a:rPr>
              <a:t>Challenges</a:t>
            </a:r>
            <a:r>
              <a:rPr lang="en" sz="3300" dirty="0">
                <a:solidFill>
                  <a:srgbClr val="073763"/>
                </a:solidFill>
                <a:latin typeface="Josefin Sans"/>
                <a:ea typeface="Josefin Sans"/>
                <a:cs typeface="Josefin Sans"/>
                <a:sym typeface="Josefin Sans"/>
              </a:rPr>
              <a:t>:</a:t>
            </a:r>
            <a:endParaRPr>
              <a:solidFill>
                <a:srgbClr val="073763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339260" y="1029885"/>
            <a:ext cx="8650800" cy="335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Infrastructure Readiness</a:t>
            </a: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Scalability</a:t>
            </a: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Quality of the Product</a:t>
            </a: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       automation </a:t>
            </a:r>
            <a:endParaRPr sz="2000" dirty="0"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Limited Release windows – Releases may slip/fail</a:t>
            </a: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➔"/>
            </a:pPr>
            <a:r>
              <a:rPr lang="en" sz="2000" dirty="0">
                <a:solidFill>
                  <a:srgbClr val="002060"/>
                </a:solidFill>
                <a:latin typeface="Open Sans" charset="0"/>
                <a:ea typeface="Open Sans" charset="0"/>
                <a:cs typeface="Open Sans" charset="0"/>
                <a:sym typeface="Verdana"/>
              </a:rPr>
              <a:t>      we want no down time deployment  -- CICD</a:t>
            </a:r>
            <a:endParaRPr sz="2000" dirty="0">
              <a:solidFill>
                <a:srgbClr val="002060"/>
              </a:solidFill>
              <a:latin typeface="Open Sans" charset="0"/>
              <a:ea typeface="Open Sans" charset="0"/>
              <a:cs typeface="Open Sans" charset="0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8" name="Google Shape;248;p40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0995" y="1117146"/>
            <a:ext cx="61817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Google Shape;215;p35"/>
          <p:cNvSpPr txBox="1">
            <a:spLocks/>
          </p:cNvSpPr>
          <p:nvPr/>
        </p:nvSpPr>
        <p:spPr>
          <a:xfrm>
            <a:off x="225164" y="222284"/>
            <a:ext cx="2560078" cy="56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Narrow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D85C6"/>
                </a:solidFill>
                <a:effectLst/>
                <a:uLnTx/>
                <a:uFillTx/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>
            <a:spLocks noGrp="1"/>
          </p:cNvSpPr>
          <p:nvPr>
            <p:ph type="body" idx="1"/>
          </p:nvPr>
        </p:nvSpPr>
        <p:spPr>
          <a:xfrm>
            <a:off x="969164" y="1040523"/>
            <a:ext cx="64476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lvl="0" indent="-215900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Is it a culture?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15900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Is it a job title?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15900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Is it a team?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15900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Is it a way of organizing?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15900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Is it a tool stack?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15900" algn="l" rtl="0">
              <a:spcBef>
                <a:spcPts val="60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4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Or just a way of thinking?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64625" y="315310"/>
            <a:ext cx="3204092" cy="58049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</a:br>
            <a:r>
              <a:rPr lang="en" sz="2400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What is DevOps ????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9" name="Google Shape;269;p43"/>
          <p:cNvSpPr/>
          <p:nvPr/>
        </p:nvSpPr>
        <p:spPr>
          <a:xfrm>
            <a:off x="178675" y="619499"/>
            <a:ext cx="7693573" cy="24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i="0" u="none" strike="noStrike" cap="none" dirty="0">
                <a:solidFill>
                  <a:srgbClr val="0B5394"/>
                </a:solidFill>
                <a:latin typeface="Josefin Sans"/>
                <a:ea typeface="Josefin Sans"/>
                <a:cs typeface="Josefin Sans"/>
                <a:sym typeface="Josefin Sans"/>
              </a:rPr>
              <a:t>“DevOps is a re-org, not a new team to hire”</a:t>
            </a:r>
            <a:endParaRPr sz="4400">
              <a:solidFill>
                <a:srgbClr val="0B539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i="0" u="none" strike="noStrike" cap="none" dirty="0">
                <a:solidFill>
                  <a:srgbClr val="0B5394"/>
                </a:solidFill>
                <a:latin typeface="Josefin Sans"/>
                <a:ea typeface="Josefin Sans"/>
                <a:cs typeface="Josefin Sans"/>
                <a:sym typeface="Josefin Sans"/>
              </a:rPr>
              <a:t>          </a:t>
            </a:r>
            <a:endParaRPr sz="2400" b="1" i="0" u="none" strike="noStrike" cap="none">
              <a:solidFill>
                <a:srgbClr val="0B539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70" name="Google Shape;270;p43"/>
          <p:cNvSpPr/>
          <p:nvPr/>
        </p:nvSpPr>
        <p:spPr>
          <a:xfrm>
            <a:off x="5085469" y="3136029"/>
            <a:ext cx="41859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i="0" u="none" strike="noStrike" cap="none" dirty="0">
                <a:solidFill>
                  <a:srgbClr val="5F497A"/>
                </a:solidFill>
                <a:latin typeface="Overlock"/>
                <a:ea typeface="Overlock"/>
                <a:cs typeface="Overlock"/>
                <a:sym typeface="Overlock"/>
              </a:rPr>
              <a:t>-- Adrian Cockcroft</a:t>
            </a:r>
            <a:endParaRPr sz="2800" b="0" i="0" u="none" strike="noStrike" cap="none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 sz="140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4"/>
          <p:cNvSpPr txBox="1">
            <a:spLocks noGrp="1"/>
          </p:cNvSpPr>
          <p:nvPr>
            <p:ph type="body" idx="1"/>
          </p:nvPr>
        </p:nvSpPr>
        <p:spPr>
          <a:xfrm>
            <a:off x="188150" y="7385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“DevOps is agile IT operations delivery, required to match the cadence of agile IT development”.</a:t>
            </a:r>
            <a:endParaRPr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dirty="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“DevOps is the philosophy of unifying Development and Operations at the culture, practice, and tool levels, to achieve accelerated and more frequent deployment of changes to Production (The IT Sceptic)”.</a:t>
            </a:r>
            <a:endParaRPr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dirty="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just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DevOps is a software Engineering </a:t>
            </a:r>
            <a:r>
              <a:rPr lang="en" b="1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Culture</a:t>
            </a: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" b="1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Practice</a:t>
            </a: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that is unifying Software Development  and Software Operations.  It Aims at Shorter Deployment cycles, More dependable releases in close alignment with business objectives. </a:t>
            </a:r>
            <a:endParaRPr dirty="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7" name="Google Shape;277;p44"/>
          <p:cNvSpPr txBox="1">
            <a:spLocks noGrp="1"/>
          </p:cNvSpPr>
          <p:nvPr>
            <p:ph type="title"/>
          </p:nvPr>
        </p:nvSpPr>
        <p:spPr>
          <a:xfrm>
            <a:off x="0" y="803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240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Technically….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>
            <a:spLocks noGrp="1"/>
          </p:cNvSpPr>
          <p:nvPr>
            <p:ph type="body" idx="1"/>
          </p:nvPr>
        </p:nvSpPr>
        <p:spPr>
          <a:xfrm>
            <a:off x="157225" y="922575"/>
            <a:ext cx="8838300" cy="355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lvl="0" indent="-2540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0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DevOps is first a Culture of Collaboration between developers and Operations.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101600" algn="just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0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The culture has given scope for set of practices.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101600" algn="just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sz="2000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DevOps is a revolutionary movement by Practitioners , for practitioners.  </a:t>
            </a:r>
            <a:endParaRPr sz="200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Technically….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>
            <a:spLocks noGrp="1"/>
          </p:cNvSpPr>
          <p:nvPr>
            <p:ph type="body" idx="1"/>
          </p:nvPr>
        </p:nvSpPr>
        <p:spPr>
          <a:xfrm>
            <a:off x="334800" y="579195"/>
            <a:ext cx="8472869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lvl="0" indent="-2540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The goal of the development team is to deliver features into the hands of the customer as quickly as possible, so their goal is </a:t>
            </a:r>
            <a:r>
              <a:rPr lang="en" b="1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speed</a:t>
            </a: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. But the goal of the operations team is to maintain the </a:t>
            </a:r>
            <a:r>
              <a:rPr lang="en" b="1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stability</a:t>
            </a: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 of the system and minimize downtime.</a:t>
            </a:r>
          </a:p>
          <a:p>
            <a:pPr marL="254000" lvl="0" indent="-25400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stability and speed of delivery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Time-to-market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No Production Failures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Immediate recovery from failures.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254000" lvl="0" indent="-254000" algn="just" rtl="0">
              <a:spcBef>
                <a:spcPts val="50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Verdana"/>
              <a:buChar char="●"/>
            </a:pPr>
            <a:r>
              <a:rPr lang="en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There is no wall in a DevOps culture.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Goals….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>
            <a:spLocks noGrp="1"/>
          </p:cNvSpPr>
          <p:nvPr>
            <p:ph type="title"/>
          </p:nvPr>
        </p:nvSpPr>
        <p:spPr>
          <a:xfrm>
            <a:off x="8625" y="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Evolution of IT</a:t>
            </a:r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714777"/>
            <a:ext cx="9144003" cy="4046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>
            <a:spLocks noGrp="1"/>
          </p:cNvSpPr>
          <p:nvPr>
            <p:ph type="title"/>
          </p:nvPr>
        </p:nvSpPr>
        <p:spPr>
          <a:xfrm>
            <a:off x="342900" y="154484"/>
            <a:ext cx="61722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5" name="Google Shape;295;p47"/>
          <p:cNvSpPr txBox="1">
            <a:spLocks noGrp="1"/>
          </p:cNvSpPr>
          <p:nvPr>
            <p:ph type="body" idx="1"/>
          </p:nvPr>
        </p:nvSpPr>
        <p:spPr>
          <a:xfrm>
            <a:off x="342900" y="900114"/>
            <a:ext cx="6172200" cy="25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96" name="Google Shape;29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164" y="816600"/>
            <a:ext cx="6933178" cy="3242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74" name="Google Shape;374;p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2248" y="189185"/>
            <a:ext cx="3689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D85C6"/>
                </a:solidFill>
                <a:latin typeface="Josefin Sans"/>
                <a:ea typeface="Josefin Sans"/>
                <a:cs typeface="Josefin Sans"/>
                <a:sym typeface="Josefin Sans"/>
              </a:rPr>
              <a:t>WHY DevOps 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883" y="704193"/>
            <a:ext cx="85659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Organizations today are working hard to respond better around </a:t>
            </a:r>
            <a:r>
              <a:rPr lang="en-US" b="1" dirty="0">
                <a:solidFill>
                  <a:srgbClr val="FF0000"/>
                </a:solidFill>
              </a:rPr>
              <a:t>changing market needs</a:t>
            </a:r>
            <a:r>
              <a:rPr lang="en-US" dirty="0"/>
              <a:t> and are </a:t>
            </a:r>
            <a:r>
              <a:rPr lang="en-US" b="1" dirty="0">
                <a:solidFill>
                  <a:srgbClr val="FF0000"/>
                </a:solidFill>
              </a:rPr>
              <a:t>keen to adopt DevOps practices</a:t>
            </a:r>
            <a:r>
              <a:rPr lang="en-US" dirty="0"/>
              <a:t>.  As a result</a:t>
            </a:r>
          </a:p>
          <a:p>
            <a:endParaRPr lang="en-US" dirty="0"/>
          </a:p>
          <a:p>
            <a:r>
              <a:rPr lang="en-US" dirty="0"/>
              <a:t>All Organizations are now </a:t>
            </a:r>
            <a:r>
              <a:rPr lang="en-US" b="1" i="1" dirty="0">
                <a:solidFill>
                  <a:srgbClr val="FF0000"/>
                </a:solidFill>
              </a:rPr>
              <a:t>hiring DevOps Engineers</a:t>
            </a:r>
            <a:r>
              <a:rPr lang="en-US" dirty="0"/>
              <a:t>, who can work &amp; adopt dynamic market needs easily.   </a:t>
            </a:r>
          </a:p>
          <a:p>
            <a:endParaRPr lang="en-US" dirty="0"/>
          </a:p>
          <a:p>
            <a:r>
              <a:rPr lang="en-US" dirty="0"/>
              <a:t>a  </a:t>
            </a:r>
            <a:r>
              <a:rPr lang="en-US" b="1" i="1" dirty="0">
                <a:solidFill>
                  <a:srgbClr val="FF0000"/>
                </a:solidFill>
              </a:rPr>
              <a:t>growth  of 75 % </a:t>
            </a:r>
            <a:r>
              <a:rPr lang="en-US" dirty="0"/>
              <a:t>in last couple of years as every organization is adopting DevOps Practices.  </a:t>
            </a: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906" y="2480440"/>
            <a:ext cx="7623777" cy="2271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0207" y="199697"/>
            <a:ext cx="6300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D85C6"/>
                </a:solidFill>
                <a:latin typeface="Bahnschrift" panose="020B0502040204020203" pitchFamily="34" charset="0"/>
                <a:ea typeface="Josefin Sans"/>
                <a:cs typeface="Josefin Sans"/>
                <a:sym typeface="Josefin Sans"/>
              </a:rPr>
              <a:t>DevOps Engineer Roles &amp; Responsibilities  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959" y="920972"/>
            <a:ext cx="85659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With DevOps, there is more scope for frequent changes in the code, due to which it is expected to do </a:t>
            </a:r>
          </a:p>
          <a:p>
            <a:pPr algn="just"/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Test, build, design, deployment, and ability to maintain continuous integration and continuous delivery process using tools like Jenkins, maven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Git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, etc. 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 Must know how to choose the best tools and technologies which best fits the business needs. 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 Ability to automate test and deploy the code and monitor. 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 Work in close coordination with the development and operations team such that the application is in line with performance according to the customer's expectation.</a:t>
            </a:r>
          </a:p>
          <a:p>
            <a:pPr marL="342900" indent="-342900" algn="just"/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342900" indent="-342900" algn="just"/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1588" indent="-1588" algn="just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It’s not expected to DO Everything, but have an idea of end-to-end process, Master couple of tools as Primary Skills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then know various tools which can help to achieve the DevOps process. 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algn="just"/>
            <a:endParaRPr lang="en-US" sz="14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3904</TotalTime>
  <Words>844</Words>
  <Application>Microsoft Macintosh PowerPoint</Application>
  <PresentationFormat>On-screen Show (16:9)</PresentationFormat>
  <Paragraphs>113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Calibri</vt:lpstr>
      <vt:lpstr>PT Sans Narrow</vt:lpstr>
      <vt:lpstr>Wingdings</vt:lpstr>
      <vt:lpstr>Arial</vt:lpstr>
      <vt:lpstr>Open Sans</vt:lpstr>
      <vt:lpstr>Verdana</vt:lpstr>
      <vt:lpstr>Josefin Sans</vt:lpstr>
      <vt:lpstr>Bahnschrift</vt:lpstr>
      <vt:lpstr>Overlock</vt:lpstr>
      <vt:lpstr>Tropic</vt:lpstr>
      <vt:lpstr> DevOps</vt:lpstr>
      <vt:lpstr>Software Engineering</vt:lpstr>
      <vt:lpstr> </vt:lpstr>
      <vt:lpstr> </vt:lpstr>
      <vt:lpstr>PowerPoint Presentation</vt:lpstr>
      <vt:lpstr>Evolution of IT</vt:lpstr>
      <vt:lpstr>Evolution of IT</vt:lpstr>
      <vt:lpstr>  </vt:lpstr>
      <vt:lpstr>PowerPoint Presentation</vt:lpstr>
      <vt:lpstr>Evolution of IT </vt:lpstr>
      <vt:lpstr>Challenges:</vt:lpstr>
      <vt:lpstr> </vt:lpstr>
      <vt:lpstr>PowerPoint Presentation</vt:lpstr>
      <vt:lpstr> What is DevOps ???? </vt:lpstr>
      <vt:lpstr> </vt:lpstr>
      <vt:lpstr>   </vt:lpstr>
      <vt:lpstr>PowerPoint Presentation</vt:lpstr>
      <vt:lpstr>PowerPoint Presentation</vt:lpstr>
      <vt:lpstr>Evolution of IT</vt:lpstr>
      <vt:lpstr> 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Naresh R</cp:lastModifiedBy>
  <cp:revision>120</cp:revision>
  <dcterms:modified xsi:type="dcterms:W3CDTF">2021-07-13T10:02:52Z</dcterms:modified>
</cp:coreProperties>
</file>