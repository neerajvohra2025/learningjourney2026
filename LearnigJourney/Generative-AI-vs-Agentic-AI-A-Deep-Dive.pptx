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64" r:id="rId3"/>
    <p:sldId id="265" r:id="rId4"/>
    <p:sldId id="257" r:id="rId5"/>
    <p:sldId id="258" r:id="rId6"/>
    <p:sldId id="259" r:id="rId7"/>
    <p:sldId id="267" r:id="rId8"/>
    <p:sldId id="260" r:id="rId9"/>
    <p:sldId id="261" r:id="rId10"/>
    <p:sldId id="262" r:id="rId11"/>
  </p:sldIdLst>
  <p:sldSz cx="14630400" cy="8229600"/>
  <p:notesSz cx="8229600" cy="14630400"/>
  <p:embeddedFontLst>
    <p:embeddedFont>
      <p:font typeface="Heebo Bold" panose="020B0604020202020204" charset="-79"/>
      <p:bold r:id="rId13"/>
    </p:embeddedFont>
    <p:embeddedFont>
      <p:font typeface="Heebo Light" pitchFamily="2" charset="-79"/>
      <p:regular r:id="rId14"/>
    </p:embeddedFont>
    <p:embeddedFont>
      <p:font typeface="Montserrat" panose="00000500000000000000"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8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6491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5486400" cy="8229600"/>
          </a:xfrm>
          <a:prstGeom prst="rect">
            <a:avLst/>
          </a:prstGeom>
        </p:spPr>
      </p:pic>
      <p:sp>
        <p:nvSpPr>
          <p:cNvPr id="3" name="Text 0"/>
          <p:cNvSpPr/>
          <p:nvPr/>
        </p:nvSpPr>
        <p:spPr>
          <a:xfrm>
            <a:off x="6280190" y="1320483"/>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EEAEF6"/>
                </a:solidFill>
                <a:latin typeface="Bricolage Grotesque Extra Bold" pitchFamily="34" charset="0"/>
                <a:ea typeface="Bricolage Grotesque Extra Bold" pitchFamily="34" charset="-122"/>
                <a:cs typeface="Bricolage Grotesque Extra Bold" pitchFamily="34" charset="-120"/>
              </a:rPr>
              <a:t>Generative AI, LLMs, Agents &amp; Agentic AI: </a:t>
            </a:r>
            <a:endParaRPr lang="en-US" sz="4450" dirty="0"/>
          </a:p>
        </p:txBody>
      </p:sp>
      <p:sp>
        <p:nvSpPr>
          <p:cNvPr id="4" name="Text 1"/>
          <p:cNvSpPr/>
          <p:nvPr/>
        </p:nvSpPr>
        <p:spPr>
          <a:xfrm>
            <a:off x="6280190" y="3941802"/>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This presentation explores the exciting world of artificial intelligence, differentiating between Generative AI, Large Language Models (LLMs), AI Agents, and the emerging field of Agentic AI. We'll uncover how these advanced technologies create, understand, and act.</a:t>
            </a:r>
            <a:endParaRPr lang="en-US" sz="1750" dirty="0"/>
          </a:p>
        </p:txBody>
      </p:sp>
      <p:sp>
        <p:nvSpPr>
          <p:cNvPr id="5" name="Shape 2"/>
          <p:cNvSpPr/>
          <p:nvPr/>
        </p:nvSpPr>
        <p:spPr>
          <a:xfrm>
            <a:off x="6280190" y="5665470"/>
            <a:ext cx="362903" cy="362903"/>
          </a:xfrm>
          <a:prstGeom prst="roundRect">
            <a:avLst>
              <a:gd name="adj" fmla="val 25194296"/>
            </a:avLst>
          </a:prstGeom>
          <a:noFill/>
          <a:ln w="7620">
            <a:solidFill>
              <a:srgbClr val="4D4D51"/>
            </a:solidFill>
            <a:prstDash val="solid"/>
          </a:ln>
        </p:spPr>
        <p:txBody>
          <a:bodyPr/>
          <a:lstStyle/>
          <a:p>
            <a:endParaRPr lang="en-IN"/>
          </a:p>
        </p:txBody>
      </p:sp>
      <p:pic>
        <p:nvPicPr>
          <p:cNvPr id="6" name="Image 1" descr="preencoded.png"/>
          <p:cNvPicPr>
            <a:picLocks noChangeAspect="1"/>
          </p:cNvPicPr>
          <p:nvPr/>
        </p:nvPicPr>
        <p:blipFill>
          <a:blip r:embed="rId4"/>
          <a:stretch>
            <a:fillRect/>
          </a:stretch>
        </p:blipFill>
        <p:spPr>
          <a:xfrm>
            <a:off x="6287810" y="5673090"/>
            <a:ext cx="347663" cy="347663"/>
          </a:xfrm>
          <a:prstGeom prst="rect">
            <a:avLst/>
          </a:prstGeom>
        </p:spPr>
      </p:pic>
      <p:sp>
        <p:nvSpPr>
          <p:cNvPr id="7" name="Text 3"/>
          <p:cNvSpPr/>
          <p:nvPr/>
        </p:nvSpPr>
        <p:spPr>
          <a:xfrm>
            <a:off x="6756440" y="5648563"/>
            <a:ext cx="2035612" cy="396835"/>
          </a:xfrm>
          <a:prstGeom prst="rect">
            <a:avLst/>
          </a:prstGeom>
          <a:noFill/>
          <a:ln/>
        </p:spPr>
        <p:txBody>
          <a:bodyPr wrap="none" lIns="0" tIns="0" rIns="0" bIns="0" rtlCol="0" anchor="t"/>
          <a:lstStyle/>
          <a:p>
            <a:pPr marL="0" indent="0" algn="l">
              <a:lnSpc>
                <a:spcPts val="3100"/>
              </a:lnSpc>
              <a:buNone/>
            </a:pPr>
            <a:r>
              <a:rPr lang="en-US" sz="2200" b="1" dirty="0">
                <a:solidFill>
                  <a:srgbClr val="DCD7E5"/>
                </a:solidFill>
                <a:latin typeface="Heebo Bold" pitchFamily="34" charset="0"/>
                <a:ea typeface="Heebo Bold" pitchFamily="34" charset="-122"/>
                <a:cs typeface="Heebo Bold" pitchFamily="34" charset="-120"/>
              </a:rPr>
              <a:t>by Neeraj Vohra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27445" y="921187"/>
            <a:ext cx="7661910" cy="1323261"/>
          </a:xfrm>
          <a:prstGeom prst="rect">
            <a:avLst/>
          </a:prstGeom>
          <a:noFill/>
          <a:ln/>
        </p:spPr>
        <p:txBody>
          <a:bodyPr wrap="square" lIns="0" tIns="0" rIns="0" bIns="0" rtlCol="0" anchor="t"/>
          <a:lstStyle/>
          <a:p>
            <a:pPr marL="0" indent="0" algn="l">
              <a:lnSpc>
                <a:spcPts val="5200"/>
              </a:lnSpc>
              <a:buNone/>
            </a:pPr>
            <a:r>
              <a:rPr lang="en-US" sz="4150" b="1" dirty="0">
                <a:solidFill>
                  <a:srgbClr val="EEAEF6"/>
                </a:solidFill>
                <a:latin typeface="Bricolage Grotesque Extra Bold" pitchFamily="34" charset="0"/>
                <a:ea typeface="Bricolage Grotesque Extra Bold" pitchFamily="34" charset="-122"/>
                <a:cs typeface="Bricolage Grotesque Extra Bold" pitchFamily="34" charset="-120"/>
              </a:rPr>
              <a:t>Generative AI: Creating New Content</a:t>
            </a:r>
            <a:endParaRPr lang="en-US" sz="4150" dirty="0"/>
          </a:p>
        </p:txBody>
      </p:sp>
      <p:sp>
        <p:nvSpPr>
          <p:cNvPr id="4" name="Shape 1"/>
          <p:cNvSpPr/>
          <p:nvPr/>
        </p:nvSpPr>
        <p:spPr>
          <a:xfrm>
            <a:off x="6227445" y="2561987"/>
            <a:ext cx="476369" cy="476369"/>
          </a:xfrm>
          <a:prstGeom prst="roundRect">
            <a:avLst>
              <a:gd name="adj" fmla="val 18668"/>
            </a:avLst>
          </a:prstGeom>
          <a:solidFill>
            <a:srgbClr val="282D5E"/>
          </a:solidFill>
          <a:ln/>
        </p:spPr>
        <p:txBody>
          <a:bodyPr/>
          <a:lstStyle/>
          <a:p>
            <a:endParaRPr lang="en-IN"/>
          </a:p>
        </p:txBody>
      </p:sp>
      <p:pic>
        <p:nvPicPr>
          <p:cNvPr id="5" name="Image 1" descr="preencoded.png"/>
          <p:cNvPicPr>
            <a:picLocks noChangeAspect="1"/>
          </p:cNvPicPr>
          <p:nvPr/>
        </p:nvPicPr>
        <p:blipFill>
          <a:blip r:embed="rId4"/>
          <a:stretch>
            <a:fillRect/>
          </a:stretch>
        </p:blipFill>
        <p:spPr>
          <a:xfrm>
            <a:off x="6306800" y="2601635"/>
            <a:ext cx="317540" cy="396954"/>
          </a:xfrm>
          <a:prstGeom prst="rect">
            <a:avLst/>
          </a:prstGeom>
        </p:spPr>
      </p:pic>
      <p:sp>
        <p:nvSpPr>
          <p:cNvPr id="6" name="Text 2"/>
          <p:cNvSpPr/>
          <p:nvPr/>
        </p:nvSpPr>
        <p:spPr>
          <a:xfrm>
            <a:off x="6915507" y="2634734"/>
            <a:ext cx="2646640" cy="330756"/>
          </a:xfrm>
          <a:prstGeom prst="rect">
            <a:avLst/>
          </a:prstGeom>
          <a:noFill/>
          <a:ln/>
        </p:spPr>
        <p:txBody>
          <a:bodyPr wrap="none" lIns="0" tIns="0" rIns="0" bIns="0" rtlCol="0" anchor="t"/>
          <a:lstStyle/>
          <a:p>
            <a:pPr marL="0" indent="0" algn="l">
              <a:lnSpc>
                <a:spcPts val="2600"/>
              </a:lnSpc>
              <a:buNone/>
            </a:pPr>
            <a:r>
              <a:rPr lang="en-US" sz="2050" b="1" dirty="0">
                <a:solidFill>
                  <a:srgbClr val="E5DCE6"/>
                </a:solidFill>
                <a:latin typeface="Bricolage Grotesque Extra Bold" pitchFamily="34" charset="0"/>
                <a:ea typeface="Bricolage Grotesque Extra Bold" pitchFamily="34" charset="-122"/>
                <a:cs typeface="Bricolage Grotesque Extra Bold" pitchFamily="34" charset="-120"/>
              </a:rPr>
              <a:t>Definition</a:t>
            </a:r>
            <a:endParaRPr lang="en-US" sz="2050" dirty="0"/>
          </a:p>
        </p:txBody>
      </p:sp>
      <p:sp>
        <p:nvSpPr>
          <p:cNvPr id="7" name="Text 3"/>
          <p:cNvSpPr/>
          <p:nvPr/>
        </p:nvSpPr>
        <p:spPr>
          <a:xfrm>
            <a:off x="6915507" y="3092410"/>
            <a:ext cx="6973848" cy="338614"/>
          </a:xfrm>
          <a:prstGeom prst="rect">
            <a:avLst/>
          </a:prstGeom>
          <a:noFill/>
          <a:ln/>
        </p:spPr>
        <p:txBody>
          <a:bodyPr wrap="none" lIns="0" tIns="0" rIns="0" bIns="0" rtlCol="0" anchor="t"/>
          <a:lstStyle/>
          <a:p>
            <a:pPr marL="0" indent="0" algn="l">
              <a:lnSpc>
                <a:spcPts val="2650"/>
              </a:lnSpc>
              <a:buNone/>
            </a:pPr>
            <a:r>
              <a:rPr lang="en-US" sz="1650" dirty="0">
                <a:solidFill>
                  <a:srgbClr val="E5DCE6"/>
                </a:solidFill>
                <a:latin typeface="Montserrat" pitchFamily="34" charset="0"/>
                <a:ea typeface="Montserrat" pitchFamily="34" charset="-122"/>
                <a:cs typeface="Montserrat" pitchFamily="34" charset="-120"/>
              </a:rPr>
              <a:t>Algorithms that generate new, original content.</a:t>
            </a:r>
            <a:endParaRPr lang="en-US" sz="1650" dirty="0"/>
          </a:p>
        </p:txBody>
      </p:sp>
      <p:sp>
        <p:nvSpPr>
          <p:cNvPr id="8" name="Shape 4"/>
          <p:cNvSpPr/>
          <p:nvPr/>
        </p:nvSpPr>
        <p:spPr>
          <a:xfrm>
            <a:off x="6227445" y="3854410"/>
            <a:ext cx="476369" cy="476369"/>
          </a:xfrm>
          <a:prstGeom prst="roundRect">
            <a:avLst>
              <a:gd name="adj" fmla="val 18668"/>
            </a:avLst>
          </a:prstGeom>
          <a:solidFill>
            <a:srgbClr val="282D5E"/>
          </a:solidFill>
          <a:ln/>
        </p:spPr>
        <p:txBody>
          <a:bodyPr/>
          <a:lstStyle/>
          <a:p>
            <a:endParaRPr lang="en-IN"/>
          </a:p>
        </p:txBody>
      </p:sp>
      <p:pic>
        <p:nvPicPr>
          <p:cNvPr id="9" name="Image 2" descr="preencoded.png"/>
          <p:cNvPicPr>
            <a:picLocks noChangeAspect="1"/>
          </p:cNvPicPr>
          <p:nvPr/>
        </p:nvPicPr>
        <p:blipFill>
          <a:blip r:embed="rId5"/>
          <a:stretch>
            <a:fillRect/>
          </a:stretch>
        </p:blipFill>
        <p:spPr>
          <a:xfrm>
            <a:off x="6306800" y="3894058"/>
            <a:ext cx="317540" cy="396954"/>
          </a:xfrm>
          <a:prstGeom prst="rect">
            <a:avLst/>
          </a:prstGeom>
        </p:spPr>
      </p:pic>
      <p:sp>
        <p:nvSpPr>
          <p:cNvPr id="10" name="Text 5"/>
          <p:cNvSpPr/>
          <p:nvPr/>
        </p:nvSpPr>
        <p:spPr>
          <a:xfrm>
            <a:off x="6915507" y="3927157"/>
            <a:ext cx="2646640" cy="330756"/>
          </a:xfrm>
          <a:prstGeom prst="rect">
            <a:avLst/>
          </a:prstGeom>
          <a:noFill/>
          <a:ln/>
        </p:spPr>
        <p:txBody>
          <a:bodyPr wrap="none" lIns="0" tIns="0" rIns="0" bIns="0" rtlCol="0" anchor="t"/>
          <a:lstStyle/>
          <a:p>
            <a:pPr marL="0" indent="0" algn="l">
              <a:lnSpc>
                <a:spcPts val="2600"/>
              </a:lnSpc>
              <a:buNone/>
            </a:pPr>
            <a:r>
              <a:rPr lang="en-US" sz="2050" b="1" dirty="0">
                <a:solidFill>
                  <a:srgbClr val="E5DCE6"/>
                </a:solidFill>
                <a:latin typeface="Bricolage Grotesque Extra Bold" pitchFamily="34" charset="0"/>
                <a:ea typeface="Bricolage Grotesque Extra Bold" pitchFamily="34" charset="-122"/>
                <a:cs typeface="Bricolage Grotesque Extra Bold" pitchFamily="34" charset="-120"/>
              </a:rPr>
              <a:t>Examples</a:t>
            </a:r>
            <a:endParaRPr lang="en-US" sz="2050" dirty="0"/>
          </a:p>
        </p:txBody>
      </p:sp>
      <p:sp>
        <p:nvSpPr>
          <p:cNvPr id="11" name="Text 6"/>
          <p:cNvSpPr/>
          <p:nvPr/>
        </p:nvSpPr>
        <p:spPr>
          <a:xfrm>
            <a:off x="6915507" y="4384834"/>
            <a:ext cx="6973848" cy="338614"/>
          </a:xfrm>
          <a:prstGeom prst="rect">
            <a:avLst/>
          </a:prstGeom>
          <a:noFill/>
          <a:ln/>
        </p:spPr>
        <p:txBody>
          <a:bodyPr wrap="none" lIns="0" tIns="0" rIns="0" bIns="0" rtlCol="0" anchor="t"/>
          <a:lstStyle/>
          <a:p>
            <a:pPr marL="0" indent="0" algn="l">
              <a:lnSpc>
                <a:spcPts val="2650"/>
              </a:lnSpc>
              <a:buNone/>
            </a:pPr>
            <a:r>
              <a:rPr lang="en-US" sz="1650" dirty="0">
                <a:solidFill>
                  <a:srgbClr val="E5DCE6"/>
                </a:solidFill>
                <a:latin typeface="Montserrat" pitchFamily="34" charset="0"/>
                <a:ea typeface="Montserrat" pitchFamily="34" charset="-122"/>
                <a:cs typeface="Montserrat" pitchFamily="34" charset="-120"/>
              </a:rPr>
              <a:t>Images (DALL-E 2), text (GPT-3), music (Jukebox).</a:t>
            </a:r>
            <a:endParaRPr lang="en-US" sz="1650" dirty="0"/>
          </a:p>
        </p:txBody>
      </p:sp>
      <p:sp>
        <p:nvSpPr>
          <p:cNvPr id="12" name="Shape 7"/>
          <p:cNvSpPr/>
          <p:nvPr/>
        </p:nvSpPr>
        <p:spPr>
          <a:xfrm>
            <a:off x="6227445" y="5146834"/>
            <a:ext cx="476369" cy="476369"/>
          </a:xfrm>
          <a:prstGeom prst="roundRect">
            <a:avLst>
              <a:gd name="adj" fmla="val 18668"/>
            </a:avLst>
          </a:prstGeom>
          <a:solidFill>
            <a:srgbClr val="282D5E"/>
          </a:solidFill>
          <a:ln/>
        </p:spPr>
        <p:txBody>
          <a:bodyPr/>
          <a:lstStyle/>
          <a:p>
            <a:endParaRPr lang="en-IN"/>
          </a:p>
        </p:txBody>
      </p:sp>
      <p:pic>
        <p:nvPicPr>
          <p:cNvPr id="13" name="Image 3" descr="preencoded.png"/>
          <p:cNvPicPr>
            <a:picLocks noChangeAspect="1"/>
          </p:cNvPicPr>
          <p:nvPr/>
        </p:nvPicPr>
        <p:blipFill>
          <a:blip r:embed="rId6"/>
          <a:stretch>
            <a:fillRect/>
          </a:stretch>
        </p:blipFill>
        <p:spPr>
          <a:xfrm>
            <a:off x="6306800" y="5186482"/>
            <a:ext cx="317540" cy="396954"/>
          </a:xfrm>
          <a:prstGeom prst="rect">
            <a:avLst/>
          </a:prstGeom>
        </p:spPr>
      </p:pic>
      <p:sp>
        <p:nvSpPr>
          <p:cNvPr id="14" name="Text 8"/>
          <p:cNvSpPr/>
          <p:nvPr/>
        </p:nvSpPr>
        <p:spPr>
          <a:xfrm>
            <a:off x="6915507" y="5219581"/>
            <a:ext cx="2646640" cy="330756"/>
          </a:xfrm>
          <a:prstGeom prst="rect">
            <a:avLst/>
          </a:prstGeom>
          <a:noFill/>
          <a:ln/>
        </p:spPr>
        <p:txBody>
          <a:bodyPr wrap="none" lIns="0" tIns="0" rIns="0" bIns="0" rtlCol="0" anchor="t"/>
          <a:lstStyle/>
          <a:p>
            <a:pPr marL="0" indent="0" algn="l">
              <a:lnSpc>
                <a:spcPts val="2600"/>
              </a:lnSpc>
              <a:buNone/>
            </a:pPr>
            <a:r>
              <a:rPr lang="en-US" sz="2050" b="1" dirty="0">
                <a:solidFill>
                  <a:srgbClr val="E5DCE6"/>
                </a:solidFill>
                <a:latin typeface="Bricolage Grotesque Extra Bold" pitchFamily="34" charset="0"/>
                <a:ea typeface="Bricolage Grotesque Extra Bold" pitchFamily="34" charset="-122"/>
                <a:cs typeface="Bricolage Grotesque Extra Bold" pitchFamily="34" charset="-120"/>
              </a:rPr>
              <a:t>Core Function</a:t>
            </a:r>
            <a:endParaRPr lang="en-US" sz="2050" dirty="0"/>
          </a:p>
        </p:txBody>
      </p:sp>
      <p:sp>
        <p:nvSpPr>
          <p:cNvPr id="15" name="Text 9"/>
          <p:cNvSpPr/>
          <p:nvPr/>
        </p:nvSpPr>
        <p:spPr>
          <a:xfrm>
            <a:off x="6915507" y="5677257"/>
            <a:ext cx="6973848" cy="338614"/>
          </a:xfrm>
          <a:prstGeom prst="rect">
            <a:avLst/>
          </a:prstGeom>
          <a:noFill/>
          <a:ln/>
        </p:spPr>
        <p:txBody>
          <a:bodyPr wrap="none" lIns="0" tIns="0" rIns="0" bIns="0" rtlCol="0" anchor="t"/>
          <a:lstStyle/>
          <a:p>
            <a:pPr marL="0" indent="0" algn="l">
              <a:lnSpc>
                <a:spcPts val="2650"/>
              </a:lnSpc>
              <a:buNone/>
            </a:pPr>
            <a:r>
              <a:rPr lang="en-US" sz="1650" dirty="0">
                <a:solidFill>
                  <a:srgbClr val="E5DCE6"/>
                </a:solidFill>
                <a:latin typeface="Montserrat" pitchFamily="34" charset="0"/>
                <a:ea typeface="Montserrat" pitchFamily="34" charset="-122"/>
                <a:cs typeface="Montserrat" pitchFamily="34" charset="-120"/>
              </a:rPr>
              <a:t>Learning patterns from existing data to produce novel outputs.</a:t>
            </a:r>
            <a:endParaRPr lang="en-US" sz="1650" dirty="0"/>
          </a:p>
        </p:txBody>
      </p:sp>
      <p:sp>
        <p:nvSpPr>
          <p:cNvPr id="16" name="Shape 10"/>
          <p:cNvSpPr/>
          <p:nvPr/>
        </p:nvSpPr>
        <p:spPr>
          <a:xfrm>
            <a:off x="6227445" y="6439257"/>
            <a:ext cx="476369" cy="476369"/>
          </a:xfrm>
          <a:prstGeom prst="roundRect">
            <a:avLst>
              <a:gd name="adj" fmla="val 18668"/>
            </a:avLst>
          </a:prstGeom>
          <a:solidFill>
            <a:srgbClr val="282D5E"/>
          </a:solidFill>
          <a:ln/>
        </p:spPr>
        <p:txBody>
          <a:bodyPr/>
          <a:lstStyle/>
          <a:p>
            <a:endParaRPr lang="en-IN"/>
          </a:p>
        </p:txBody>
      </p:sp>
      <p:pic>
        <p:nvPicPr>
          <p:cNvPr id="17" name="Image 4" descr="preencoded.png"/>
          <p:cNvPicPr>
            <a:picLocks noChangeAspect="1"/>
          </p:cNvPicPr>
          <p:nvPr/>
        </p:nvPicPr>
        <p:blipFill>
          <a:blip r:embed="rId7"/>
          <a:stretch>
            <a:fillRect/>
          </a:stretch>
        </p:blipFill>
        <p:spPr>
          <a:xfrm>
            <a:off x="6306800" y="6478905"/>
            <a:ext cx="317540" cy="396954"/>
          </a:xfrm>
          <a:prstGeom prst="rect">
            <a:avLst/>
          </a:prstGeom>
        </p:spPr>
      </p:pic>
      <p:sp>
        <p:nvSpPr>
          <p:cNvPr id="18" name="Text 11"/>
          <p:cNvSpPr/>
          <p:nvPr/>
        </p:nvSpPr>
        <p:spPr>
          <a:xfrm>
            <a:off x="6915507" y="6512004"/>
            <a:ext cx="2646640" cy="330756"/>
          </a:xfrm>
          <a:prstGeom prst="rect">
            <a:avLst/>
          </a:prstGeom>
          <a:noFill/>
          <a:ln/>
        </p:spPr>
        <p:txBody>
          <a:bodyPr wrap="none" lIns="0" tIns="0" rIns="0" bIns="0" rtlCol="0" anchor="t"/>
          <a:lstStyle/>
          <a:p>
            <a:pPr marL="0" indent="0" algn="l">
              <a:lnSpc>
                <a:spcPts val="2600"/>
              </a:lnSpc>
              <a:buNone/>
            </a:pPr>
            <a:r>
              <a:rPr lang="en-US" sz="2050" b="1" dirty="0">
                <a:solidFill>
                  <a:srgbClr val="E5DCE6"/>
                </a:solidFill>
                <a:latin typeface="Bricolage Grotesque Extra Bold" pitchFamily="34" charset="0"/>
                <a:ea typeface="Bricolage Grotesque Extra Bold" pitchFamily="34" charset="-122"/>
                <a:cs typeface="Bricolage Grotesque Extra Bold" pitchFamily="34" charset="-120"/>
              </a:rPr>
              <a:t>Impact</a:t>
            </a:r>
            <a:endParaRPr lang="en-US" sz="2050" dirty="0"/>
          </a:p>
        </p:txBody>
      </p:sp>
      <p:sp>
        <p:nvSpPr>
          <p:cNvPr id="19" name="Text 12"/>
          <p:cNvSpPr/>
          <p:nvPr/>
        </p:nvSpPr>
        <p:spPr>
          <a:xfrm>
            <a:off x="6915507" y="6969681"/>
            <a:ext cx="6973848" cy="338614"/>
          </a:xfrm>
          <a:prstGeom prst="rect">
            <a:avLst/>
          </a:prstGeom>
          <a:noFill/>
          <a:ln/>
        </p:spPr>
        <p:txBody>
          <a:bodyPr wrap="none" lIns="0" tIns="0" rIns="0" bIns="0" rtlCol="0" anchor="t"/>
          <a:lstStyle/>
          <a:p>
            <a:pPr marL="0" indent="0" algn="l">
              <a:lnSpc>
                <a:spcPts val="2650"/>
              </a:lnSpc>
              <a:buNone/>
            </a:pPr>
            <a:r>
              <a:rPr lang="en-US" sz="1650" dirty="0">
                <a:solidFill>
                  <a:srgbClr val="E5DCE6"/>
                </a:solidFill>
                <a:latin typeface="Montserrat" pitchFamily="34" charset="0"/>
                <a:ea typeface="Montserrat" pitchFamily="34" charset="-122"/>
                <a:cs typeface="Montserrat" pitchFamily="34" charset="-120"/>
              </a:rPr>
              <a:t>Revolutionizing creative industries, content creation, and design.</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96635" y="954762"/>
            <a:ext cx="7750731" cy="1244203"/>
          </a:xfrm>
          <a:prstGeom prst="rect">
            <a:avLst/>
          </a:prstGeom>
          <a:noFill/>
          <a:ln/>
        </p:spPr>
        <p:txBody>
          <a:bodyPr wrap="squar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Large Language Models (LLMs): Powering Generative Text</a:t>
            </a:r>
            <a:endParaRPr lang="en-US" sz="3900" dirty="0"/>
          </a:p>
        </p:txBody>
      </p:sp>
      <p:pic>
        <p:nvPicPr>
          <p:cNvPr id="4" name="Image 1" descr="preencoded.png"/>
          <p:cNvPicPr>
            <a:picLocks noChangeAspect="1"/>
          </p:cNvPicPr>
          <p:nvPr/>
        </p:nvPicPr>
        <p:blipFill>
          <a:blip r:embed="rId4"/>
          <a:stretch>
            <a:fillRect/>
          </a:stretch>
        </p:blipFill>
        <p:spPr>
          <a:xfrm>
            <a:off x="696635" y="2497455"/>
            <a:ext cx="995243" cy="1194316"/>
          </a:xfrm>
          <a:prstGeom prst="rect">
            <a:avLst/>
          </a:prstGeom>
        </p:spPr>
      </p:pic>
      <p:sp>
        <p:nvSpPr>
          <p:cNvPr id="5" name="Text 1"/>
          <p:cNvSpPr/>
          <p:nvPr/>
        </p:nvSpPr>
        <p:spPr>
          <a:xfrm>
            <a:off x="1990368" y="2696408"/>
            <a:ext cx="2488049" cy="310991"/>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Definition</a:t>
            </a:r>
            <a:endParaRPr lang="en-US" sz="1950" dirty="0"/>
          </a:p>
        </p:txBody>
      </p:sp>
      <p:sp>
        <p:nvSpPr>
          <p:cNvPr id="6" name="Text 2"/>
          <p:cNvSpPr/>
          <p:nvPr/>
        </p:nvSpPr>
        <p:spPr>
          <a:xfrm>
            <a:off x="1990368" y="3126819"/>
            <a:ext cx="6456998" cy="318492"/>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Deep learning models trained on massive text datasets.</a:t>
            </a:r>
            <a:endParaRPr lang="en-US" sz="1550" dirty="0"/>
          </a:p>
        </p:txBody>
      </p:sp>
      <p:pic>
        <p:nvPicPr>
          <p:cNvPr id="7" name="Image 2" descr="preencoded.png"/>
          <p:cNvPicPr>
            <a:picLocks noChangeAspect="1"/>
          </p:cNvPicPr>
          <p:nvPr/>
        </p:nvPicPr>
        <p:blipFill>
          <a:blip r:embed="rId5"/>
          <a:stretch>
            <a:fillRect/>
          </a:stretch>
        </p:blipFill>
        <p:spPr>
          <a:xfrm>
            <a:off x="696635" y="3691771"/>
            <a:ext cx="995243" cy="1194316"/>
          </a:xfrm>
          <a:prstGeom prst="rect">
            <a:avLst/>
          </a:prstGeom>
        </p:spPr>
      </p:pic>
      <p:sp>
        <p:nvSpPr>
          <p:cNvPr id="8" name="Text 3"/>
          <p:cNvSpPr/>
          <p:nvPr/>
        </p:nvSpPr>
        <p:spPr>
          <a:xfrm>
            <a:off x="1990368" y="3890724"/>
            <a:ext cx="2488049" cy="310991"/>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Examples</a:t>
            </a:r>
            <a:endParaRPr lang="en-US" sz="1950" dirty="0"/>
          </a:p>
        </p:txBody>
      </p:sp>
      <p:sp>
        <p:nvSpPr>
          <p:cNvPr id="9" name="Text 4"/>
          <p:cNvSpPr/>
          <p:nvPr/>
        </p:nvSpPr>
        <p:spPr>
          <a:xfrm>
            <a:off x="1990368" y="4321135"/>
            <a:ext cx="6456998" cy="318492"/>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GPT-4 (OpenAI), LaMDA (Google), Llama 2 (Meta).</a:t>
            </a:r>
            <a:endParaRPr lang="en-US" sz="1550" dirty="0"/>
          </a:p>
        </p:txBody>
      </p:sp>
      <p:pic>
        <p:nvPicPr>
          <p:cNvPr id="10" name="Image 3" descr="preencoded.png"/>
          <p:cNvPicPr>
            <a:picLocks noChangeAspect="1"/>
          </p:cNvPicPr>
          <p:nvPr/>
        </p:nvPicPr>
        <p:blipFill>
          <a:blip r:embed="rId6"/>
          <a:stretch>
            <a:fillRect/>
          </a:stretch>
        </p:blipFill>
        <p:spPr>
          <a:xfrm>
            <a:off x="696635" y="4886087"/>
            <a:ext cx="995243" cy="1194316"/>
          </a:xfrm>
          <a:prstGeom prst="rect">
            <a:avLst/>
          </a:prstGeom>
        </p:spPr>
      </p:pic>
      <p:sp>
        <p:nvSpPr>
          <p:cNvPr id="11" name="Text 5"/>
          <p:cNvSpPr/>
          <p:nvPr/>
        </p:nvSpPr>
        <p:spPr>
          <a:xfrm>
            <a:off x="1990368" y="5085040"/>
            <a:ext cx="2488049" cy="310991"/>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Key Capabilities</a:t>
            </a:r>
            <a:endParaRPr lang="en-US" sz="1950" dirty="0"/>
          </a:p>
        </p:txBody>
      </p:sp>
      <p:sp>
        <p:nvSpPr>
          <p:cNvPr id="12" name="Text 6"/>
          <p:cNvSpPr/>
          <p:nvPr/>
        </p:nvSpPr>
        <p:spPr>
          <a:xfrm>
            <a:off x="1990368" y="5515451"/>
            <a:ext cx="6456998" cy="318492"/>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Natural language understanding, generation, and translation.</a:t>
            </a:r>
            <a:endParaRPr lang="en-US" sz="1550" dirty="0"/>
          </a:p>
        </p:txBody>
      </p:sp>
      <p:pic>
        <p:nvPicPr>
          <p:cNvPr id="13" name="Image 4" descr="preencoded.png"/>
          <p:cNvPicPr>
            <a:picLocks noChangeAspect="1"/>
          </p:cNvPicPr>
          <p:nvPr/>
        </p:nvPicPr>
        <p:blipFill>
          <a:blip r:embed="rId7"/>
          <a:stretch>
            <a:fillRect/>
          </a:stretch>
        </p:blipFill>
        <p:spPr>
          <a:xfrm>
            <a:off x="696635" y="6080403"/>
            <a:ext cx="995243" cy="1194316"/>
          </a:xfrm>
          <a:prstGeom prst="rect">
            <a:avLst/>
          </a:prstGeom>
        </p:spPr>
      </p:pic>
      <p:sp>
        <p:nvSpPr>
          <p:cNvPr id="14" name="Text 7"/>
          <p:cNvSpPr/>
          <p:nvPr/>
        </p:nvSpPr>
        <p:spPr>
          <a:xfrm>
            <a:off x="1990368" y="6279356"/>
            <a:ext cx="2488049" cy="310991"/>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Significance</a:t>
            </a:r>
            <a:endParaRPr lang="en-US" sz="1950" dirty="0"/>
          </a:p>
        </p:txBody>
      </p:sp>
      <p:sp>
        <p:nvSpPr>
          <p:cNvPr id="15" name="Text 8"/>
          <p:cNvSpPr/>
          <p:nvPr/>
        </p:nvSpPr>
        <p:spPr>
          <a:xfrm>
            <a:off x="1990368" y="6709767"/>
            <a:ext cx="6456998" cy="318492"/>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Backbone of many generative AI applications that involve text.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08102"/>
            <a:ext cx="10779919" cy="708779"/>
          </a:xfrm>
          <a:prstGeom prst="rect">
            <a:avLst/>
          </a:prstGeom>
          <a:noFill/>
          <a:ln/>
        </p:spPr>
        <p:txBody>
          <a:bodyPr wrap="none" lIns="0" tIns="0" rIns="0" bIns="0" rtlCol="0" anchor="t"/>
          <a:lstStyle/>
          <a:p>
            <a:pPr marL="0" indent="0" algn="l">
              <a:lnSpc>
                <a:spcPts val="5550"/>
              </a:lnSpc>
              <a:buNone/>
            </a:pPr>
            <a:r>
              <a:rPr lang="en-US" sz="4450" dirty="0">
                <a:solidFill>
                  <a:srgbClr val="F2F0F4"/>
                </a:solidFill>
                <a:latin typeface="Montserrat" pitchFamily="34" charset="0"/>
                <a:ea typeface="Montserrat" pitchFamily="34" charset="-122"/>
                <a:cs typeface="Montserrat" pitchFamily="34" charset="-120"/>
              </a:rPr>
              <a:t>Generative AI: The Creators of Content</a:t>
            </a:r>
            <a:endParaRPr lang="en-US" sz="4450" dirty="0"/>
          </a:p>
        </p:txBody>
      </p:sp>
      <p:pic>
        <p:nvPicPr>
          <p:cNvPr id="3" name="Image 0" descr="preencoded.png"/>
          <p:cNvPicPr>
            <a:picLocks noChangeAspect="1"/>
          </p:cNvPicPr>
          <p:nvPr/>
        </p:nvPicPr>
        <p:blipFill>
          <a:blip r:embed="rId3"/>
          <a:stretch>
            <a:fillRect/>
          </a:stretch>
        </p:blipFill>
        <p:spPr>
          <a:xfrm>
            <a:off x="793790" y="2170509"/>
            <a:ext cx="4158615" cy="2570202"/>
          </a:xfrm>
          <a:prstGeom prst="rect">
            <a:avLst/>
          </a:prstGeom>
        </p:spPr>
      </p:pic>
      <p:sp>
        <p:nvSpPr>
          <p:cNvPr id="4" name="Text 1"/>
          <p:cNvSpPr/>
          <p:nvPr/>
        </p:nvSpPr>
        <p:spPr>
          <a:xfrm>
            <a:off x="793790" y="50241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Image Generation</a:t>
            </a:r>
            <a:endParaRPr lang="en-US" sz="2200" dirty="0"/>
          </a:p>
        </p:txBody>
      </p:sp>
      <p:sp>
        <p:nvSpPr>
          <p:cNvPr id="5" name="Text 2"/>
          <p:cNvSpPr/>
          <p:nvPr/>
        </p:nvSpPr>
        <p:spPr>
          <a:xfrm>
            <a:off x="793790" y="5514618"/>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Tools like Stable Diffusion craft stunning visuals from text prompts.</a:t>
            </a:r>
            <a:endParaRPr lang="en-US" sz="1750" dirty="0"/>
          </a:p>
        </p:txBody>
      </p:sp>
      <p:pic>
        <p:nvPicPr>
          <p:cNvPr id="6" name="Image 1" descr="preencoded.png"/>
          <p:cNvPicPr>
            <a:picLocks noChangeAspect="1"/>
          </p:cNvPicPr>
          <p:nvPr/>
        </p:nvPicPr>
        <p:blipFill>
          <a:blip r:embed="rId4"/>
          <a:stretch>
            <a:fillRect/>
          </a:stretch>
        </p:blipFill>
        <p:spPr>
          <a:xfrm>
            <a:off x="5235893" y="2170509"/>
            <a:ext cx="4158615" cy="2570202"/>
          </a:xfrm>
          <a:prstGeom prst="rect">
            <a:avLst/>
          </a:prstGeom>
        </p:spPr>
      </p:pic>
      <p:sp>
        <p:nvSpPr>
          <p:cNvPr id="7" name="Text 3"/>
          <p:cNvSpPr/>
          <p:nvPr/>
        </p:nvSpPr>
        <p:spPr>
          <a:xfrm>
            <a:off x="5235893" y="50241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Code Generation</a:t>
            </a:r>
            <a:endParaRPr lang="en-US" sz="2200" dirty="0"/>
          </a:p>
        </p:txBody>
      </p:sp>
      <p:sp>
        <p:nvSpPr>
          <p:cNvPr id="8" name="Text 4"/>
          <p:cNvSpPr/>
          <p:nvPr/>
        </p:nvSpPr>
        <p:spPr>
          <a:xfrm>
            <a:off x="5235893" y="5514618"/>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AI can write programming code, accelerating software development.</a:t>
            </a:r>
            <a:endParaRPr lang="en-US" sz="1750" dirty="0"/>
          </a:p>
        </p:txBody>
      </p:sp>
      <p:pic>
        <p:nvPicPr>
          <p:cNvPr id="9" name="Image 2" descr="preencoded.png"/>
          <p:cNvPicPr>
            <a:picLocks noChangeAspect="1"/>
          </p:cNvPicPr>
          <p:nvPr/>
        </p:nvPicPr>
        <p:blipFill>
          <a:blip r:embed="rId5"/>
          <a:stretch>
            <a:fillRect/>
          </a:stretch>
        </p:blipFill>
        <p:spPr>
          <a:xfrm>
            <a:off x="9677995" y="2170509"/>
            <a:ext cx="4158615" cy="2570202"/>
          </a:xfrm>
          <a:prstGeom prst="rect">
            <a:avLst/>
          </a:prstGeom>
        </p:spPr>
      </p:pic>
      <p:sp>
        <p:nvSpPr>
          <p:cNvPr id="10" name="Text 5"/>
          <p:cNvSpPr/>
          <p:nvPr/>
        </p:nvSpPr>
        <p:spPr>
          <a:xfrm>
            <a:off x="9677995" y="50241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Text Generation</a:t>
            </a:r>
            <a:endParaRPr lang="en-US" sz="2200" dirty="0"/>
          </a:p>
        </p:txBody>
      </p:sp>
      <p:sp>
        <p:nvSpPr>
          <p:cNvPr id="11" name="Text 6"/>
          <p:cNvSpPr/>
          <p:nvPr/>
        </p:nvSpPr>
        <p:spPr>
          <a:xfrm>
            <a:off x="9677995" y="5514618"/>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LLMs produce human-like text for various applications.</a:t>
            </a:r>
            <a:endParaRPr lang="en-US" sz="1750" dirty="0"/>
          </a:p>
        </p:txBody>
      </p:sp>
      <p:sp>
        <p:nvSpPr>
          <p:cNvPr id="12" name="Text 7"/>
          <p:cNvSpPr/>
          <p:nvPr/>
        </p:nvSpPr>
        <p:spPr>
          <a:xfrm>
            <a:off x="793790" y="649557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Generative AI focuses on creating novel content. It learns patterns from vast datasets to produce new text, images, or code. These systems are highly adept at creation but do not typically make independent decisions or take actions.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00" y="0"/>
            <a:ext cx="3657600" cy="8229600"/>
          </a:xfrm>
          <a:prstGeom prst="rect">
            <a:avLst/>
          </a:prstGeom>
        </p:spPr>
      </p:pic>
      <p:sp>
        <p:nvSpPr>
          <p:cNvPr id="3" name="Text 0"/>
          <p:cNvSpPr/>
          <p:nvPr/>
        </p:nvSpPr>
        <p:spPr>
          <a:xfrm>
            <a:off x="793790" y="1224558"/>
            <a:ext cx="9385221" cy="1417558"/>
          </a:xfrm>
          <a:prstGeom prst="rect">
            <a:avLst/>
          </a:prstGeom>
          <a:noFill/>
          <a:ln/>
        </p:spPr>
        <p:txBody>
          <a:bodyPr wrap="square" lIns="0" tIns="0" rIns="0" bIns="0" rtlCol="0" anchor="t"/>
          <a:lstStyle/>
          <a:p>
            <a:pPr marL="0" indent="0" algn="l">
              <a:lnSpc>
                <a:spcPts val="5550"/>
              </a:lnSpc>
              <a:buNone/>
            </a:pPr>
            <a:r>
              <a:rPr lang="en-US" sz="4450" dirty="0">
                <a:solidFill>
                  <a:srgbClr val="F2F0F4"/>
                </a:solidFill>
                <a:latin typeface="Montserrat" pitchFamily="34" charset="0"/>
                <a:ea typeface="Montserrat" pitchFamily="34" charset="-122"/>
                <a:cs typeface="Montserrat" pitchFamily="34" charset="-120"/>
              </a:rPr>
              <a:t>Large Language Models (LLMs): Mastering Text</a:t>
            </a:r>
            <a:endParaRPr lang="en-US" sz="4450" dirty="0"/>
          </a:p>
        </p:txBody>
      </p:sp>
      <p:sp>
        <p:nvSpPr>
          <p:cNvPr id="4" name="Shape 1"/>
          <p:cNvSpPr/>
          <p:nvPr/>
        </p:nvSpPr>
        <p:spPr>
          <a:xfrm>
            <a:off x="793790" y="2982277"/>
            <a:ext cx="510302" cy="510302"/>
          </a:xfrm>
          <a:prstGeom prst="roundRect">
            <a:avLst>
              <a:gd name="adj" fmla="val 18669"/>
            </a:avLst>
          </a:prstGeom>
          <a:solidFill>
            <a:srgbClr val="31136C"/>
          </a:solidFill>
          <a:ln w="7620">
            <a:solidFill>
              <a:srgbClr val="4A2C85"/>
            </a:solidFill>
            <a:prstDash val="solid"/>
          </a:ln>
        </p:spPr>
        <p:txBody>
          <a:bodyPr/>
          <a:lstStyle/>
          <a:p>
            <a:endParaRPr lang="en-IN"/>
          </a:p>
        </p:txBody>
      </p:sp>
      <p:pic>
        <p:nvPicPr>
          <p:cNvPr id="5" name="Image 1" descr="preencoded.png"/>
          <p:cNvPicPr>
            <a:picLocks noChangeAspect="1"/>
          </p:cNvPicPr>
          <p:nvPr/>
        </p:nvPicPr>
        <p:blipFill>
          <a:blip r:embed="rId4"/>
          <a:stretch>
            <a:fillRect/>
          </a:stretch>
        </p:blipFill>
        <p:spPr>
          <a:xfrm>
            <a:off x="878860" y="3024783"/>
            <a:ext cx="340162" cy="425291"/>
          </a:xfrm>
          <a:prstGeom prst="rect">
            <a:avLst/>
          </a:prstGeom>
        </p:spPr>
      </p:pic>
      <p:sp>
        <p:nvSpPr>
          <p:cNvPr id="6" name="Text 2"/>
          <p:cNvSpPr/>
          <p:nvPr/>
        </p:nvSpPr>
        <p:spPr>
          <a:xfrm>
            <a:off x="1530906" y="306014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Vast Training Data</a:t>
            </a:r>
            <a:endParaRPr lang="en-US" sz="2200" dirty="0"/>
          </a:p>
        </p:txBody>
      </p:sp>
      <p:sp>
        <p:nvSpPr>
          <p:cNvPr id="7" name="Text 3"/>
          <p:cNvSpPr/>
          <p:nvPr/>
        </p:nvSpPr>
        <p:spPr>
          <a:xfrm>
            <a:off x="1530906" y="3550563"/>
            <a:ext cx="3813810" cy="725805"/>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LLMs are trained on massive amounts of text.</a:t>
            </a:r>
            <a:endParaRPr lang="en-US" sz="1750" dirty="0"/>
          </a:p>
        </p:txBody>
      </p:sp>
      <p:sp>
        <p:nvSpPr>
          <p:cNvPr id="8" name="Shape 4"/>
          <p:cNvSpPr/>
          <p:nvPr/>
        </p:nvSpPr>
        <p:spPr>
          <a:xfrm>
            <a:off x="5628203" y="2982277"/>
            <a:ext cx="510302" cy="510302"/>
          </a:xfrm>
          <a:prstGeom prst="roundRect">
            <a:avLst>
              <a:gd name="adj" fmla="val 18669"/>
            </a:avLst>
          </a:prstGeom>
          <a:solidFill>
            <a:srgbClr val="31136C"/>
          </a:solidFill>
          <a:ln w="7620">
            <a:solidFill>
              <a:srgbClr val="4A2C85"/>
            </a:solidFill>
            <a:prstDash val="solid"/>
          </a:ln>
        </p:spPr>
        <p:txBody>
          <a:bodyPr/>
          <a:lstStyle/>
          <a:p>
            <a:endParaRPr lang="en-IN"/>
          </a:p>
        </p:txBody>
      </p:sp>
      <p:pic>
        <p:nvPicPr>
          <p:cNvPr id="9" name="Image 2" descr="preencoded.png"/>
          <p:cNvPicPr>
            <a:picLocks noChangeAspect="1"/>
          </p:cNvPicPr>
          <p:nvPr/>
        </p:nvPicPr>
        <p:blipFill>
          <a:blip r:embed="rId5"/>
          <a:stretch>
            <a:fillRect/>
          </a:stretch>
        </p:blipFill>
        <p:spPr>
          <a:xfrm>
            <a:off x="5713274" y="3024783"/>
            <a:ext cx="340162" cy="425291"/>
          </a:xfrm>
          <a:prstGeom prst="rect">
            <a:avLst/>
          </a:prstGeom>
        </p:spPr>
      </p:pic>
      <p:sp>
        <p:nvSpPr>
          <p:cNvPr id="10" name="Text 5"/>
          <p:cNvSpPr/>
          <p:nvPr/>
        </p:nvSpPr>
        <p:spPr>
          <a:xfrm>
            <a:off x="6365319" y="306014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Human-like Text</a:t>
            </a:r>
            <a:endParaRPr lang="en-US" sz="2200" dirty="0"/>
          </a:p>
        </p:txBody>
      </p:sp>
      <p:sp>
        <p:nvSpPr>
          <p:cNvPr id="11" name="Text 6"/>
          <p:cNvSpPr/>
          <p:nvPr/>
        </p:nvSpPr>
        <p:spPr>
          <a:xfrm>
            <a:off x="6365319" y="3550563"/>
            <a:ext cx="3813810" cy="725805"/>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They generate coherent and contextually relevant responses.</a:t>
            </a:r>
            <a:endParaRPr lang="en-US" sz="1750" dirty="0"/>
          </a:p>
        </p:txBody>
      </p:sp>
      <p:sp>
        <p:nvSpPr>
          <p:cNvPr id="12" name="Shape 7"/>
          <p:cNvSpPr/>
          <p:nvPr/>
        </p:nvSpPr>
        <p:spPr>
          <a:xfrm>
            <a:off x="793790" y="4729996"/>
            <a:ext cx="510302" cy="510302"/>
          </a:xfrm>
          <a:prstGeom prst="roundRect">
            <a:avLst>
              <a:gd name="adj" fmla="val 18669"/>
            </a:avLst>
          </a:prstGeom>
          <a:solidFill>
            <a:srgbClr val="31136C"/>
          </a:solidFill>
          <a:ln w="7620">
            <a:solidFill>
              <a:srgbClr val="4A2C85"/>
            </a:solidFill>
            <a:prstDash val="solid"/>
          </a:ln>
        </p:spPr>
        <p:txBody>
          <a:bodyPr/>
          <a:lstStyle/>
          <a:p>
            <a:endParaRPr lang="en-IN"/>
          </a:p>
        </p:txBody>
      </p:sp>
      <p:pic>
        <p:nvPicPr>
          <p:cNvPr id="13" name="Image 3" descr="preencoded.png"/>
          <p:cNvPicPr>
            <a:picLocks noChangeAspect="1"/>
          </p:cNvPicPr>
          <p:nvPr/>
        </p:nvPicPr>
        <p:blipFill>
          <a:blip r:embed="rId6"/>
          <a:stretch>
            <a:fillRect/>
          </a:stretch>
        </p:blipFill>
        <p:spPr>
          <a:xfrm>
            <a:off x="878860" y="4772501"/>
            <a:ext cx="340162" cy="425291"/>
          </a:xfrm>
          <a:prstGeom prst="rect">
            <a:avLst/>
          </a:prstGeom>
        </p:spPr>
      </p:pic>
      <p:sp>
        <p:nvSpPr>
          <p:cNvPr id="14" name="Text 8"/>
          <p:cNvSpPr/>
          <p:nvPr/>
        </p:nvSpPr>
        <p:spPr>
          <a:xfrm>
            <a:off x="1530906" y="4807863"/>
            <a:ext cx="479238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Natural Language Understanding</a:t>
            </a:r>
            <a:endParaRPr lang="en-US" sz="2200" dirty="0"/>
          </a:p>
        </p:txBody>
      </p:sp>
      <p:sp>
        <p:nvSpPr>
          <p:cNvPr id="15" name="Text 9"/>
          <p:cNvSpPr/>
          <p:nvPr/>
        </p:nvSpPr>
        <p:spPr>
          <a:xfrm>
            <a:off x="1530906" y="5298281"/>
            <a:ext cx="8648105"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LLMs excel at interpreting and responding to human queries.</a:t>
            </a:r>
            <a:endParaRPr lang="en-US" sz="1750" dirty="0"/>
          </a:p>
        </p:txBody>
      </p:sp>
      <p:sp>
        <p:nvSpPr>
          <p:cNvPr id="16" name="Text 10"/>
          <p:cNvSpPr/>
          <p:nvPr/>
        </p:nvSpPr>
        <p:spPr>
          <a:xfrm>
            <a:off x="793790" y="5916335"/>
            <a:ext cx="9385221" cy="1088708"/>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LLMs are a specialized type of Generative AI. Their primary function is generating and comprehending human language. Models like GPT-3 or BERT demonstrate remarkable capabilities in conversation and content creation.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00" y="0"/>
            <a:ext cx="3657600" cy="8229600"/>
          </a:xfrm>
          <a:prstGeom prst="rect">
            <a:avLst/>
          </a:prstGeom>
        </p:spPr>
      </p:pic>
      <p:sp>
        <p:nvSpPr>
          <p:cNvPr id="3" name="Text 0"/>
          <p:cNvSpPr/>
          <p:nvPr/>
        </p:nvSpPr>
        <p:spPr>
          <a:xfrm>
            <a:off x="793790" y="877014"/>
            <a:ext cx="7211973" cy="708779"/>
          </a:xfrm>
          <a:prstGeom prst="rect">
            <a:avLst/>
          </a:prstGeom>
          <a:noFill/>
          <a:ln/>
        </p:spPr>
        <p:txBody>
          <a:bodyPr wrap="none" lIns="0" tIns="0" rIns="0" bIns="0" rtlCol="0" anchor="t"/>
          <a:lstStyle/>
          <a:p>
            <a:pPr marL="0" indent="0" algn="l">
              <a:lnSpc>
                <a:spcPts val="5550"/>
              </a:lnSpc>
              <a:buNone/>
            </a:pPr>
            <a:r>
              <a:rPr lang="en-US" sz="4450" dirty="0">
                <a:solidFill>
                  <a:srgbClr val="F2F0F4"/>
                </a:solidFill>
                <a:latin typeface="Montserrat" pitchFamily="34" charset="0"/>
                <a:ea typeface="Montserrat" pitchFamily="34" charset="-122"/>
                <a:cs typeface="Montserrat" pitchFamily="34" charset="-120"/>
              </a:rPr>
              <a:t>AI Agents: Task Executors</a:t>
            </a:r>
            <a:endParaRPr lang="en-US" sz="4450" dirty="0"/>
          </a:p>
        </p:txBody>
      </p:sp>
      <p:pic>
        <p:nvPicPr>
          <p:cNvPr id="4" name="Image 1" descr="preencoded.png"/>
          <p:cNvPicPr>
            <a:picLocks noChangeAspect="1"/>
          </p:cNvPicPr>
          <p:nvPr/>
        </p:nvPicPr>
        <p:blipFill>
          <a:blip r:embed="rId4"/>
          <a:stretch>
            <a:fillRect/>
          </a:stretch>
        </p:blipFill>
        <p:spPr>
          <a:xfrm>
            <a:off x="793790" y="1925955"/>
            <a:ext cx="1134070" cy="1360884"/>
          </a:xfrm>
          <a:prstGeom prst="rect">
            <a:avLst/>
          </a:prstGeom>
        </p:spPr>
      </p:pic>
      <p:sp>
        <p:nvSpPr>
          <p:cNvPr id="5" name="Text 1"/>
          <p:cNvSpPr/>
          <p:nvPr/>
        </p:nvSpPr>
        <p:spPr>
          <a:xfrm>
            <a:off x="2268022" y="21527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Execute Tasks</a:t>
            </a:r>
            <a:endParaRPr lang="en-US" sz="2200" dirty="0"/>
          </a:p>
        </p:txBody>
      </p:sp>
      <p:sp>
        <p:nvSpPr>
          <p:cNvPr id="6" name="Text 2"/>
          <p:cNvSpPr/>
          <p:nvPr/>
        </p:nvSpPr>
        <p:spPr>
          <a:xfrm>
            <a:off x="2268022" y="2643188"/>
            <a:ext cx="7910989"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Agents perform specific actions or sequences of tasks.</a:t>
            </a:r>
            <a:endParaRPr lang="en-US" sz="1750" dirty="0"/>
          </a:p>
        </p:txBody>
      </p:sp>
      <p:pic>
        <p:nvPicPr>
          <p:cNvPr id="7" name="Image 2" descr="preencoded.png"/>
          <p:cNvPicPr>
            <a:picLocks noChangeAspect="1"/>
          </p:cNvPicPr>
          <p:nvPr/>
        </p:nvPicPr>
        <p:blipFill>
          <a:blip r:embed="rId5"/>
          <a:stretch>
            <a:fillRect/>
          </a:stretch>
        </p:blipFill>
        <p:spPr>
          <a:xfrm>
            <a:off x="793790" y="3286839"/>
            <a:ext cx="1134070" cy="1360884"/>
          </a:xfrm>
          <a:prstGeom prst="rect">
            <a:avLst/>
          </a:prstGeom>
        </p:spPr>
      </p:pic>
      <p:sp>
        <p:nvSpPr>
          <p:cNvPr id="8" name="Text 3"/>
          <p:cNvSpPr/>
          <p:nvPr/>
        </p:nvSpPr>
        <p:spPr>
          <a:xfrm>
            <a:off x="2268022" y="3513653"/>
            <a:ext cx="3747016"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Interact with Environment</a:t>
            </a:r>
            <a:endParaRPr lang="en-US" sz="2200" dirty="0"/>
          </a:p>
        </p:txBody>
      </p:sp>
      <p:sp>
        <p:nvSpPr>
          <p:cNvPr id="9" name="Text 4"/>
          <p:cNvSpPr/>
          <p:nvPr/>
        </p:nvSpPr>
        <p:spPr>
          <a:xfrm>
            <a:off x="2268022" y="4004072"/>
            <a:ext cx="7910989"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They engage with digital or physical surroundings.</a:t>
            </a:r>
            <a:endParaRPr lang="en-US" sz="1750" dirty="0"/>
          </a:p>
        </p:txBody>
      </p:sp>
      <p:pic>
        <p:nvPicPr>
          <p:cNvPr id="10" name="Image 3" descr="preencoded.png"/>
          <p:cNvPicPr>
            <a:picLocks noChangeAspect="1"/>
          </p:cNvPicPr>
          <p:nvPr/>
        </p:nvPicPr>
        <p:blipFill>
          <a:blip r:embed="rId6"/>
          <a:stretch>
            <a:fillRect/>
          </a:stretch>
        </p:blipFill>
        <p:spPr>
          <a:xfrm>
            <a:off x="793790" y="4647724"/>
            <a:ext cx="1134070" cy="1360884"/>
          </a:xfrm>
          <a:prstGeom prst="rect">
            <a:avLst/>
          </a:prstGeom>
        </p:spPr>
      </p:pic>
      <p:sp>
        <p:nvSpPr>
          <p:cNvPr id="11" name="Text 5"/>
          <p:cNvSpPr/>
          <p:nvPr/>
        </p:nvSpPr>
        <p:spPr>
          <a:xfrm>
            <a:off x="2268022" y="48745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Decision Making</a:t>
            </a:r>
            <a:endParaRPr lang="en-US" sz="2200" dirty="0"/>
          </a:p>
        </p:txBody>
      </p:sp>
      <p:sp>
        <p:nvSpPr>
          <p:cNvPr id="12" name="Text 6"/>
          <p:cNvSpPr/>
          <p:nvPr/>
        </p:nvSpPr>
        <p:spPr>
          <a:xfrm>
            <a:off x="2268022" y="5364956"/>
            <a:ext cx="7910989"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Agents make choices based on their programming or learned data.</a:t>
            </a:r>
            <a:endParaRPr lang="en-US" sz="1750" dirty="0"/>
          </a:p>
        </p:txBody>
      </p:sp>
      <p:sp>
        <p:nvSpPr>
          <p:cNvPr id="13" name="Text 7"/>
          <p:cNvSpPr/>
          <p:nvPr/>
        </p:nvSpPr>
        <p:spPr>
          <a:xfrm>
            <a:off x="793790" y="6263759"/>
            <a:ext cx="9385221" cy="1088708"/>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AI Agents are components designed to perform tasks and interact with their environment. They can be found in chatbots, virtual assistants, or autonomous vehicles. While they make decisions, they often require human oversight or are limited to specific predefined functions.</a:t>
            </a:r>
            <a:endParaRPr lang="en-US" sz="1750" dirty="0"/>
          </a:p>
        </p:txBody>
      </p:sp>
      <p:pic>
        <p:nvPicPr>
          <p:cNvPr id="14" name="Image 0" descr="preencoded.png">
            <a:extLst>
              <a:ext uri="{FF2B5EF4-FFF2-40B4-BE49-F238E27FC236}">
                <a16:creationId xmlns:a16="http://schemas.microsoft.com/office/drawing/2014/main" id="{B7B3AF85-24F9-1ABD-B38F-B037B0D4B534}"/>
              </a:ext>
            </a:extLst>
          </p:cNvPr>
          <p:cNvPicPr>
            <a:picLocks noChangeAspect="1"/>
          </p:cNvPicPr>
          <p:nvPr/>
        </p:nvPicPr>
        <p:blipFill>
          <a:blip r:embed="rId7"/>
          <a:stretch>
            <a:fillRect/>
          </a:stretch>
        </p:blipFill>
        <p:spPr>
          <a:xfrm>
            <a:off x="10989738" y="0"/>
            <a:ext cx="3640662" cy="79925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83895" y="646748"/>
            <a:ext cx="7776210" cy="1221581"/>
          </a:xfrm>
          <a:prstGeom prst="rect">
            <a:avLst/>
          </a:prstGeom>
          <a:noFill/>
          <a:ln/>
        </p:spPr>
        <p:txBody>
          <a:bodyPr wrap="square" lIns="0" tIns="0" rIns="0" bIns="0" rtlCol="0" anchor="t"/>
          <a:lstStyle/>
          <a:p>
            <a:pPr marL="0" indent="0" algn="l">
              <a:lnSpc>
                <a:spcPts val="4800"/>
              </a:lnSpc>
              <a:buNone/>
            </a:pPr>
            <a:r>
              <a:rPr lang="en-US" sz="3800" b="1" dirty="0">
                <a:solidFill>
                  <a:srgbClr val="EEAEF6"/>
                </a:solidFill>
                <a:latin typeface="Bricolage Grotesque Extra Bold" pitchFamily="34" charset="0"/>
                <a:ea typeface="Bricolage Grotesque Extra Bold" pitchFamily="34" charset="-122"/>
                <a:cs typeface="Bricolage Grotesque Extra Bold" pitchFamily="34" charset="-120"/>
              </a:rPr>
              <a:t>Agentic AI: Combining Generation and Action</a:t>
            </a:r>
            <a:endParaRPr lang="en-US" sz="3800" dirty="0"/>
          </a:p>
        </p:txBody>
      </p:sp>
      <p:sp>
        <p:nvSpPr>
          <p:cNvPr id="4" name="Shape 1"/>
          <p:cNvSpPr/>
          <p:nvPr/>
        </p:nvSpPr>
        <p:spPr>
          <a:xfrm>
            <a:off x="683895" y="2161461"/>
            <a:ext cx="146566" cy="735092"/>
          </a:xfrm>
          <a:prstGeom prst="roundRect">
            <a:avLst>
              <a:gd name="adj" fmla="val 56003"/>
            </a:avLst>
          </a:prstGeom>
          <a:solidFill>
            <a:srgbClr val="282D5E"/>
          </a:solidFill>
          <a:ln/>
        </p:spPr>
        <p:txBody>
          <a:bodyPr/>
          <a:lstStyle/>
          <a:p>
            <a:endParaRPr lang="en-IN"/>
          </a:p>
        </p:txBody>
      </p:sp>
      <p:sp>
        <p:nvSpPr>
          <p:cNvPr id="5" name="Text 2"/>
          <p:cNvSpPr/>
          <p:nvPr/>
        </p:nvSpPr>
        <p:spPr>
          <a:xfrm>
            <a:off x="1123593" y="2161461"/>
            <a:ext cx="2442805" cy="305395"/>
          </a:xfrm>
          <a:prstGeom prst="rect">
            <a:avLst/>
          </a:prstGeom>
          <a:noFill/>
          <a:ln/>
        </p:spPr>
        <p:txBody>
          <a:bodyPr wrap="none" lIns="0" tIns="0" rIns="0" bIns="0" rtlCol="0" anchor="t"/>
          <a:lstStyle/>
          <a:p>
            <a:pPr marL="0" indent="0" algn="l">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Definition</a:t>
            </a:r>
            <a:endParaRPr lang="en-US" sz="1900" dirty="0"/>
          </a:p>
        </p:txBody>
      </p:sp>
      <p:sp>
        <p:nvSpPr>
          <p:cNvPr id="6" name="Text 3"/>
          <p:cNvSpPr/>
          <p:nvPr/>
        </p:nvSpPr>
        <p:spPr>
          <a:xfrm>
            <a:off x="1123593" y="2584013"/>
            <a:ext cx="7336512" cy="312539"/>
          </a:xfrm>
          <a:prstGeom prst="rect">
            <a:avLst/>
          </a:prstGeom>
          <a:noFill/>
          <a:ln/>
        </p:spPr>
        <p:txBody>
          <a:bodyPr wrap="none" lIns="0" tIns="0" rIns="0" bIns="0" rtlCol="0" anchor="t"/>
          <a:lstStyle/>
          <a:p>
            <a:pPr marL="0" indent="0" algn="l">
              <a:lnSpc>
                <a:spcPts val="2450"/>
              </a:lnSpc>
              <a:buNone/>
            </a:pPr>
            <a:r>
              <a:rPr lang="en-US" sz="1500" dirty="0">
                <a:solidFill>
                  <a:srgbClr val="E5DCE6"/>
                </a:solidFill>
                <a:latin typeface="Montserrat" pitchFamily="34" charset="0"/>
                <a:ea typeface="Montserrat" pitchFamily="34" charset="-122"/>
                <a:cs typeface="Montserrat" pitchFamily="34" charset="-120"/>
              </a:rPr>
              <a:t>AI Agents leveraging generative AI (often LLMs) for enhanced capabilities.</a:t>
            </a:r>
            <a:endParaRPr lang="en-US" sz="1500" dirty="0"/>
          </a:p>
        </p:txBody>
      </p:sp>
      <p:sp>
        <p:nvSpPr>
          <p:cNvPr id="7" name="Shape 4"/>
          <p:cNvSpPr/>
          <p:nvPr/>
        </p:nvSpPr>
        <p:spPr>
          <a:xfrm>
            <a:off x="977027" y="3091934"/>
            <a:ext cx="146566" cy="1047631"/>
          </a:xfrm>
          <a:prstGeom prst="roundRect">
            <a:avLst>
              <a:gd name="adj" fmla="val 56003"/>
            </a:avLst>
          </a:prstGeom>
          <a:solidFill>
            <a:srgbClr val="282D5E"/>
          </a:solidFill>
          <a:ln/>
        </p:spPr>
        <p:txBody>
          <a:bodyPr/>
          <a:lstStyle/>
          <a:p>
            <a:endParaRPr lang="en-IN"/>
          </a:p>
        </p:txBody>
      </p:sp>
      <p:sp>
        <p:nvSpPr>
          <p:cNvPr id="8" name="Text 5"/>
          <p:cNvSpPr/>
          <p:nvPr/>
        </p:nvSpPr>
        <p:spPr>
          <a:xfrm>
            <a:off x="1416725" y="3091934"/>
            <a:ext cx="2442805" cy="305395"/>
          </a:xfrm>
          <a:prstGeom prst="rect">
            <a:avLst/>
          </a:prstGeom>
          <a:noFill/>
          <a:ln/>
        </p:spPr>
        <p:txBody>
          <a:bodyPr wrap="none" lIns="0" tIns="0" rIns="0" bIns="0" rtlCol="0" anchor="t"/>
          <a:lstStyle/>
          <a:p>
            <a:pPr marL="0" indent="0" algn="l">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Function</a:t>
            </a:r>
            <a:endParaRPr lang="en-US" sz="1900" dirty="0"/>
          </a:p>
        </p:txBody>
      </p:sp>
      <p:sp>
        <p:nvSpPr>
          <p:cNvPr id="9" name="Text 6"/>
          <p:cNvSpPr/>
          <p:nvPr/>
        </p:nvSpPr>
        <p:spPr>
          <a:xfrm>
            <a:off x="1416725" y="3514487"/>
            <a:ext cx="7043380" cy="625078"/>
          </a:xfrm>
          <a:prstGeom prst="rect">
            <a:avLst/>
          </a:prstGeom>
          <a:noFill/>
          <a:ln/>
        </p:spPr>
        <p:txBody>
          <a:bodyPr wrap="square" lIns="0" tIns="0" rIns="0" bIns="0" rtlCol="0" anchor="t"/>
          <a:lstStyle/>
          <a:p>
            <a:pPr marL="0" indent="0" algn="l">
              <a:lnSpc>
                <a:spcPts val="2450"/>
              </a:lnSpc>
              <a:buNone/>
            </a:pPr>
            <a:r>
              <a:rPr lang="en-US" sz="1500" dirty="0">
                <a:solidFill>
                  <a:srgbClr val="E5DCE6"/>
                </a:solidFill>
                <a:latin typeface="Montserrat" pitchFamily="34" charset="0"/>
                <a:ea typeface="Montserrat" pitchFamily="34" charset="-122"/>
                <a:cs typeface="Montserrat" pitchFamily="34" charset="-120"/>
              </a:rPr>
              <a:t>Agents create, plan, and execute tasks by generating content adaptively.</a:t>
            </a:r>
            <a:endParaRPr lang="en-US" sz="1500" dirty="0"/>
          </a:p>
        </p:txBody>
      </p:sp>
      <p:sp>
        <p:nvSpPr>
          <p:cNvPr id="10" name="Shape 7"/>
          <p:cNvSpPr/>
          <p:nvPr/>
        </p:nvSpPr>
        <p:spPr>
          <a:xfrm>
            <a:off x="1270159" y="4334947"/>
            <a:ext cx="146566" cy="2121932"/>
          </a:xfrm>
          <a:prstGeom prst="roundRect">
            <a:avLst>
              <a:gd name="adj" fmla="val 56003"/>
            </a:avLst>
          </a:prstGeom>
          <a:solidFill>
            <a:srgbClr val="282D5E"/>
          </a:solidFill>
          <a:ln/>
        </p:spPr>
        <p:txBody>
          <a:bodyPr/>
          <a:lstStyle/>
          <a:p>
            <a:endParaRPr lang="en-IN"/>
          </a:p>
        </p:txBody>
      </p:sp>
      <p:sp>
        <p:nvSpPr>
          <p:cNvPr id="11" name="Text 8"/>
          <p:cNvSpPr/>
          <p:nvPr/>
        </p:nvSpPr>
        <p:spPr>
          <a:xfrm>
            <a:off x="1709857" y="4334947"/>
            <a:ext cx="2442805" cy="305395"/>
          </a:xfrm>
          <a:prstGeom prst="rect">
            <a:avLst/>
          </a:prstGeom>
          <a:noFill/>
          <a:ln/>
        </p:spPr>
        <p:txBody>
          <a:bodyPr wrap="none" lIns="0" tIns="0" rIns="0" bIns="0" rtlCol="0" anchor="t"/>
          <a:lstStyle/>
          <a:p>
            <a:pPr marL="0" indent="0" algn="l">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Examples</a:t>
            </a:r>
            <a:endParaRPr lang="en-US" sz="1900" dirty="0"/>
          </a:p>
        </p:txBody>
      </p:sp>
      <p:sp>
        <p:nvSpPr>
          <p:cNvPr id="12" name="Text 9"/>
          <p:cNvSpPr/>
          <p:nvPr/>
        </p:nvSpPr>
        <p:spPr>
          <a:xfrm>
            <a:off x="1709857" y="4757499"/>
            <a:ext cx="6750248" cy="312539"/>
          </a:xfrm>
          <a:prstGeom prst="rect">
            <a:avLst/>
          </a:prstGeom>
          <a:noFill/>
          <a:ln/>
        </p:spPr>
        <p:txBody>
          <a:bodyPr wrap="none" lIns="0" tIns="0" rIns="0" bIns="0" rtlCol="0" anchor="t"/>
          <a:lstStyle/>
          <a:p>
            <a:pPr marL="342900" indent="-342900" algn="l">
              <a:lnSpc>
                <a:spcPts val="2450"/>
              </a:lnSpc>
              <a:buSzPct val="100000"/>
              <a:buChar char="•"/>
            </a:pPr>
            <a:r>
              <a:rPr lang="en-US" sz="1500" dirty="0">
                <a:solidFill>
                  <a:srgbClr val="E5DCE6"/>
                </a:solidFill>
                <a:latin typeface="Montserrat" pitchFamily="34" charset="0"/>
                <a:ea typeface="Montserrat" pitchFamily="34" charset="-122"/>
                <a:cs typeface="Montserrat" pitchFamily="34" charset="-120"/>
              </a:rPr>
              <a:t>Code generation agents: Write and debug software automatically.</a:t>
            </a:r>
            <a:endParaRPr lang="en-US" sz="1500" dirty="0"/>
          </a:p>
        </p:txBody>
      </p:sp>
      <p:sp>
        <p:nvSpPr>
          <p:cNvPr id="13" name="Text 10"/>
          <p:cNvSpPr/>
          <p:nvPr/>
        </p:nvSpPr>
        <p:spPr>
          <a:xfrm>
            <a:off x="1709857" y="5138380"/>
            <a:ext cx="6750248" cy="625078"/>
          </a:xfrm>
          <a:prstGeom prst="rect">
            <a:avLst/>
          </a:prstGeom>
          <a:noFill/>
          <a:ln/>
        </p:spPr>
        <p:txBody>
          <a:bodyPr wrap="square" lIns="0" tIns="0" rIns="0" bIns="0" rtlCol="0" anchor="t"/>
          <a:lstStyle/>
          <a:p>
            <a:pPr marL="342900" indent="-342900" algn="l">
              <a:lnSpc>
                <a:spcPts val="2450"/>
              </a:lnSpc>
              <a:buSzPct val="100000"/>
              <a:buChar char="•"/>
            </a:pPr>
            <a:r>
              <a:rPr lang="en-US" sz="1500" dirty="0">
                <a:solidFill>
                  <a:srgbClr val="E5DCE6"/>
                </a:solidFill>
                <a:latin typeface="Montserrat" pitchFamily="34" charset="0"/>
                <a:ea typeface="Montserrat" pitchFamily="34" charset="-122"/>
                <a:cs typeface="Montserrat" pitchFamily="34" charset="-120"/>
              </a:rPr>
              <a:t>Personalized education agents: Generate customized learning materials.</a:t>
            </a:r>
            <a:endParaRPr lang="en-US" sz="1500" dirty="0"/>
          </a:p>
        </p:txBody>
      </p:sp>
      <p:sp>
        <p:nvSpPr>
          <p:cNvPr id="14" name="Text 11"/>
          <p:cNvSpPr/>
          <p:nvPr/>
        </p:nvSpPr>
        <p:spPr>
          <a:xfrm>
            <a:off x="1709857" y="5831800"/>
            <a:ext cx="6750248" cy="625078"/>
          </a:xfrm>
          <a:prstGeom prst="rect">
            <a:avLst/>
          </a:prstGeom>
          <a:noFill/>
          <a:ln/>
        </p:spPr>
        <p:txBody>
          <a:bodyPr wrap="square" lIns="0" tIns="0" rIns="0" bIns="0" rtlCol="0" anchor="t"/>
          <a:lstStyle/>
          <a:p>
            <a:pPr marL="342900" indent="-342900" algn="l">
              <a:lnSpc>
                <a:spcPts val="2450"/>
              </a:lnSpc>
              <a:buSzPct val="100000"/>
              <a:buChar char="•"/>
            </a:pPr>
            <a:r>
              <a:rPr lang="en-US" sz="1500" dirty="0">
                <a:solidFill>
                  <a:srgbClr val="E5DCE6"/>
                </a:solidFill>
                <a:latin typeface="Montserrat" pitchFamily="34" charset="0"/>
                <a:ea typeface="Montserrat" pitchFamily="34" charset="-122"/>
                <a:cs typeface="Montserrat" pitchFamily="34" charset="-120"/>
              </a:rPr>
              <a:t>Automated marketing agents: Create and deploy targeted ad campaigns.</a:t>
            </a:r>
            <a:endParaRPr lang="en-US" sz="1500" dirty="0"/>
          </a:p>
        </p:txBody>
      </p:sp>
      <p:sp>
        <p:nvSpPr>
          <p:cNvPr id="15" name="Shape 12"/>
          <p:cNvSpPr/>
          <p:nvPr/>
        </p:nvSpPr>
        <p:spPr>
          <a:xfrm>
            <a:off x="1563291" y="6652260"/>
            <a:ext cx="146566" cy="735092"/>
          </a:xfrm>
          <a:prstGeom prst="roundRect">
            <a:avLst>
              <a:gd name="adj" fmla="val 56003"/>
            </a:avLst>
          </a:prstGeom>
          <a:solidFill>
            <a:srgbClr val="282D5E"/>
          </a:solidFill>
          <a:ln/>
        </p:spPr>
        <p:txBody>
          <a:bodyPr/>
          <a:lstStyle/>
          <a:p>
            <a:endParaRPr lang="en-IN"/>
          </a:p>
        </p:txBody>
      </p:sp>
      <p:sp>
        <p:nvSpPr>
          <p:cNvPr id="16" name="Text 13"/>
          <p:cNvSpPr/>
          <p:nvPr/>
        </p:nvSpPr>
        <p:spPr>
          <a:xfrm>
            <a:off x="2002988" y="6652260"/>
            <a:ext cx="2442805" cy="305395"/>
          </a:xfrm>
          <a:prstGeom prst="rect">
            <a:avLst/>
          </a:prstGeom>
          <a:noFill/>
          <a:ln/>
        </p:spPr>
        <p:txBody>
          <a:bodyPr wrap="none" lIns="0" tIns="0" rIns="0" bIns="0" rtlCol="0" anchor="t"/>
          <a:lstStyle/>
          <a:p>
            <a:pPr marL="0" indent="0" algn="l">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Potential</a:t>
            </a:r>
            <a:endParaRPr lang="en-US" sz="1900" dirty="0"/>
          </a:p>
        </p:txBody>
      </p:sp>
      <p:sp>
        <p:nvSpPr>
          <p:cNvPr id="17" name="Text 14"/>
          <p:cNvSpPr/>
          <p:nvPr/>
        </p:nvSpPr>
        <p:spPr>
          <a:xfrm>
            <a:off x="2002988" y="7074813"/>
            <a:ext cx="6457117" cy="312539"/>
          </a:xfrm>
          <a:prstGeom prst="rect">
            <a:avLst/>
          </a:prstGeom>
          <a:noFill/>
          <a:ln/>
        </p:spPr>
        <p:txBody>
          <a:bodyPr wrap="none" lIns="0" tIns="0" rIns="0" bIns="0" rtlCol="0" anchor="t"/>
          <a:lstStyle/>
          <a:p>
            <a:pPr marL="0" indent="0" algn="l">
              <a:lnSpc>
                <a:spcPts val="2450"/>
              </a:lnSpc>
              <a:buNone/>
            </a:pPr>
            <a:r>
              <a:rPr lang="en-US" sz="1500" dirty="0">
                <a:solidFill>
                  <a:srgbClr val="E5DCE6"/>
                </a:solidFill>
                <a:latin typeface="Montserrat" pitchFamily="34" charset="0"/>
                <a:ea typeface="Montserrat" pitchFamily="34" charset="-122"/>
                <a:cs typeface="Montserrat" pitchFamily="34" charset="-120"/>
              </a:rPr>
              <a:t>Automating complex tasks with creative problem-solving.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82692" y="457795"/>
            <a:ext cx="6930628" cy="520303"/>
          </a:xfrm>
          <a:prstGeom prst="rect">
            <a:avLst/>
          </a:prstGeom>
          <a:noFill/>
          <a:ln/>
        </p:spPr>
        <p:txBody>
          <a:bodyPr wrap="none" lIns="0" tIns="0" rIns="0" bIns="0" rtlCol="0" anchor="t"/>
          <a:lstStyle/>
          <a:p>
            <a:pPr marL="0" indent="0" algn="l">
              <a:lnSpc>
                <a:spcPts val="4050"/>
              </a:lnSpc>
              <a:buNone/>
            </a:pPr>
            <a:r>
              <a:rPr lang="en-US" sz="3250" dirty="0">
                <a:solidFill>
                  <a:srgbClr val="F2F0F4"/>
                </a:solidFill>
                <a:latin typeface="Montserrat" pitchFamily="34" charset="0"/>
                <a:ea typeface="Montserrat" pitchFamily="34" charset="-122"/>
                <a:cs typeface="Montserrat" pitchFamily="34" charset="-120"/>
              </a:rPr>
              <a:t>Agentic AI: Autonomous Systems</a:t>
            </a:r>
            <a:endParaRPr lang="en-US" sz="3250" dirty="0"/>
          </a:p>
        </p:txBody>
      </p:sp>
      <p:sp>
        <p:nvSpPr>
          <p:cNvPr id="3" name="Text 1"/>
          <p:cNvSpPr/>
          <p:nvPr/>
        </p:nvSpPr>
        <p:spPr>
          <a:xfrm>
            <a:off x="582692" y="1394222"/>
            <a:ext cx="2081332" cy="260152"/>
          </a:xfrm>
          <a:prstGeom prst="rect">
            <a:avLst/>
          </a:prstGeom>
          <a:noFill/>
          <a:ln/>
        </p:spPr>
        <p:txBody>
          <a:bodyPr wrap="none" lIns="0" tIns="0" rIns="0" bIns="0" rtlCol="0" anchor="t"/>
          <a:lstStyle/>
          <a:p>
            <a:pPr marL="0" indent="0" algn="l">
              <a:lnSpc>
                <a:spcPts val="2000"/>
              </a:lnSpc>
              <a:buNone/>
            </a:pPr>
            <a:r>
              <a:rPr lang="en-US" sz="1600" dirty="0">
                <a:solidFill>
                  <a:srgbClr val="F2F0F4"/>
                </a:solidFill>
                <a:latin typeface="Montserrat" pitchFamily="34" charset="0"/>
                <a:ea typeface="Montserrat" pitchFamily="34" charset="-122"/>
                <a:cs typeface="Montserrat" pitchFamily="34" charset="-120"/>
              </a:rPr>
              <a:t>Key Features</a:t>
            </a:r>
            <a:endParaRPr lang="en-US" sz="1600" dirty="0"/>
          </a:p>
        </p:txBody>
      </p:sp>
      <p:sp>
        <p:nvSpPr>
          <p:cNvPr id="4" name="Text 2"/>
          <p:cNvSpPr/>
          <p:nvPr/>
        </p:nvSpPr>
        <p:spPr>
          <a:xfrm>
            <a:off x="582692" y="1820823"/>
            <a:ext cx="6529388" cy="266462"/>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DCD7E5"/>
                </a:solidFill>
                <a:latin typeface="Heebo Light" pitchFamily="34" charset="0"/>
                <a:ea typeface="Heebo Light" pitchFamily="34" charset="-122"/>
                <a:cs typeface="Heebo Light" pitchFamily="34" charset="-120"/>
              </a:rPr>
              <a:t>Multi-step planning</a:t>
            </a:r>
            <a:endParaRPr lang="en-US" sz="1300" dirty="0"/>
          </a:p>
        </p:txBody>
      </p:sp>
      <p:sp>
        <p:nvSpPr>
          <p:cNvPr id="5" name="Text 3"/>
          <p:cNvSpPr/>
          <p:nvPr/>
        </p:nvSpPr>
        <p:spPr>
          <a:xfrm>
            <a:off x="582692" y="2145506"/>
            <a:ext cx="6529388" cy="266462"/>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DCD7E5"/>
                </a:solidFill>
                <a:latin typeface="Heebo Light" pitchFamily="34" charset="0"/>
                <a:ea typeface="Heebo Light" pitchFamily="34" charset="-122"/>
                <a:cs typeface="Heebo Light" pitchFamily="34" charset="-120"/>
              </a:rPr>
              <a:t>Environment interaction</a:t>
            </a:r>
            <a:endParaRPr lang="en-US" sz="1300" dirty="0"/>
          </a:p>
        </p:txBody>
      </p:sp>
      <p:sp>
        <p:nvSpPr>
          <p:cNvPr id="6" name="Text 4"/>
          <p:cNvSpPr/>
          <p:nvPr/>
        </p:nvSpPr>
        <p:spPr>
          <a:xfrm>
            <a:off x="582692" y="2470190"/>
            <a:ext cx="6529388" cy="266462"/>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DCD7E5"/>
                </a:solidFill>
                <a:latin typeface="Heebo Light" pitchFamily="34" charset="0"/>
                <a:ea typeface="Heebo Light" pitchFamily="34" charset="-122"/>
                <a:cs typeface="Heebo Light" pitchFamily="34" charset="-120"/>
              </a:rPr>
              <a:t>Continuous feedback loops</a:t>
            </a:r>
            <a:endParaRPr lang="en-US" sz="1300" dirty="0"/>
          </a:p>
        </p:txBody>
      </p:sp>
      <p:pic>
        <p:nvPicPr>
          <p:cNvPr id="7" name="Image 0" descr="preencoded.png"/>
          <p:cNvPicPr>
            <a:picLocks noChangeAspect="1"/>
          </p:cNvPicPr>
          <p:nvPr/>
        </p:nvPicPr>
        <p:blipFill>
          <a:blip r:embed="rId3"/>
          <a:stretch>
            <a:fillRect/>
          </a:stretch>
        </p:blipFill>
        <p:spPr>
          <a:xfrm>
            <a:off x="7525941" y="1415058"/>
            <a:ext cx="6529388" cy="6529387"/>
          </a:xfrm>
          <a:prstGeom prst="rect">
            <a:avLst/>
          </a:prstGeom>
        </p:spPr>
      </p:pic>
      <p:sp>
        <p:nvSpPr>
          <p:cNvPr id="8" name="Text 5"/>
          <p:cNvSpPr/>
          <p:nvPr/>
        </p:nvSpPr>
        <p:spPr>
          <a:xfrm>
            <a:off x="582692" y="8319016"/>
            <a:ext cx="13465016" cy="532924"/>
          </a:xfrm>
          <a:prstGeom prst="rect">
            <a:avLst/>
          </a:prstGeom>
          <a:noFill/>
          <a:ln/>
        </p:spPr>
        <p:txBody>
          <a:bodyPr wrap="square" lIns="0" tIns="0" rIns="0" bIns="0" rtlCol="0" anchor="t"/>
          <a:lstStyle/>
          <a:p>
            <a:pPr marL="0" indent="0" algn="l">
              <a:lnSpc>
                <a:spcPts val="2050"/>
              </a:lnSpc>
              <a:buNone/>
            </a:pPr>
            <a:r>
              <a:rPr lang="en-US" sz="1300" dirty="0">
                <a:solidFill>
                  <a:srgbClr val="DCD7E5"/>
                </a:solidFill>
                <a:latin typeface="Heebo Light" pitchFamily="34" charset="0"/>
                <a:ea typeface="Heebo Light" pitchFamily="34" charset="-122"/>
                <a:cs typeface="Heebo Light" pitchFamily="34" charset="-120"/>
              </a:rPr>
              <a:t>Agentic AI represents a significant leap towards truly autonomous systems. It enables AI to operate independently, make complex decisions, and take actions to achieve sophisticated goals. This field integrates LLMs and AI Agents into a cohesive, proactive framework.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9020" y="574119"/>
            <a:ext cx="8027075" cy="650915"/>
          </a:xfrm>
          <a:prstGeom prst="rect">
            <a:avLst/>
          </a:prstGeom>
          <a:noFill/>
          <a:ln/>
        </p:spPr>
        <p:txBody>
          <a:bodyPr wrap="none" lIns="0" tIns="0" rIns="0" bIns="0" rtlCol="0" anchor="t"/>
          <a:lstStyle/>
          <a:p>
            <a:pPr marL="0" indent="0" algn="l">
              <a:lnSpc>
                <a:spcPts val="5100"/>
              </a:lnSpc>
              <a:buNone/>
            </a:pPr>
            <a:r>
              <a:rPr lang="en-US" sz="4100" dirty="0">
                <a:solidFill>
                  <a:srgbClr val="F2F0F4"/>
                </a:solidFill>
                <a:latin typeface="Montserrat" pitchFamily="34" charset="0"/>
                <a:ea typeface="Montserrat" pitchFamily="34" charset="-122"/>
                <a:cs typeface="Montserrat" pitchFamily="34" charset="-120"/>
              </a:rPr>
              <a:t>The Evolution of AI Capabilities</a:t>
            </a:r>
            <a:endParaRPr lang="en-US" sz="4100" dirty="0"/>
          </a:p>
        </p:txBody>
      </p:sp>
      <p:sp>
        <p:nvSpPr>
          <p:cNvPr id="3" name="Shape 1"/>
          <p:cNvSpPr/>
          <p:nvPr/>
        </p:nvSpPr>
        <p:spPr>
          <a:xfrm>
            <a:off x="729020" y="1641634"/>
            <a:ext cx="1646515" cy="1200150"/>
          </a:xfrm>
          <a:prstGeom prst="roundRect">
            <a:avLst>
              <a:gd name="adj" fmla="val 7290"/>
            </a:avLst>
          </a:prstGeom>
          <a:solidFill>
            <a:srgbClr val="31136C"/>
          </a:solidFill>
          <a:ln w="7620">
            <a:solidFill>
              <a:srgbClr val="4A2C85"/>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1405771" y="2058591"/>
            <a:ext cx="292894" cy="366117"/>
          </a:xfrm>
          <a:prstGeom prst="rect">
            <a:avLst/>
          </a:prstGeom>
        </p:spPr>
      </p:pic>
      <p:sp>
        <p:nvSpPr>
          <p:cNvPr id="5" name="Text 2"/>
          <p:cNvSpPr/>
          <p:nvPr/>
        </p:nvSpPr>
        <p:spPr>
          <a:xfrm>
            <a:off x="2583775" y="1849874"/>
            <a:ext cx="2603778" cy="325398"/>
          </a:xfrm>
          <a:prstGeom prst="rect">
            <a:avLst/>
          </a:prstGeom>
          <a:noFill/>
          <a:ln/>
        </p:spPr>
        <p:txBody>
          <a:bodyPr wrap="none" lIns="0" tIns="0" rIns="0" bIns="0" rtlCol="0" anchor="t"/>
          <a:lstStyle/>
          <a:p>
            <a:pPr marL="0" indent="0" algn="l">
              <a:lnSpc>
                <a:spcPts val="2550"/>
              </a:lnSpc>
              <a:buNone/>
            </a:pPr>
            <a:r>
              <a:rPr lang="en-US" sz="2050" dirty="0">
                <a:solidFill>
                  <a:srgbClr val="DCD7E5"/>
                </a:solidFill>
                <a:latin typeface="Montserrat" pitchFamily="34" charset="0"/>
                <a:ea typeface="Montserrat" pitchFamily="34" charset="-122"/>
                <a:cs typeface="Montserrat" pitchFamily="34" charset="-120"/>
              </a:rPr>
              <a:t>Generative AI</a:t>
            </a:r>
            <a:endParaRPr lang="en-US" sz="2050" dirty="0"/>
          </a:p>
        </p:txBody>
      </p:sp>
      <p:sp>
        <p:nvSpPr>
          <p:cNvPr id="6" name="Text 3"/>
          <p:cNvSpPr/>
          <p:nvPr/>
        </p:nvSpPr>
        <p:spPr>
          <a:xfrm>
            <a:off x="2583775" y="2300168"/>
            <a:ext cx="4083487" cy="333375"/>
          </a:xfrm>
          <a:prstGeom prst="rect">
            <a:avLst/>
          </a:prstGeom>
          <a:noFill/>
          <a:ln/>
        </p:spPr>
        <p:txBody>
          <a:bodyPr wrap="none" lIns="0" tIns="0" rIns="0" bIns="0" rtlCol="0" anchor="t"/>
          <a:lstStyle/>
          <a:p>
            <a:pPr marL="0" indent="0" algn="l">
              <a:lnSpc>
                <a:spcPts val="2600"/>
              </a:lnSpc>
              <a:buNone/>
            </a:pPr>
            <a:r>
              <a:rPr lang="en-US" sz="1600" dirty="0">
                <a:solidFill>
                  <a:srgbClr val="DCD7E5"/>
                </a:solidFill>
                <a:latin typeface="Heebo Light" pitchFamily="34" charset="0"/>
                <a:ea typeface="Heebo Light" pitchFamily="34" charset="-122"/>
                <a:cs typeface="Heebo Light" pitchFamily="34" charset="-120"/>
              </a:rPr>
              <a:t>Creates new data based on learned patterns.</a:t>
            </a:r>
            <a:endParaRPr lang="en-US" sz="1600" dirty="0"/>
          </a:p>
        </p:txBody>
      </p:sp>
      <p:sp>
        <p:nvSpPr>
          <p:cNvPr id="7" name="Shape 4"/>
          <p:cNvSpPr/>
          <p:nvPr/>
        </p:nvSpPr>
        <p:spPr>
          <a:xfrm>
            <a:off x="2479596" y="2832259"/>
            <a:ext cx="11317724" cy="11430"/>
          </a:xfrm>
          <a:prstGeom prst="roundRect">
            <a:avLst>
              <a:gd name="adj" fmla="val 765449"/>
            </a:avLst>
          </a:prstGeom>
          <a:solidFill>
            <a:srgbClr val="4A2C85"/>
          </a:solidFill>
          <a:ln/>
        </p:spPr>
        <p:txBody>
          <a:bodyPr/>
          <a:lstStyle/>
          <a:p>
            <a:endParaRPr lang="en-IN"/>
          </a:p>
        </p:txBody>
      </p:sp>
      <p:sp>
        <p:nvSpPr>
          <p:cNvPr id="8" name="Shape 5"/>
          <p:cNvSpPr/>
          <p:nvPr/>
        </p:nvSpPr>
        <p:spPr>
          <a:xfrm>
            <a:off x="729020" y="2945844"/>
            <a:ext cx="3293031" cy="1200150"/>
          </a:xfrm>
          <a:prstGeom prst="roundRect">
            <a:avLst>
              <a:gd name="adj" fmla="val 7290"/>
            </a:avLst>
          </a:prstGeom>
          <a:solidFill>
            <a:srgbClr val="31136C"/>
          </a:solidFill>
          <a:ln w="7620">
            <a:solidFill>
              <a:srgbClr val="4A2C85"/>
            </a:solidFill>
            <a:prstDash val="solid"/>
          </a:ln>
        </p:spPr>
        <p:txBody>
          <a:bodyPr/>
          <a:lstStyle/>
          <a:p>
            <a:endParaRPr lang="en-IN"/>
          </a:p>
        </p:txBody>
      </p:sp>
      <p:pic>
        <p:nvPicPr>
          <p:cNvPr id="9" name="Image 1" descr="preencoded.png"/>
          <p:cNvPicPr>
            <a:picLocks noChangeAspect="1"/>
          </p:cNvPicPr>
          <p:nvPr/>
        </p:nvPicPr>
        <p:blipFill>
          <a:blip r:embed="rId4"/>
          <a:stretch>
            <a:fillRect/>
          </a:stretch>
        </p:blipFill>
        <p:spPr>
          <a:xfrm>
            <a:off x="2229088" y="3362801"/>
            <a:ext cx="292894" cy="366117"/>
          </a:xfrm>
          <a:prstGeom prst="rect">
            <a:avLst/>
          </a:prstGeom>
        </p:spPr>
      </p:pic>
      <p:sp>
        <p:nvSpPr>
          <p:cNvPr id="10" name="Text 6"/>
          <p:cNvSpPr/>
          <p:nvPr/>
        </p:nvSpPr>
        <p:spPr>
          <a:xfrm>
            <a:off x="4230291" y="3154085"/>
            <a:ext cx="2603778" cy="325398"/>
          </a:xfrm>
          <a:prstGeom prst="rect">
            <a:avLst/>
          </a:prstGeom>
          <a:noFill/>
          <a:ln/>
        </p:spPr>
        <p:txBody>
          <a:bodyPr wrap="none" lIns="0" tIns="0" rIns="0" bIns="0" rtlCol="0" anchor="t"/>
          <a:lstStyle/>
          <a:p>
            <a:pPr marL="0" indent="0" algn="l">
              <a:lnSpc>
                <a:spcPts val="2550"/>
              </a:lnSpc>
              <a:buNone/>
            </a:pPr>
            <a:r>
              <a:rPr lang="en-US" sz="2050" dirty="0">
                <a:solidFill>
                  <a:srgbClr val="DCD7E5"/>
                </a:solidFill>
                <a:latin typeface="Montserrat" pitchFamily="34" charset="0"/>
                <a:ea typeface="Montserrat" pitchFamily="34" charset="-122"/>
                <a:cs typeface="Montserrat" pitchFamily="34" charset="-120"/>
              </a:rPr>
              <a:t>LLMs</a:t>
            </a:r>
            <a:endParaRPr lang="en-US" sz="2050" dirty="0"/>
          </a:p>
        </p:txBody>
      </p:sp>
      <p:sp>
        <p:nvSpPr>
          <p:cNvPr id="11" name="Text 7"/>
          <p:cNvSpPr/>
          <p:nvPr/>
        </p:nvSpPr>
        <p:spPr>
          <a:xfrm>
            <a:off x="4230291" y="3604379"/>
            <a:ext cx="4488775" cy="333375"/>
          </a:xfrm>
          <a:prstGeom prst="rect">
            <a:avLst/>
          </a:prstGeom>
          <a:noFill/>
          <a:ln/>
        </p:spPr>
        <p:txBody>
          <a:bodyPr wrap="none" lIns="0" tIns="0" rIns="0" bIns="0" rtlCol="0" anchor="t"/>
          <a:lstStyle/>
          <a:p>
            <a:pPr marL="0" indent="0" algn="l">
              <a:lnSpc>
                <a:spcPts val="2600"/>
              </a:lnSpc>
              <a:buNone/>
            </a:pPr>
            <a:r>
              <a:rPr lang="en-US" sz="1600" dirty="0">
                <a:solidFill>
                  <a:srgbClr val="DCD7E5"/>
                </a:solidFill>
                <a:latin typeface="Heebo Light" pitchFamily="34" charset="0"/>
                <a:ea typeface="Heebo Light" pitchFamily="34" charset="-122"/>
                <a:cs typeface="Heebo Light" pitchFamily="34" charset="-120"/>
              </a:rPr>
              <a:t>Specialized in text generation and understanding.</a:t>
            </a:r>
            <a:endParaRPr lang="en-US" sz="1600" dirty="0"/>
          </a:p>
        </p:txBody>
      </p:sp>
      <p:sp>
        <p:nvSpPr>
          <p:cNvPr id="12" name="Shape 8"/>
          <p:cNvSpPr/>
          <p:nvPr/>
        </p:nvSpPr>
        <p:spPr>
          <a:xfrm>
            <a:off x="4126111" y="4136469"/>
            <a:ext cx="9671209" cy="11430"/>
          </a:xfrm>
          <a:prstGeom prst="roundRect">
            <a:avLst>
              <a:gd name="adj" fmla="val 765449"/>
            </a:avLst>
          </a:prstGeom>
          <a:solidFill>
            <a:srgbClr val="4A2C85"/>
          </a:solidFill>
          <a:ln/>
        </p:spPr>
        <p:txBody>
          <a:bodyPr/>
          <a:lstStyle/>
          <a:p>
            <a:endParaRPr lang="en-IN"/>
          </a:p>
        </p:txBody>
      </p:sp>
      <p:sp>
        <p:nvSpPr>
          <p:cNvPr id="13" name="Shape 9"/>
          <p:cNvSpPr/>
          <p:nvPr/>
        </p:nvSpPr>
        <p:spPr>
          <a:xfrm>
            <a:off x="729020" y="4250055"/>
            <a:ext cx="4939546" cy="1200150"/>
          </a:xfrm>
          <a:prstGeom prst="roundRect">
            <a:avLst>
              <a:gd name="adj" fmla="val 7290"/>
            </a:avLst>
          </a:prstGeom>
          <a:solidFill>
            <a:srgbClr val="31136C"/>
          </a:solidFill>
          <a:ln w="7620">
            <a:solidFill>
              <a:srgbClr val="4A2C85"/>
            </a:solidFill>
            <a:prstDash val="solid"/>
          </a:ln>
        </p:spPr>
        <p:txBody>
          <a:bodyPr/>
          <a:lstStyle/>
          <a:p>
            <a:endParaRPr lang="en-IN"/>
          </a:p>
        </p:txBody>
      </p:sp>
      <p:pic>
        <p:nvPicPr>
          <p:cNvPr id="14" name="Image 2" descr="preencoded.png"/>
          <p:cNvPicPr>
            <a:picLocks noChangeAspect="1"/>
          </p:cNvPicPr>
          <p:nvPr/>
        </p:nvPicPr>
        <p:blipFill>
          <a:blip r:embed="rId5"/>
          <a:stretch>
            <a:fillRect/>
          </a:stretch>
        </p:blipFill>
        <p:spPr>
          <a:xfrm>
            <a:off x="3052286" y="4667012"/>
            <a:ext cx="292894" cy="366117"/>
          </a:xfrm>
          <a:prstGeom prst="rect">
            <a:avLst/>
          </a:prstGeom>
        </p:spPr>
      </p:pic>
      <p:sp>
        <p:nvSpPr>
          <p:cNvPr id="15" name="Text 10"/>
          <p:cNvSpPr/>
          <p:nvPr/>
        </p:nvSpPr>
        <p:spPr>
          <a:xfrm>
            <a:off x="5876806" y="4458295"/>
            <a:ext cx="2603778" cy="325398"/>
          </a:xfrm>
          <a:prstGeom prst="rect">
            <a:avLst/>
          </a:prstGeom>
          <a:noFill/>
          <a:ln/>
        </p:spPr>
        <p:txBody>
          <a:bodyPr wrap="none" lIns="0" tIns="0" rIns="0" bIns="0" rtlCol="0" anchor="t"/>
          <a:lstStyle/>
          <a:p>
            <a:pPr marL="0" indent="0" algn="l">
              <a:lnSpc>
                <a:spcPts val="2550"/>
              </a:lnSpc>
              <a:buNone/>
            </a:pPr>
            <a:r>
              <a:rPr lang="en-US" sz="2050" dirty="0">
                <a:solidFill>
                  <a:srgbClr val="DCD7E5"/>
                </a:solidFill>
                <a:latin typeface="Montserrat" pitchFamily="34" charset="0"/>
                <a:ea typeface="Montserrat" pitchFamily="34" charset="-122"/>
                <a:cs typeface="Montserrat" pitchFamily="34" charset="-120"/>
              </a:rPr>
              <a:t>AI Agents</a:t>
            </a:r>
            <a:endParaRPr lang="en-US" sz="2050" dirty="0"/>
          </a:p>
        </p:txBody>
      </p:sp>
      <p:sp>
        <p:nvSpPr>
          <p:cNvPr id="16" name="Text 11"/>
          <p:cNvSpPr/>
          <p:nvPr/>
        </p:nvSpPr>
        <p:spPr>
          <a:xfrm>
            <a:off x="5876806" y="4908590"/>
            <a:ext cx="4989433" cy="333375"/>
          </a:xfrm>
          <a:prstGeom prst="rect">
            <a:avLst/>
          </a:prstGeom>
          <a:noFill/>
          <a:ln/>
        </p:spPr>
        <p:txBody>
          <a:bodyPr wrap="none" lIns="0" tIns="0" rIns="0" bIns="0" rtlCol="0" anchor="t"/>
          <a:lstStyle/>
          <a:p>
            <a:pPr marL="0" indent="0" algn="l">
              <a:lnSpc>
                <a:spcPts val="2600"/>
              </a:lnSpc>
              <a:buNone/>
            </a:pPr>
            <a:r>
              <a:rPr lang="en-US" sz="1600" dirty="0">
                <a:solidFill>
                  <a:srgbClr val="DCD7E5"/>
                </a:solidFill>
                <a:latin typeface="Heebo Light" pitchFamily="34" charset="0"/>
                <a:ea typeface="Heebo Light" pitchFamily="34" charset="-122"/>
                <a:cs typeface="Heebo Light" pitchFamily="34" charset="-120"/>
              </a:rPr>
              <a:t>Perform specific tasks and interact with environments.</a:t>
            </a:r>
            <a:endParaRPr lang="en-US" sz="1600" dirty="0"/>
          </a:p>
        </p:txBody>
      </p:sp>
      <p:sp>
        <p:nvSpPr>
          <p:cNvPr id="17" name="Shape 12"/>
          <p:cNvSpPr/>
          <p:nvPr/>
        </p:nvSpPr>
        <p:spPr>
          <a:xfrm>
            <a:off x="5772626" y="5440680"/>
            <a:ext cx="8024693" cy="11430"/>
          </a:xfrm>
          <a:prstGeom prst="roundRect">
            <a:avLst>
              <a:gd name="adj" fmla="val 765449"/>
            </a:avLst>
          </a:prstGeom>
          <a:solidFill>
            <a:srgbClr val="4A2C85"/>
          </a:solidFill>
          <a:ln/>
        </p:spPr>
        <p:txBody>
          <a:bodyPr/>
          <a:lstStyle/>
          <a:p>
            <a:endParaRPr lang="en-IN"/>
          </a:p>
        </p:txBody>
      </p:sp>
      <p:sp>
        <p:nvSpPr>
          <p:cNvPr id="18" name="Shape 13"/>
          <p:cNvSpPr/>
          <p:nvPr/>
        </p:nvSpPr>
        <p:spPr>
          <a:xfrm>
            <a:off x="729020" y="5554266"/>
            <a:ext cx="6586180" cy="1200150"/>
          </a:xfrm>
          <a:prstGeom prst="roundRect">
            <a:avLst>
              <a:gd name="adj" fmla="val 7290"/>
            </a:avLst>
          </a:prstGeom>
          <a:solidFill>
            <a:srgbClr val="31136C"/>
          </a:solidFill>
          <a:ln w="7620">
            <a:solidFill>
              <a:srgbClr val="4A2C85"/>
            </a:solidFill>
            <a:prstDash val="solid"/>
          </a:ln>
        </p:spPr>
        <p:txBody>
          <a:bodyPr/>
          <a:lstStyle/>
          <a:p>
            <a:endParaRPr lang="en-IN"/>
          </a:p>
        </p:txBody>
      </p:sp>
      <p:pic>
        <p:nvPicPr>
          <p:cNvPr id="19" name="Image 3" descr="preencoded.png"/>
          <p:cNvPicPr>
            <a:picLocks noChangeAspect="1"/>
          </p:cNvPicPr>
          <p:nvPr/>
        </p:nvPicPr>
        <p:blipFill>
          <a:blip r:embed="rId6"/>
          <a:stretch>
            <a:fillRect/>
          </a:stretch>
        </p:blipFill>
        <p:spPr>
          <a:xfrm>
            <a:off x="3875603" y="5971223"/>
            <a:ext cx="292894" cy="366117"/>
          </a:xfrm>
          <a:prstGeom prst="rect">
            <a:avLst/>
          </a:prstGeom>
        </p:spPr>
      </p:pic>
      <p:sp>
        <p:nvSpPr>
          <p:cNvPr id="20" name="Text 14"/>
          <p:cNvSpPr/>
          <p:nvPr/>
        </p:nvSpPr>
        <p:spPr>
          <a:xfrm>
            <a:off x="7523440" y="5762506"/>
            <a:ext cx="2603778" cy="325398"/>
          </a:xfrm>
          <a:prstGeom prst="rect">
            <a:avLst/>
          </a:prstGeom>
          <a:noFill/>
          <a:ln/>
        </p:spPr>
        <p:txBody>
          <a:bodyPr wrap="none" lIns="0" tIns="0" rIns="0" bIns="0" rtlCol="0" anchor="t"/>
          <a:lstStyle/>
          <a:p>
            <a:pPr marL="0" indent="0" algn="l">
              <a:lnSpc>
                <a:spcPts val="2550"/>
              </a:lnSpc>
              <a:buNone/>
            </a:pPr>
            <a:r>
              <a:rPr lang="en-US" sz="2050" dirty="0">
                <a:solidFill>
                  <a:srgbClr val="DCD7E5"/>
                </a:solidFill>
                <a:latin typeface="Montserrat" pitchFamily="34" charset="0"/>
                <a:ea typeface="Montserrat" pitchFamily="34" charset="-122"/>
                <a:cs typeface="Montserrat" pitchFamily="34" charset="-120"/>
              </a:rPr>
              <a:t>Agentic AI</a:t>
            </a:r>
            <a:endParaRPr lang="en-US" sz="2050" dirty="0"/>
          </a:p>
        </p:txBody>
      </p:sp>
      <p:sp>
        <p:nvSpPr>
          <p:cNvPr id="21" name="Text 15"/>
          <p:cNvSpPr/>
          <p:nvPr/>
        </p:nvSpPr>
        <p:spPr>
          <a:xfrm>
            <a:off x="7523440" y="6212800"/>
            <a:ext cx="4684514" cy="333375"/>
          </a:xfrm>
          <a:prstGeom prst="rect">
            <a:avLst/>
          </a:prstGeom>
          <a:noFill/>
          <a:ln/>
        </p:spPr>
        <p:txBody>
          <a:bodyPr wrap="none" lIns="0" tIns="0" rIns="0" bIns="0" rtlCol="0" anchor="t"/>
          <a:lstStyle/>
          <a:p>
            <a:pPr marL="0" indent="0" algn="l">
              <a:lnSpc>
                <a:spcPts val="2600"/>
              </a:lnSpc>
              <a:buNone/>
            </a:pPr>
            <a:r>
              <a:rPr lang="en-US" sz="1600" dirty="0">
                <a:solidFill>
                  <a:srgbClr val="DCD7E5"/>
                </a:solidFill>
                <a:latin typeface="Heebo Light" pitchFamily="34" charset="0"/>
                <a:ea typeface="Heebo Light" pitchFamily="34" charset="-122"/>
                <a:cs typeface="Heebo Light" pitchFamily="34" charset="-120"/>
              </a:rPr>
              <a:t>Autonomous, goal-oriented, and proactive systems.</a:t>
            </a:r>
            <a:endParaRPr lang="en-US" sz="1600" dirty="0"/>
          </a:p>
        </p:txBody>
      </p:sp>
      <p:sp>
        <p:nvSpPr>
          <p:cNvPr id="22" name="Text 16"/>
          <p:cNvSpPr/>
          <p:nvPr/>
        </p:nvSpPr>
        <p:spPr>
          <a:xfrm>
            <a:off x="729020" y="6988731"/>
            <a:ext cx="13172361" cy="666750"/>
          </a:xfrm>
          <a:prstGeom prst="rect">
            <a:avLst/>
          </a:prstGeom>
          <a:noFill/>
          <a:ln/>
        </p:spPr>
        <p:txBody>
          <a:bodyPr wrap="square" lIns="0" tIns="0" rIns="0" bIns="0" rtlCol="0" anchor="t"/>
          <a:lstStyle/>
          <a:p>
            <a:pPr marL="0" indent="0" algn="l">
              <a:lnSpc>
                <a:spcPts val="2600"/>
              </a:lnSpc>
              <a:buNone/>
            </a:pPr>
            <a:r>
              <a:rPr lang="en-US" sz="1600" dirty="0">
                <a:solidFill>
                  <a:srgbClr val="DCD7E5"/>
                </a:solidFill>
                <a:latin typeface="Heebo Light" pitchFamily="34" charset="0"/>
                <a:ea typeface="Heebo Light" pitchFamily="34" charset="-122"/>
                <a:cs typeface="Heebo Light" pitchFamily="34" charset="-120"/>
              </a:rPr>
              <a:t>AI capabilities are evolving rapidly. From merely generating content to executing complex, autonomous actions, the progression showcases increasing levels of intelligence and independence. Each layer builds upon the preceding one, expanding AI's potential.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00" y="0"/>
            <a:ext cx="3657600" cy="8229600"/>
          </a:xfrm>
          <a:prstGeom prst="rect">
            <a:avLst/>
          </a:prstGeom>
        </p:spPr>
      </p:pic>
      <p:sp>
        <p:nvSpPr>
          <p:cNvPr id="3" name="Text 0"/>
          <p:cNvSpPr/>
          <p:nvPr/>
        </p:nvSpPr>
        <p:spPr>
          <a:xfrm>
            <a:off x="793790" y="982742"/>
            <a:ext cx="6705719" cy="708779"/>
          </a:xfrm>
          <a:prstGeom prst="rect">
            <a:avLst/>
          </a:prstGeom>
          <a:noFill/>
          <a:ln/>
        </p:spPr>
        <p:txBody>
          <a:bodyPr wrap="none" lIns="0" tIns="0" rIns="0" bIns="0" rtlCol="0" anchor="t"/>
          <a:lstStyle/>
          <a:p>
            <a:pPr marL="0" indent="0" algn="l">
              <a:lnSpc>
                <a:spcPts val="5550"/>
              </a:lnSpc>
              <a:buNone/>
            </a:pPr>
            <a:r>
              <a:rPr lang="en-US" sz="4450" dirty="0">
                <a:solidFill>
                  <a:srgbClr val="F2F0F4"/>
                </a:solidFill>
                <a:latin typeface="Montserrat" pitchFamily="34" charset="0"/>
                <a:ea typeface="Montserrat" pitchFamily="34" charset="-122"/>
                <a:cs typeface="Montserrat" pitchFamily="34" charset="-120"/>
              </a:rPr>
              <a:t>Why Agentic AI Matters</a:t>
            </a:r>
            <a:endParaRPr lang="en-US" sz="4450" dirty="0"/>
          </a:p>
        </p:txBody>
      </p:sp>
      <p:pic>
        <p:nvPicPr>
          <p:cNvPr id="4" name="Image 1" descr="preencoded.png"/>
          <p:cNvPicPr>
            <a:picLocks noChangeAspect="1"/>
          </p:cNvPicPr>
          <p:nvPr/>
        </p:nvPicPr>
        <p:blipFill>
          <a:blip r:embed="rId4"/>
          <a:stretch>
            <a:fillRect/>
          </a:stretch>
        </p:blipFill>
        <p:spPr>
          <a:xfrm>
            <a:off x="793790" y="2071330"/>
            <a:ext cx="566976" cy="566976"/>
          </a:xfrm>
          <a:prstGeom prst="rect">
            <a:avLst/>
          </a:prstGeom>
        </p:spPr>
      </p:pic>
      <p:sp>
        <p:nvSpPr>
          <p:cNvPr id="5" name="Text 1"/>
          <p:cNvSpPr/>
          <p:nvPr/>
        </p:nvSpPr>
        <p:spPr>
          <a:xfrm>
            <a:off x="1587579" y="2166342"/>
            <a:ext cx="3356610"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Complex Task Handling</a:t>
            </a:r>
            <a:endParaRPr lang="en-US" sz="2200" dirty="0"/>
          </a:p>
        </p:txBody>
      </p:sp>
      <p:sp>
        <p:nvSpPr>
          <p:cNvPr id="6" name="Text 2"/>
          <p:cNvSpPr/>
          <p:nvPr/>
        </p:nvSpPr>
        <p:spPr>
          <a:xfrm>
            <a:off x="1587579" y="2656761"/>
            <a:ext cx="8591431"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Agentic AI can manage intricate, multi-faceted operations.</a:t>
            </a:r>
            <a:endParaRPr lang="en-US" sz="1750" dirty="0"/>
          </a:p>
        </p:txBody>
      </p:sp>
      <p:pic>
        <p:nvPicPr>
          <p:cNvPr id="7" name="Image 2" descr="preencoded.png"/>
          <p:cNvPicPr>
            <a:picLocks noChangeAspect="1"/>
          </p:cNvPicPr>
          <p:nvPr/>
        </p:nvPicPr>
        <p:blipFill>
          <a:blip r:embed="rId5"/>
          <a:stretch>
            <a:fillRect/>
          </a:stretch>
        </p:blipFill>
        <p:spPr>
          <a:xfrm>
            <a:off x="793790" y="3512939"/>
            <a:ext cx="566976" cy="566976"/>
          </a:xfrm>
          <a:prstGeom prst="rect">
            <a:avLst/>
          </a:prstGeom>
        </p:spPr>
      </p:pic>
      <p:sp>
        <p:nvSpPr>
          <p:cNvPr id="8" name="Text 3"/>
          <p:cNvSpPr/>
          <p:nvPr/>
        </p:nvSpPr>
        <p:spPr>
          <a:xfrm>
            <a:off x="1587579" y="360795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Adaptive Learning</a:t>
            </a:r>
            <a:endParaRPr lang="en-US" sz="2200" dirty="0"/>
          </a:p>
        </p:txBody>
      </p:sp>
      <p:sp>
        <p:nvSpPr>
          <p:cNvPr id="9" name="Text 4"/>
          <p:cNvSpPr/>
          <p:nvPr/>
        </p:nvSpPr>
        <p:spPr>
          <a:xfrm>
            <a:off x="1587579" y="4098369"/>
            <a:ext cx="8591431"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Systems adjust and improve from ongoing experiences.</a:t>
            </a:r>
            <a:endParaRPr lang="en-US" sz="1750" dirty="0"/>
          </a:p>
        </p:txBody>
      </p:sp>
      <p:pic>
        <p:nvPicPr>
          <p:cNvPr id="10" name="Image 3" descr="preencoded.png"/>
          <p:cNvPicPr>
            <a:picLocks noChangeAspect="1"/>
          </p:cNvPicPr>
          <p:nvPr/>
        </p:nvPicPr>
        <p:blipFill>
          <a:blip r:embed="rId6"/>
          <a:stretch>
            <a:fillRect/>
          </a:stretch>
        </p:blipFill>
        <p:spPr>
          <a:xfrm>
            <a:off x="793790" y="4954548"/>
            <a:ext cx="566976" cy="566976"/>
          </a:xfrm>
          <a:prstGeom prst="rect">
            <a:avLst/>
          </a:prstGeom>
        </p:spPr>
      </p:pic>
      <p:sp>
        <p:nvSpPr>
          <p:cNvPr id="11" name="Text 5"/>
          <p:cNvSpPr/>
          <p:nvPr/>
        </p:nvSpPr>
        <p:spPr>
          <a:xfrm>
            <a:off x="1587579" y="504956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Proactive Solutions</a:t>
            </a:r>
            <a:endParaRPr lang="en-US" sz="2200" dirty="0"/>
          </a:p>
        </p:txBody>
      </p:sp>
      <p:sp>
        <p:nvSpPr>
          <p:cNvPr id="12" name="Text 6"/>
          <p:cNvSpPr/>
          <p:nvPr/>
        </p:nvSpPr>
        <p:spPr>
          <a:xfrm>
            <a:off x="1587579" y="5539978"/>
            <a:ext cx="8591431"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AI anticipates needs and initiates actions autonomously.</a:t>
            </a:r>
            <a:endParaRPr lang="en-US" sz="1750" dirty="0"/>
          </a:p>
        </p:txBody>
      </p:sp>
      <p:sp>
        <p:nvSpPr>
          <p:cNvPr id="13" name="Text 7"/>
          <p:cNvSpPr/>
          <p:nvPr/>
        </p:nvSpPr>
        <p:spPr>
          <a:xfrm>
            <a:off x="793790" y="6158032"/>
            <a:ext cx="9385221" cy="1088708"/>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Agentic AI systems offer significant advantages. They can perform highly complex tasks, learn from ongoing interactions, and proactively address challenges. This leads to more efficient and resilient AI applications across industries.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707</Words>
  <Application>Microsoft Office PowerPoint</Application>
  <PresentationFormat>Custom</PresentationFormat>
  <Paragraphs>90</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Montserrat</vt:lpstr>
      <vt:lpstr>Arial</vt:lpstr>
      <vt:lpstr>Heebo Light</vt:lpstr>
      <vt:lpstr>Bricolage Grotesque Extra Bold</vt:lpstr>
      <vt:lpstr>Heebo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arshiya.vohra5888</cp:lastModifiedBy>
  <cp:revision>6</cp:revision>
  <dcterms:created xsi:type="dcterms:W3CDTF">2025-05-26T06:22:42Z</dcterms:created>
  <dcterms:modified xsi:type="dcterms:W3CDTF">2025-05-26T13:40:23Z</dcterms:modified>
</cp:coreProperties>
</file>