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98" r:id="rId2"/>
    <p:sldId id="299" r:id="rId3"/>
    <p:sldId id="459" r:id="rId4"/>
    <p:sldId id="460" r:id="rId5"/>
    <p:sldId id="461" r:id="rId6"/>
    <p:sldId id="462" r:id="rId7"/>
    <p:sldId id="463" r:id="rId8"/>
    <p:sldId id="464" r:id="rId9"/>
    <p:sldId id="465" r:id="rId10"/>
    <p:sldId id="278" r:id="rId11"/>
    <p:sldId id="279" r:id="rId12"/>
    <p:sldId id="270" r:id="rId13"/>
    <p:sldId id="263" r:id="rId14"/>
    <p:sldId id="283" r:id="rId15"/>
    <p:sldId id="258" r:id="rId16"/>
    <p:sldId id="297" r:id="rId17"/>
    <p:sldId id="284" r:id="rId18"/>
    <p:sldId id="259" r:id="rId19"/>
    <p:sldId id="285" r:id="rId20"/>
    <p:sldId id="260" r:id="rId21"/>
    <p:sldId id="286" r:id="rId22"/>
    <p:sldId id="261" r:id="rId23"/>
    <p:sldId id="262" r:id="rId24"/>
    <p:sldId id="288" r:id="rId25"/>
    <p:sldId id="466" r:id="rId26"/>
    <p:sldId id="271" r:id="rId27"/>
    <p:sldId id="289" r:id="rId28"/>
    <p:sldId id="273" r:id="rId29"/>
    <p:sldId id="467" r:id="rId30"/>
    <p:sldId id="468" r:id="rId31"/>
    <p:sldId id="469" r:id="rId32"/>
    <p:sldId id="470" r:id="rId33"/>
    <p:sldId id="471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68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4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21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3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7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8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5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07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1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0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9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13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Top 20 Agentic AI Use Cases With Real-Life Examples">
            <a:extLst>
              <a:ext uri="{FF2B5EF4-FFF2-40B4-BE49-F238E27FC236}">
                <a16:creationId xmlns:a16="http://schemas.microsoft.com/office/drawing/2014/main" id="{09EF1E47-43A9-D6D1-A5AB-E1909BDBB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47" y="1082806"/>
            <a:ext cx="6086475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469C2C4B-7678-645C-75F8-5D38382FF2A2}"/>
              </a:ext>
            </a:extLst>
          </p:cNvPr>
          <p:cNvSpPr txBox="1">
            <a:spLocks/>
          </p:cNvSpPr>
          <p:nvPr/>
        </p:nvSpPr>
        <p:spPr>
          <a:xfrm>
            <a:off x="637045" y="4751290"/>
            <a:ext cx="8288032" cy="121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Generative AI 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Shaping The Future With Intelligence</a:t>
            </a:r>
            <a:endParaRPr lang="en-IN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16FEA-57AA-271F-1741-90ADD3D209F6}"/>
              </a:ext>
            </a:extLst>
          </p:cNvPr>
          <p:cNvSpPr txBox="1"/>
          <p:nvPr/>
        </p:nvSpPr>
        <p:spPr>
          <a:xfrm>
            <a:off x="6070861" y="5999498"/>
            <a:ext cx="2403835" cy="36933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IN" dirty="0"/>
              <a:t>OMKAR N</a:t>
            </a:r>
          </a:p>
        </p:txBody>
      </p:sp>
    </p:spTree>
    <p:extLst>
      <p:ext uri="{BB962C8B-B14F-4D97-AF65-F5344CB8AC3E}">
        <p14:creationId xmlns:p14="http://schemas.microsoft.com/office/powerpoint/2010/main" val="84492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3C682-EC98-8BD4-1310-1CB52321FB61}"/>
              </a:ext>
            </a:extLst>
          </p:cNvPr>
          <p:cNvSpPr txBox="1"/>
          <p:nvPr/>
        </p:nvSpPr>
        <p:spPr>
          <a:xfrm>
            <a:off x="537328" y="1169199"/>
            <a:ext cx="82107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Name: </a:t>
            </a:r>
            <a:r>
              <a:rPr lang="en-IN" sz="1800" i="1" dirty="0" err="1"/>
              <a:t>Omakr</a:t>
            </a:r>
            <a:r>
              <a:rPr lang="en-IN" sz="1800" i="1" dirty="0"/>
              <a:t> </a:t>
            </a:r>
            <a:r>
              <a:rPr lang="en-IN" sz="1800" i="1" dirty="0" err="1"/>
              <a:t>Nallagoni</a:t>
            </a:r>
            <a:endParaRPr lang="en-IN" sz="1800" i="1" dirty="0"/>
          </a:p>
          <a:p>
            <a:pPr marL="0" indent="0" algn="l">
              <a:buNone/>
            </a:pP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800" i="1" dirty="0"/>
              <a:t>Cognizant  </a:t>
            </a:r>
          </a:p>
          <a:p>
            <a:pPr marL="0" indent="0" algn="l">
              <a:buNone/>
            </a:pPr>
            <a:r>
              <a:rPr lang="en-IN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</a:t>
            </a:r>
            <a:r>
              <a:rPr lang="en-IN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r>
              <a:rPr lang="en-IN" i="1" dirty="0">
                <a:solidFill>
                  <a:srgbClr val="002060"/>
                </a:solidFill>
              </a:rPr>
              <a:t>Google </a:t>
            </a:r>
            <a:endParaRPr lang="en-IN" sz="1800" i="1" dirty="0">
              <a:solidFill>
                <a:srgbClr val="002060"/>
              </a:solidFill>
            </a:endParaRPr>
          </a:p>
          <a:p>
            <a:pPr marL="0" indent="0" algn="l">
              <a:buNone/>
            </a:pP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Experience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IN" sz="1800" i="1" dirty="0"/>
              <a:t>12 Years</a:t>
            </a:r>
          </a:p>
          <a:p>
            <a:pPr marL="0" indent="0" algn="l">
              <a:buNone/>
            </a:pP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Designation</a:t>
            </a:r>
            <a:r>
              <a:rPr lang="en-IN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IN" sz="1800" i="1" dirty="0"/>
              <a:t>Lead Data scientist</a:t>
            </a:r>
          </a:p>
          <a:p>
            <a:pPr marL="0" indent="0" algn="l">
              <a:buNone/>
            </a:pP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MTech </a:t>
            </a:r>
            <a:r>
              <a:rPr lang="en-IN" sz="18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    </a:t>
            </a:r>
            <a:r>
              <a:rPr lang="en-IN" sz="1800" i="1" dirty="0"/>
              <a:t>JNTU Hyderabad</a:t>
            </a:r>
          </a:p>
          <a:p>
            <a:pPr marL="0" indent="0" algn="l">
              <a:buNone/>
            </a:pP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PG Diploma in Data Science :</a:t>
            </a:r>
            <a:r>
              <a:rPr lang="en-IN" sz="1800" b="1" dirty="0">
                <a:solidFill>
                  <a:srgbClr val="002060"/>
                </a:solidFill>
              </a:rPr>
              <a:t> </a:t>
            </a:r>
            <a:r>
              <a:rPr lang="en-IN" sz="1800" i="1" dirty="0"/>
              <a:t>IIT Tirupati</a:t>
            </a:r>
            <a:r>
              <a:rPr lang="en-IN" sz="1800" dirty="0"/>
              <a:t>.</a:t>
            </a:r>
          </a:p>
          <a:p>
            <a:pPr algn="l"/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Lead Data science trainer at Naresh IT</a:t>
            </a:r>
          </a:p>
          <a:p>
            <a:pPr algn="l"/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Science SME at Naresh IT</a:t>
            </a:r>
          </a:p>
          <a:p>
            <a:pPr algn="l"/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Azure Data science Certified</a:t>
            </a:r>
          </a:p>
          <a:p>
            <a:pPr algn="l"/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GCP ML Engineer Certified </a:t>
            </a:r>
          </a:p>
          <a:p>
            <a:pPr algn="l"/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Collaborated with Praxis Business school, Brillo, Bhartiya Vidhya Peet, </a:t>
            </a:r>
            <a:r>
              <a:rPr lang="en-IN" sz="1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UpGrade</a:t>
            </a: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sz="1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Spjain</a:t>
            </a: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IMS Pro schoo</a:t>
            </a:r>
            <a: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endParaRPr lang="en-IN" sz="1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1800" b="1" dirty="0">
              <a:solidFill>
                <a:srgbClr val="002060"/>
              </a:solidFill>
            </a:endParaRPr>
          </a:p>
          <a:p>
            <a:pPr marL="0" indent="0" algn="l">
              <a:buNone/>
            </a:pPr>
            <a:r>
              <a:rPr lang="en-I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https://www.linkedin.com/in/nallagoni-omkar-783271188/</a:t>
            </a:r>
            <a:endParaRPr lang="en-IN" sz="1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242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o alternative text description for this image">
            <a:extLst>
              <a:ext uri="{FF2B5EF4-FFF2-40B4-BE49-F238E27FC236}">
                <a16:creationId xmlns:a16="http://schemas.microsoft.com/office/drawing/2014/main" id="{CDF4DDCC-5741-4839-8FBC-1FE26E65E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034" y="1938737"/>
            <a:ext cx="5116033" cy="287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A871BF-8E69-A056-9956-1E8E508F9610}"/>
              </a:ext>
            </a:extLst>
          </p:cNvPr>
          <p:cNvSpPr txBox="1"/>
          <p:nvPr/>
        </p:nvSpPr>
        <p:spPr>
          <a:xfrm>
            <a:off x="494907" y="40922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Will show some Pictures now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02640-3591-98DE-23F4-C60F8EF6EB76}"/>
              </a:ext>
            </a:extLst>
          </p:cNvPr>
          <p:cNvSpPr txBox="1"/>
          <p:nvPr/>
        </p:nvSpPr>
        <p:spPr>
          <a:xfrm>
            <a:off x="668674" y="1070340"/>
            <a:ext cx="1110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Picture-1: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0618D-C5B7-36D2-2640-A867C3D22254}"/>
              </a:ext>
            </a:extLst>
          </p:cNvPr>
          <p:cNvSpPr txBox="1"/>
          <p:nvPr/>
        </p:nvSpPr>
        <p:spPr>
          <a:xfrm>
            <a:off x="1778914" y="51266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What is your thoughts on above picture ?</a:t>
            </a:r>
          </a:p>
        </p:txBody>
      </p:sp>
    </p:spTree>
    <p:extLst>
      <p:ext uri="{BB962C8B-B14F-4D97-AF65-F5344CB8AC3E}">
        <p14:creationId xmlns:p14="http://schemas.microsoft.com/office/powerpoint/2010/main" val="269275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B3A81BB-3D31-F5E3-4618-9D1235A60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347" y="1275638"/>
            <a:ext cx="3140786" cy="3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41DA45-E689-77F4-4FD1-D1DA45549EDD}"/>
              </a:ext>
            </a:extLst>
          </p:cNvPr>
          <p:cNvSpPr txBox="1"/>
          <p:nvPr/>
        </p:nvSpPr>
        <p:spPr>
          <a:xfrm>
            <a:off x="668674" y="677839"/>
            <a:ext cx="1110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Picture-2: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37711-272D-5C8D-672C-5EFE41B5C4D3}"/>
              </a:ext>
            </a:extLst>
          </p:cNvPr>
          <p:cNvSpPr txBox="1"/>
          <p:nvPr/>
        </p:nvSpPr>
        <p:spPr>
          <a:xfrm>
            <a:off x="1572405" y="5551709"/>
            <a:ext cx="4359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What is your thoughts on above picture ?</a:t>
            </a:r>
          </a:p>
        </p:txBody>
      </p:sp>
    </p:spTree>
    <p:extLst>
      <p:ext uri="{BB962C8B-B14F-4D97-AF65-F5344CB8AC3E}">
        <p14:creationId xmlns:p14="http://schemas.microsoft.com/office/powerpoint/2010/main" val="404103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 50 Funny Programming Memes: Bringing Code to Life with Laughter">
            <a:extLst>
              <a:ext uri="{FF2B5EF4-FFF2-40B4-BE49-F238E27FC236}">
                <a16:creationId xmlns:a16="http://schemas.microsoft.com/office/drawing/2014/main" id="{194F3FC7-55A8-C842-2C97-D0CCBF178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343" y="1166462"/>
            <a:ext cx="3920553" cy="421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7F5D6D-F10E-F718-AF0E-A802F0879634}"/>
              </a:ext>
            </a:extLst>
          </p:cNvPr>
          <p:cNvSpPr txBox="1"/>
          <p:nvPr/>
        </p:nvSpPr>
        <p:spPr>
          <a:xfrm>
            <a:off x="523188" y="5411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Picture-3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85F38-8C9B-BFB4-77E0-F7B89F224595}"/>
              </a:ext>
            </a:extLst>
          </p:cNvPr>
          <p:cNvSpPr txBox="1"/>
          <p:nvPr/>
        </p:nvSpPr>
        <p:spPr>
          <a:xfrm>
            <a:off x="1572405" y="5551709"/>
            <a:ext cx="4359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What is your thoughts on above picture ?</a:t>
            </a:r>
          </a:p>
        </p:txBody>
      </p:sp>
    </p:spTree>
    <p:extLst>
      <p:ext uri="{BB962C8B-B14F-4D97-AF65-F5344CB8AC3E}">
        <p14:creationId xmlns:p14="http://schemas.microsoft.com/office/powerpoint/2010/main" val="135994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43918-485D-D603-C084-30E1BA969E00}"/>
              </a:ext>
            </a:extLst>
          </p:cNvPr>
          <p:cNvSpPr txBox="1"/>
          <p:nvPr/>
        </p:nvSpPr>
        <p:spPr>
          <a:xfrm>
            <a:off x="3016579" y="2205871"/>
            <a:ext cx="341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121014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6499FE25-6694-04FA-0052-0478E343C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39409E7-94F0-B6FB-7F2E-157BCF432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F3B8278-E698-46AD-EF2F-21DD81881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F3BB33-9118-642E-FC26-39CEBAA675AE}"/>
              </a:ext>
            </a:extLst>
          </p:cNvPr>
          <p:cNvSpPr/>
          <p:nvPr/>
        </p:nvSpPr>
        <p:spPr>
          <a:xfrm>
            <a:off x="822110" y="1036278"/>
            <a:ext cx="2154356" cy="119373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tagline for an ice cream shop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79896E-DD03-E76D-3003-95AC0CB4D05F}"/>
              </a:ext>
            </a:extLst>
          </p:cNvPr>
          <p:cNvSpPr/>
          <p:nvPr/>
        </p:nvSpPr>
        <p:spPr>
          <a:xfrm>
            <a:off x="922040" y="1139632"/>
            <a:ext cx="1035698" cy="3255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Prompt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89CEDA-B3DA-8A76-4A8F-E65D1A416580}"/>
              </a:ext>
            </a:extLst>
          </p:cNvPr>
          <p:cNvSpPr/>
          <p:nvPr/>
        </p:nvSpPr>
        <p:spPr>
          <a:xfrm>
            <a:off x="804732" y="2371135"/>
            <a:ext cx="2171733" cy="119373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B050"/>
                </a:solidFill>
              </a:rPr>
              <a:t>Response</a:t>
            </a:r>
          </a:p>
          <a:p>
            <a:endParaRPr lang="en-IN" dirty="0"/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serve up smiles with every scoop!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BFAFE4-BEC5-0453-8E94-E0BF6C5DE65C}"/>
              </a:ext>
            </a:extLst>
          </p:cNvPr>
          <p:cNvSpPr/>
          <p:nvPr/>
        </p:nvSpPr>
        <p:spPr>
          <a:xfrm>
            <a:off x="3063513" y="1054043"/>
            <a:ext cx="1946989" cy="12211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I’m having trouble getting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Ybox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turn on</a:t>
            </a:r>
            <a:r>
              <a:rPr lang="en-IN" dirty="0"/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B14DC7-CF13-CCE6-DD42-F254EAE2AC59}"/>
              </a:ext>
            </a:extLst>
          </p:cNvPr>
          <p:cNvSpPr/>
          <p:nvPr/>
        </p:nvSpPr>
        <p:spPr>
          <a:xfrm>
            <a:off x="3169636" y="1157099"/>
            <a:ext cx="1073293" cy="325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Prompt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86833D-5AC3-9BC2-5806-F17875CCAC2C}"/>
              </a:ext>
            </a:extLst>
          </p:cNvPr>
          <p:cNvSpPr/>
          <p:nvPr/>
        </p:nvSpPr>
        <p:spPr>
          <a:xfrm>
            <a:off x="3062122" y="2376594"/>
            <a:ext cx="2012304" cy="1244501"/>
          </a:xfrm>
          <a:prstGeom prst="roundRect">
            <a:avLst>
              <a:gd name="adj" fmla="val 153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Response</a:t>
            </a:r>
          </a:p>
          <a:p>
            <a:endParaRPr lang="en-IN" dirty="0"/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 few things you can try to troubleshoot this issue - -</a:t>
            </a:r>
          </a:p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3D3FDB-E3AE-E7A4-578D-8136D5E5DAA7}"/>
              </a:ext>
            </a:extLst>
          </p:cNvPr>
          <p:cNvSpPr/>
          <p:nvPr/>
        </p:nvSpPr>
        <p:spPr>
          <a:xfrm>
            <a:off x="2996727" y="3751664"/>
            <a:ext cx="2080559" cy="1578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Thanks! That worked. What games do you recommend for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14-year-old?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4BE9E4-9402-79B1-F7EB-34AEC0795503}"/>
              </a:ext>
            </a:extLst>
          </p:cNvPr>
          <p:cNvSpPr/>
          <p:nvPr/>
        </p:nvSpPr>
        <p:spPr>
          <a:xfrm>
            <a:off x="3169636" y="3768472"/>
            <a:ext cx="1091681" cy="387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Prompt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45C055-5EE8-EC77-A5EA-B8A0CEDF8001}"/>
              </a:ext>
            </a:extLst>
          </p:cNvPr>
          <p:cNvSpPr/>
          <p:nvPr/>
        </p:nvSpPr>
        <p:spPr>
          <a:xfrm>
            <a:off x="3062122" y="5477768"/>
            <a:ext cx="2008855" cy="12782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B050"/>
                </a:solidFill>
              </a:rPr>
              <a:t>Response</a:t>
            </a:r>
          </a:p>
          <a:p>
            <a:endParaRPr lang="en-IN" dirty="0"/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a few games that you might consider: -</a:t>
            </a:r>
          </a:p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0BE6E8-3CF9-69BF-41A7-F159FFC694EB}"/>
              </a:ext>
            </a:extLst>
          </p:cNvPr>
          <p:cNvSpPr/>
          <p:nvPr/>
        </p:nvSpPr>
        <p:spPr>
          <a:xfrm>
            <a:off x="5181599" y="1063952"/>
            <a:ext cx="3153747" cy="21995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customers, columns=[CustomerId,FirstNAme,LasrName,Company,Address,City,State,Country,PostalCode]</a:t>
            </a:r>
            <a:endParaRPr lang="en-IN" dirty="0"/>
          </a:p>
          <a:p>
            <a:endParaRPr lang="en-IN" dirty="0"/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SQL query for all customers in Texas names jane query=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224EDF-38EB-1EB0-4658-02AB53DBB173}"/>
              </a:ext>
            </a:extLst>
          </p:cNvPr>
          <p:cNvSpPr/>
          <p:nvPr/>
        </p:nvSpPr>
        <p:spPr>
          <a:xfrm>
            <a:off x="5278549" y="1194026"/>
            <a:ext cx="998108" cy="3361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Prompt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2DAFB4-4E0B-BC0A-1C12-CC3C5117E7A7}"/>
              </a:ext>
            </a:extLst>
          </p:cNvPr>
          <p:cNvSpPr/>
          <p:nvPr/>
        </p:nvSpPr>
        <p:spPr>
          <a:xfrm>
            <a:off x="5198706" y="3476662"/>
            <a:ext cx="3136640" cy="13795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Response</a:t>
            </a:r>
          </a:p>
          <a:p>
            <a:endParaRPr lang="en-IN" dirty="0"/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Customers WHERE State=‘TX’ AND FirstName=‘Jane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A28FA2-0260-DF9B-1040-D7573A7D64A3}"/>
              </a:ext>
            </a:extLst>
          </p:cNvPr>
          <p:cNvSpPr/>
          <p:nvPr/>
        </p:nvSpPr>
        <p:spPr>
          <a:xfrm>
            <a:off x="8467529" y="1063952"/>
            <a:ext cx="2919739" cy="18571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/>
              <a:t>A ball of fire with vibrant colours to show the speed of innovation at our media and entertainment company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99B36D-9F26-34A0-AD7F-7139C859BE65}"/>
              </a:ext>
            </a:extLst>
          </p:cNvPr>
          <p:cNvSpPr/>
          <p:nvPr/>
        </p:nvSpPr>
        <p:spPr>
          <a:xfrm>
            <a:off x="8616818" y="1195138"/>
            <a:ext cx="1042184" cy="3350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Prompt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FA2694-8116-BD17-2C0C-0C283A525E86}"/>
              </a:ext>
            </a:extLst>
          </p:cNvPr>
          <p:cNvSpPr/>
          <p:nvPr/>
        </p:nvSpPr>
        <p:spPr>
          <a:xfrm>
            <a:off x="8467529" y="3157110"/>
            <a:ext cx="2919739" cy="29357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B050"/>
                </a:solidFill>
              </a:rPr>
              <a:t>Response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0" name="Picture 4" descr="Soccer Ball On Fire Wallpapers - Wallpaper Cave">
            <a:extLst>
              <a:ext uri="{FF2B5EF4-FFF2-40B4-BE49-F238E27FC236}">
                <a16:creationId xmlns:a16="http://schemas.microsoft.com/office/drawing/2014/main" id="{0B2DB0C0-6CEE-929C-62D6-9D0F77A8F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966" y="3751664"/>
            <a:ext cx="2048072" cy="187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05691ED-BF9E-097D-E88C-04711FBE9ED3}"/>
              </a:ext>
            </a:extLst>
          </p:cNvPr>
          <p:cNvSpPr/>
          <p:nvPr/>
        </p:nvSpPr>
        <p:spPr>
          <a:xfrm>
            <a:off x="3590658" y="18118"/>
            <a:ext cx="4373889" cy="914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140001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aceApp Challenge: Twitterati loving 'aged' looks of Virat Kohli, MS Dhoni,  Rohit Sharma and others">
            <a:extLst>
              <a:ext uri="{FF2B5EF4-FFF2-40B4-BE49-F238E27FC236}">
                <a16:creationId xmlns:a16="http://schemas.microsoft.com/office/drawing/2014/main" id="{A63945A6-3B0E-8C86-4D6B-D72CD7DC6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17" y="289602"/>
            <a:ext cx="2094810" cy="156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All you need to know about deepfakes and why they are dangerous - Articles">
            <a:extLst>
              <a:ext uri="{FF2B5EF4-FFF2-40B4-BE49-F238E27FC236}">
                <a16:creationId xmlns:a16="http://schemas.microsoft.com/office/drawing/2014/main" id="{C143E4DF-DA6A-505F-79A6-6A66D5E92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362" y="4308050"/>
            <a:ext cx="2488404" cy="180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Deepfake AI images of the Mona Lisa. ">
            <a:extLst>
              <a:ext uri="{FF2B5EF4-FFF2-40B4-BE49-F238E27FC236}">
                <a16:creationId xmlns:a16="http://schemas.microsoft.com/office/drawing/2014/main" id="{7D3D33D4-1EF2-1622-41B0-540E1B788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627" y="2060666"/>
            <a:ext cx="3851111" cy="216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80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C6D50-1142-CF4A-B9DB-2924A3276D50}"/>
              </a:ext>
            </a:extLst>
          </p:cNvPr>
          <p:cNvSpPr txBox="1"/>
          <p:nvPr/>
        </p:nvSpPr>
        <p:spPr>
          <a:xfrm>
            <a:off x="2432117" y="2422688"/>
            <a:ext cx="4553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Large Language Model </a:t>
            </a:r>
          </a:p>
        </p:txBody>
      </p:sp>
    </p:spTree>
    <p:extLst>
      <p:ext uri="{BB962C8B-B14F-4D97-AF65-F5344CB8AC3E}">
        <p14:creationId xmlns:p14="http://schemas.microsoft.com/office/powerpoint/2010/main" val="200497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5811-CD75-BEC0-CD5B-E365EFEA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C540B99-F575-1CDF-0899-9DA1CE244C4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7370064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LLMs are AI systems trained on Massive amount of  text datasets to generate human-like responses.</a:t>
            </a:r>
          </a:p>
          <a:p>
            <a:endParaRPr lang="en-GB" sz="2000" dirty="0"/>
          </a:p>
          <a:p>
            <a:r>
              <a:rPr lang="en-GB" sz="2000" dirty="0">
                <a:solidFill>
                  <a:srgbClr val="FF0000"/>
                </a:solidFill>
              </a:rPr>
              <a:t>Example:</a:t>
            </a:r>
          </a:p>
          <a:p>
            <a:r>
              <a:rPr lang="en-GB" sz="2000" dirty="0">
                <a:solidFill>
                  <a:srgbClr val="FF0000"/>
                </a:solidFill>
              </a:rPr>
              <a:t>User: 'Tell me about quantum physics.'</a:t>
            </a:r>
          </a:p>
          <a:p>
            <a:r>
              <a:rPr lang="en-GB" sz="2000" dirty="0">
                <a:solidFill>
                  <a:srgbClr val="FF0000"/>
                </a:solidFill>
              </a:rPr>
              <a:t>AI: 'Quantum physics studies particles at microscopic scales...'</a:t>
            </a:r>
          </a:p>
          <a:p>
            <a:endParaRPr lang="en-GB" sz="2000" dirty="0"/>
          </a:p>
          <a:p>
            <a:r>
              <a:rPr lang="en-GB" sz="2000" dirty="0"/>
              <a:t>Mistake: Without proper prompts, AI may generate incorrect or vague information.</a:t>
            </a:r>
          </a:p>
          <a:p>
            <a:r>
              <a:rPr lang="en-GB" sz="2000" dirty="0"/>
              <a:t>Solution: Use precise prompts to get better responses.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17BAFA-D294-4286-53BC-21C2C51523CF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LLM (Large Language Model)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CC648-0419-E745-E8FC-762BD3FDC8C0}"/>
              </a:ext>
            </a:extLst>
          </p:cNvPr>
          <p:cNvSpPr/>
          <p:nvPr/>
        </p:nvSpPr>
        <p:spPr>
          <a:xfrm>
            <a:off x="457200" y="2667785"/>
            <a:ext cx="7093670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83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5339ED-EC75-11E7-49CE-A0AE71512FDC}"/>
              </a:ext>
            </a:extLst>
          </p:cNvPr>
          <p:cNvSpPr txBox="1"/>
          <p:nvPr/>
        </p:nvSpPr>
        <p:spPr>
          <a:xfrm>
            <a:off x="515112" y="3980379"/>
            <a:ext cx="67513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Importance of LLMs</a:t>
            </a:r>
          </a:p>
          <a:p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Saves Time &amp; Effort</a:t>
            </a:r>
            <a:r>
              <a:rPr lang="en-US" sz="1600" dirty="0"/>
              <a:t> – Automates work, increasing efficiency.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Enhances Communication</a:t>
            </a:r>
            <a:r>
              <a:rPr lang="en-US" sz="1600" dirty="0"/>
              <a:t> – Translates languages and improves accessibility.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Boosts Innovation</a:t>
            </a:r>
            <a:r>
              <a:rPr lang="en-US" sz="1600" dirty="0"/>
              <a:t> – Helps in research, coding, and creative writing.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Improves Decision-Making</a:t>
            </a:r>
            <a:r>
              <a:rPr lang="en-US" sz="1600" dirty="0"/>
              <a:t> – Analyzes data and provides insights.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1708FA-EA71-0DE3-2EED-1E125651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43" y="608076"/>
            <a:ext cx="5051298" cy="2844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4DE92CD-A6C6-6C9F-2A85-CC1F1897D6E6}"/>
              </a:ext>
            </a:extLst>
          </p:cNvPr>
          <p:cNvSpPr/>
          <p:nvPr/>
        </p:nvSpPr>
        <p:spPr>
          <a:xfrm>
            <a:off x="109728" y="424206"/>
            <a:ext cx="9034272" cy="33370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2" descr="Ultimate Guide To Understanding Large Language Models (LLMs), Types, Process and Application">
            <a:extLst>
              <a:ext uri="{FF2B5EF4-FFF2-40B4-BE49-F238E27FC236}">
                <a16:creationId xmlns:a16="http://schemas.microsoft.com/office/drawing/2014/main" id="{FD37C310-AB6D-137C-95D5-D1B3498EC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706" y="483977"/>
            <a:ext cx="3157728" cy="321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53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776D65-0630-FAEE-1526-EB3986011A91}"/>
              </a:ext>
            </a:extLst>
          </p:cNvPr>
          <p:cNvSpPr txBox="1">
            <a:spLocks/>
          </p:cNvSpPr>
          <p:nvPr/>
        </p:nvSpPr>
        <p:spPr>
          <a:xfrm>
            <a:off x="457200" y="1182624"/>
            <a:ext cx="6870192" cy="4943539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 </a:t>
            </a:r>
            <a:r>
              <a:rPr lang="en-US" sz="2400" b="1" dirty="0"/>
              <a:t>Transformer</a:t>
            </a:r>
            <a:r>
              <a:rPr lang="en-US" sz="2400" dirty="0"/>
              <a:t> is a type of deep learning model used in </a:t>
            </a:r>
            <a:r>
              <a:rPr lang="en-US" sz="2400" b="1" dirty="0"/>
              <a:t>Natural Language Processing (NLP)</a:t>
            </a:r>
            <a:r>
              <a:rPr lang="en-US" sz="2400" dirty="0"/>
              <a:t> and other AI tasks. It processes and understands data by focusing on important parts of the input using a mechanism called </a:t>
            </a:r>
            <a:r>
              <a:rPr lang="en-US" sz="2400" b="1" dirty="0"/>
              <a:t>"attention."</a:t>
            </a:r>
            <a:endParaRPr lang="en-GB" sz="2400" dirty="0"/>
          </a:p>
          <a:p>
            <a:r>
              <a:rPr lang="en-GB" sz="2400" dirty="0"/>
              <a:t>Neural networks that use self-attention to process sequential data.</a:t>
            </a:r>
          </a:p>
          <a:p>
            <a:endParaRPr lang="en-GB" sz="2400" dirty="0"/>
          </a:p>
          <a:p>
            <a:r>
              <a:rPr lang="en-GB" sz="2400" dirty="0">
                <a:solidFill>
                  <a:srgbClr val="FF0000"/>
                </a:solidFill>
              </a:rPr>
              <a:t>Example:</a:t>
            </a:r>
          </a:p>
          <a:p>
            <a:r>
              <a:rPr lang="en-GB" sz="2400" dirty="0">
                <a:solidFill>
                  <a:srgbClr val="FF0000"/>
                </a:solidFill>
              </a:rPr>
              <a:t>Transformers power ChatGPT, BERT, and T5 models for language understanding.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Mistake: Without enough training data, transformers may struggle with context.</a:t>
            </a:r>
          </a:p>
          <a:p>
            <a:r>
              <a:rPr lang="en-GB" sz="2400" dirty="0"/>
              <a:t>Solution: Train on diverse datasets for better understanding.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D58690-182F-7ADF-263C-BEA69A5E2AD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Transformers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3D0303-7DA4-815A-B57C-3915BE3D0FE3}"/>
              </a:ext>
            </a:extLst>
          </p:cNvPr>
          <p:cNvSpPr/>
          <p:nvPr/>
        </p:nvSpPr>
        <p:spPr>
          <a:xfrm>
            <a:off x="457200" y="3289955"/>
            <a:ext cx="6870192" cy="12820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184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FE1D7-3396-3FC0-2057-B3B399C18544}"/>
              </a:ext>
            </a:extLst>
          </p:cNvPr>
          <p:cNvSpPr txBox="1"/>
          <p:nvPr/>
        </p:nvSpPr>
        <p:spPr>
          <a:xfrm>
            <a:off x="501976" y="1244457"/>
            <a:ext cx="725213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art of designing inputs to guide AI for optimal responses.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Example:</a:t>
            </a:r>
          </a:p>
          <a:p>
            <a:endParaRPr lang="en-US" sz="1800" dirty="0"/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Prompt: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"What is 24 × 5?"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✅ </a:t>
            </a:r>
            <a:r>
              <a:rPr lang="en-US" b="1" dirty="0">
                <a:solidFill>
                  <a:srgbClr val="FF0000"/>
                </a:solidFill>
              </a:rPr>
              <a:t>AI Response: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"120“</a:t>
            </a:r>
          </a:p>
          <a:p>
            <a:endParaRPr lang="en-US" sz="1800" dirty="0"/>
          </a:p>
          <a:p>
            <a:r>
              <a:rPr lang="en-US" sz="1800" dirty="0"/>
              <a:t>Mistake: Vague prompts lead to irrelevant or overly broad answers.</a:t>
            </a:r>
          </a:p>
          <a:p>
            <a:r>
              <a:rPr lang="en-US" sz="1800" dirty="0"/>
              <a:t>Solution: Be specific and structured.</a:t>
            </a:r>
          </a:p>
          <a:p>
            <a:endParaRPr lang="en-US" dirty="0"/>
          </a:p>
          <a:p>
            <a:endParaRPr lang="en-US" sz="1800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Basic Prompt:</a:t>
            </a:r>
            <a:r>
              <a:rPr lang="en-US" dirty="0">
                <a:solidFill>
                  <a:srgbClr val="FF0000"/>
                </a:solidFill>
              </a:rPr>
              <a:t> "Write about climate change.“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Optimized Prompt:</a:t>
            </a:r>
            <a:r>
              <a:rPr lang="en-US" dirty="0">
                <a:solidFill>
                  <a:srgbClr val="FF0000"/>
                </a:solidFill>
              </a:rPr>
              <a:t> "Write a 300-word article on the effects of climate change on agriculture, with examples from different continents."</a:t>
            </a:r>
          </a:p>
          <a:p>
            <a:endParaRPr lang="en-US" dirty="0"/>
          </a:p>
          <a:p>
            <a:endParaRPr lang="en-US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53BBD4-04C6-2EE4-9E4E-EE27D57CE90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Prompt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69A25-3D35-7E66-CA42-A5A05E7FF975}"/>
              </a:ext>
            </a:extLst>
          </p:cNvPr>
          <p:cNvSpPr/>
          <p:nvPr/>
        </p:nvSpPr>
        <p:spPr>
          <a:xfrm>
            <a:off x="2281287" y="2573518"/>
            <a:ext cx="2969443" cy="8554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A46BF7-8781-B36B-5261-1F844974704C}"/>
              </a:ext>
            </a:extLst>
          </p:cNvPr>
          <p:cNvSpPr/>
          <p:nvPr/>
        </p:nvSpPr>
        <p:spPr>
          <a:xfrm>
            <a:off x="948965" y="4491588"/>
            <a:ext cx="6805147" cy="15132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3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346DA33-D93F-10B8-8B7F-D4D45D1AF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106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39776"/>
            <a:ext cx="6347713" cy="747776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chemeClr val="tx1"/>
                </a:solidFill>
              </a:rPr>
              <a:t>Chain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013" y="1468319"/>
            <a:ext cx="7083553" cy="5742432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Chain of Thought (</a:t>
            </a:r>
            <a:r>
              <a:rPr lang="en-US" sz="1800" b="1" dirty="0" err="1">
                <a:solidFill>
                  <a:schemeClr val="tx1"/>
                </a:solidFill>
              </a:rPr>
              <a:t>CoT</a:t>
            </a:r>
            <a:r>
              <a:rPr lang="en-US" sz="1800" b="1" dirty="0">
                <a:solidFill>
                  <a:schemeClr val="tx1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is a reasoning technique used in artificial intelligence (AI) and natural language processing (NLP) where an AI model is encouraged to break down complex problems into smaller, logical steps. Instead of providing a direct answer, </a:t>
            </a:r>
            <a:r>
              <a:rPr lang="en-US" sz="1800" dirty="0" err="1">
                <a:solidFill>
                  <a:schemeClr val="tx1"/>
                </a:solidFill>
              </a:rPr>
              <a:t>CoT</a:t>
            </a:r>
            <a:r>
              <a:rPr lang="en-US" sz="1800" dirty="0">
                <a:solidFill>
                  <a:schemeClr val="tx1"/>
                </a:solidFill>
              </a:rPr>
              <a:t> allows the model to </a:t>
            </a:r>
            <a:r>
              <a:rPr lang="en-US" sz="1800" b="1" dirty="0">
                <a:solidFill>
                  <a:schemeClr val="tx1"/>
                </a:solidFill>
              </a:rPr>
              <a:t>think step by step</a:t>
            </a:r>
            <a:r>
              <a:rPr lang="en-US" sz="1800" dirty="0">
                <a:solidFill>
                  <a:schemeClr val="tx1"/>
                </a:solidFill>
              </a:rPr>
              <a:t>, improving its reasoning capabilities.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sz="1800" dirty="0">
                <a:solidFill>
                  <a:schemeClr val="tx1"/>
                </a:solidFill>
              </a:rPr>
              <a:t>Breaking complex problems into logical steps for better reasoning.</a:t>
            </a:r>
          </a:p>
          <a:p>
            <a:pPr marL="0" indent="0">
              <a:buNone/>
            </a:pPr>
            <a:endParaRPr sz="1800" dirty="0"/>
          </a:p>
          <a:p>
            <a:r>
              <a:rPr sz="1800" dirty="0">
                <a:solidFill>
                  <a:srgbClr val="FF0000"/>
                </a:solidFill>
              </a:rPr>
              <a:t>Mistake: Direct answers may lack clarity.</a:t>
            </a:r>
          </a:p>
          <a:p>
            <a:r>
              <a:rPr sz="1800" dirty="0">
                <a:solidFill>
                  <a:srgbClr val="FF0000"/>
                </a:solidFill>
              </a:rPr>
              <a:t>Solution: Guide the model through step-by-step reasoning.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891655-CBDA-F5CC-8E8E-754811905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73502"/>
              </p:ext>
            </p:extLst>
          </p:nvPr>
        </p:nvGraphicFramePr>
        <p:xfrm>
          <a:off x="0" y="8758"/>
          <a:ext cx="9144000" cy="6991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180471070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037331872"/>
                    </a:ext>
                  </a:extLst>
                </a:gridCol>
              </a:tblGrid>
              <a:tr h="5907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 PROMPT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CHAIN OF THOUGHT PROMPT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010632"/>
                  </a:ext>
                </a:extLst>
              </a:tr>
              <a:tr h="625845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Normal Prompt: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Q: The cafeteria had 23 apples. If they used 20 to make lunch and bought 6 more. How many apples do they have?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AI Response:</a:t>
                      </a:r>
                    </a:p>
                    <a:p>
                      <a:r>
                        <a:rPr lang="en-GB" dirty="0"/>
                        <a:t>               </a:t>
                      </a:r>
                      <a:r>
                        <a:rPr lang="en-GB" b="1" dirty="0"/>
                        <a:t>9 apples</a:t>
                      </a:r>
                      <a:r>
                        <a:rPr lang="en-GB" dirty="0"/>
                        <a:t>.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Chain of thought </a:t>
                      </a:r>
                      <a:r>
                        <a:rPr lang="en-US" dirty="0"/>
                        <a:t>Prompt: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Q: Roger has 5 tennis balls. He buys 2 more cans of tennis balls. How many tennis balls does he have now?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A: Roger started with 5balls. </a:t>
                      </a:r>
                    </a:p>
                    <a:p>
                      <a:r>
                        <a:rPr lang="en-US" dirty="0"/>
                        <a:t>    2cans of 3 tennis balls each is 6 tennis      balls. </a:t>
                      </a:r>
                    </a:p>
                    <a:p>
                      <a:r>
                        <a:rPr lang="en-US" dirty="0"/>
                        <a:t>    5+6=11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Q: The cafeteria had 23 apples. If they used 20 to make lunch and bought 6 more. How many apples do they have?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AI Response: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A: The cafeteria had 23 apples originally. They used 20 to make lunch. So they had 23-20=3. they bought 6 more apples. So they have 3+6=9. The answer is 9.	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30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050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C33401A-E5B0-6074-AAB7-EF086B6F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658368"/>
            <a:ext cx="7346823" cy="551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011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27" y="249936"/>
            <a:ext cx="6347713" cy="719328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Zero-Shot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91997"/>
            <a:ext cx="7233502" cy="445640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ZSL enables a model to generalize knowledge from known classes to unseen ones using auxiliary information, such as descriptions, attributes, or semantic embeddings.</a:t>
            </a:r>
          </a:p>
          <a:p>
            <a:r>
              <a:rPr sz="1800" dirty="0">
                <a:solidFill>
                  <a:schemeClr val="tx1"/>
                </a:solidFill>
              </a:rPr>
              <a:t>AI generates responses without prior examples.</a:t>
            </a:r>
          </a:p>
          <a:p>
            <a:endParaRPr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rgbClr val="FF0000"/>
                </a:solidFill>
              </a:rPr>
              <a:t>Example:</a:t>
            </a:r>
          </a:p>
          <a:p>
            <a:pPr lvl="2"/>
            <a:r>
              <a:rPr lang="it-IT" b="1" dirty="0">
                <a:solidFill>
                  <a:srgbClr val="FF0000"/>
                </a:solidFill>
              </a:rPr>
              <a:t>Prompt: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i="1" dirty="0">
                <a:solidFill>
                  <a:srgbClr val="FF0000"/>
                </a:solidFill>
              </a:rPr>
              <a:t>"Solve 24 × 5."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rgbClr val="FF0000"/>
                </a:solidFill>
              </a:rPr>
              <a:t>✅ </a:t>
            </a:r>
            <a:r>
              <a:rPr lang="it-IT" b="1" dirty="0">
                <a:solidFill>
                  <a:srgbClr val="FF0000"/>
                </a:solidFill>
              </a:rPr>
              <a:t>AI Response: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i="1" dirty="0">
                <a:solidFill>
                  <a:srgbClr val="FF0000"/>
                </a:solidFill>
              </a:rPr>
              <a:t>"120."</a:t>
            </a:r>
            <a:endParaRPr dirty="0">
              <a:solidFill>
                <a:srgbClr val="FF0000"/>
              </a:solidFill>
            </a:endParaRPr>
          </a:p>
          <a:p>
            <a:r>
              <a:rPr dirty="0">
                <a:solidFill>
                  <a:srgbClr val="FF0000"/>
                </a:solidFill>
              </a:rPr>
              <a:t>Mistake: May produce incorrect results without examples.</a:t>
            </a:r>
          </a:p>
          <a:p>
            <a:r>
              <a:rPr dirty="0">
                <a:solidFill>
                  <a:srgbClr val="00B050"/>
                </a:solidFill>
              </a:rPr>
              <a:t>Solution: Use clear instructions or provide few-shot examples.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CF88CA-700C-1F7F-8E1F-8B1105C6D26F}"/>
              </a:ext>
            </a:extLst>
          </p:cNvPr>
          <p:cNvSpPr/>
          <p:nvPr/>
        </p:nvSpPr>
        <p:spPr>
          <a:xfrm>
            <a:off x="748614" y="3295001"/>
            <a:ext cx="4608576" cy="1036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E48BC-103A-76A8-45E9-704DE1E2E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438912"/>
            <a:ext cx="6608064" cy="565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35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3152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Few-Shot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330" y="1714861"/>
            <a:ext cx="7363969" cy="5023104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Few-Shot Learning (FSL)</a:t>
            </a:r>
            <a:r>
              <a:rPr lang="en-US" sz="1600" dirty="0">
                <a:solidFill>
                  <a:schemeClr val="tx1"/>
                </a:solidFill>
              </a:rPr>
              <a:t> is a machine learning approach that enables a model to make accurate predictions with very few training examples per class. Unlike traditional deep learning, which requires large amounts of labeled data, FSL allows models to generalize from a small number of examples, often leveraging prior knowledge.</a:t>
            </a:r>
          </a:p>
          <a:p>
            <a:r>
              <a:rPr sz="1600" dirty="0">
                <a:solidFill>
                  <a:schemeClr val="tx1"/>
                </a:solidFill>
              </a:rPr>
              <a:t>Providing examples before asking AI to generate output.</a:t>
            </a:r>
          </a:p>
          <a:p>
            <a:endParaRPr sz="1600" dirty="0"/>
          </a:p>
          <a:p>
            <a:r>
              <a:rPr sz="1600" dirty="0">
                <a:solidFill>
                  <a:srgbClr val="FF0000"/>
                </a:solidFill>
              </a:rPr>
              <a:t>Example: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Prompt: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i="1" dirty="0">
                <a:solidFill>
                  <a:srgbClr val="FF0000"/>
                </a:solidFill>
              </a:rPr>
              <a:t>Example 1: 12 × 5 = 60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i="1" dirty="0">
                <a:solidFill>
                  <a:srgbClr val="FF0000"/>
                </a:solidFill>
              </a:rPr>
              <a:t>Example 2: 16 × 5 = 80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i="1" dirty="0">
                <a:solidFill>
                  <a:srgbClr val="FF0000"/>
                </a:solidFill>
              </a:rPr>
              <a:t>Now solve 24 × 5.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✅ </a:t>
            </a:r>
            <a:r>
              <a:rPr lang="en-US" sz="1600" b="1" dirty="0">
                <a:solidFill>
                  <a:srgbClr val="FF0000"/>
                </a:solidFill>
              </a:rPr>
              <a:t>AI Response: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i="1" dirty="0">
                <a:solidFill>
                  <a:srgbClr val="FF0000"/>
                </a:solidFill>
              </a:rPr>
              <a:t>"24 × 5 = 120."</a:t>
            </a:r>
            <a:endParaRPr sz="1600" dirty="0">
              <a:solidFill>
                <a:srgbClr val="FF0000"/>
              </a:solidFill>
            </a:endParaRPr>
          </a:p>
          <a:p>
            <a:r>
              <a:rPr sz="1600" dirty="0">
                <a:solidFill>
                  <a:schemeClr val="tx1"/>
                </a:solidFill>
              </a:rPr>
              <a:t>Mistake: Without examples, the model might guess incorrectly.</a:t>
            </a:r>
          </a:p>
          <a:p>
            <a:r>
              <a:rPr sz="1600" dirty="0">
                <a:solidFill>
                  <a:schemeClr val="tx1"/>
                </a:solidFill>
              </a:rPr>
              <a:t>Solution: Providing examples improves accuracy.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DC82C-C185-81CE-2567-126720394D31}"/>
              </a:ext>
            </a:extLst>
          </p:cNvPr>
          <p:cNvSpPr/>
          <p:nvPr/>
        </p:nvSpPr>
        <p:spPr>
          <a:xfrm>
            <a:off x="279661" y="3360781"/>
            <a:ext cx="4986530" cy="17312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44A9D326-A19F-80EA-396A-97F571F85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28" y="609600"/>
            <a:ext cx="6583680" cy="547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186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871" y="-84829"/>
            <a:ext cx="7543800" cy="1450757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49803"/>
            <a:ext cx="7949185" cy="50962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Hallucinations are </a:t>
            </a:r>
            <a:r>
              <a:rPr lang="en-US" b="1" dirty="0">
                <a:solidFill>
                  <a:schemeClr val="tx1"/>
                </a:solidFill>
              </a:rPr>
              <a:t>sensory experiences that appear real but are created by the mind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dirty="0">
                <a:solidFill>
                  <a:schemeClr val="tx1"/>
                </a:solidFill>
              </a:rPr>
              <a:t>When AI generates false or misleading information.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Example: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Prompt:</a:t>
            </a:r>
            <a:r>
              <a:rPr lang="en-US" dirty="0">
                <a:solidFill>
                  <a:srgbClr val="FF0000"/>
                </a:solidFill>
              </a:rPr>
              <a:t> Asking for the Capital of France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AI Response: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"The capital of France is Paris. Paris is known as the ‘City of Light’ and is famous for landmarks like the Eiffel Tower, the Louvre, and Notre-Dame. It has a rich history dating back to Roman times and is also a global center for fashion, art, and culture."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dirty="0">
                <a:solidFill>
                  <a:srgbClr val="C00000"/>
                </a:solidFill>
              </a:rPr>
              <a:t>Mistake: AI sometimes generates plausible but incorrect facts.</a:t>
            </a:r>
          </a:p>
          <a:p>
            <a:r>
              <a:rPr dirty="0">
                <a:solidFill>
                  <a:srgbClr val="002060"/>
                </a:solidFill>
              </a:rPr>
              <a:t>Solution: Verify with external sources and fact-checking.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0CD98-851C-C572-78B0-074DCA016C9E}"/>
              </a:ext>
            </a:extLst>
          </p:cNvPr>
          <p:cNvSpPr/>
          <p:nvPr/>
        </p:nvSpPr>
        <p:spPr>
          <a:xfrm>
            <a:off x="609598" y="3083571"/>
            <a:ext cx="8058911" cy="21214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08" y="-5627"/>
            <a:ext cx="7543800" cy="1450757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519" y="1770228"/>
            <a:ext cx="7485889" cy="4553939"/>
          </a:xfrm>
          <a:noFill/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 Generative AI, </a:t>
            </a:r>
            <a:r>
              <a:rPr lang="en-US" i="1" dirty="0">
                <a:solidFill>
                  <a:schemeClr val="tx1"/>
                </a:solidFill>
              </a:rPr>
              <a:t>temperature</a:t>
            </a:r>
            <a:r>
              <a:rPr lang="en-US" dirty="0">
                <a:solidFill>
                  <a:schemeClr val="tx1"/>
                </a:solidFill>
              </a:rPr>
              <a:t> is a hyperparameter that controls the randomness of the model’s output. It affects the probability distribution of the next word (or token) in text generation.</a:t>
            </a:r>
          </a:p>
          <a:p>
            <a:r>
              <a:rPr dirty="0">
                <a:solidFill>
                  <a:schemeClr val="tx1"/>
                </a:solidFill>
              </a:rPr>
              <a:t>Controls randomness in AI responses.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Example: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Prompt: </a:t>
            </a:r>
            <a:r>
              <a:rPr lang="en-US" dirty="0">
                <a:solidFill>
                  <a:srgbClr val="FF0000"/>
                </a:solidFill>
              </a:rPr>
              <a:t>Asking for the Capital of France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AI Response: </a:t>
            </a:r>
            <a:r>
              <a:rPr lang="en-US" dirty="0">
                <a:solidFill>
                  <a:srgbClr val="FF0000"/>
                </a:solidFill>
              </a:rPr>
              <a:t>(Lower Temperature = 0.2)</a:t>
            </a:r>
            <a:endParaRPr lang="en-US" b="1" dirty="0">
              <a:solidFill>
                <a:srgbClr val="FF0000"/>
              </a:solidFill>
            </a:endParaRPr>
          </a:p>
          <a:p>
            <a:pPr lvl="3"/>
            <a:r>
              <a:rPr lang="en-US" i="1" dirty="0">
                <a:solidFill>
                  <a:srgbClr val="FF0000"/>
                </a:solidFill>
              </a:rPr>
              <a:t>"</a:t>
            </a:r>
            <a:r>
              <a:rPr lang="en-US" sz="1600" i="1" dirty="0">
                <a:solidFill>
                  <a:srgbClr val="FF0000"/>
                </a:solidFill>
              </a:rPr>
              <a:t>The capital of France is Paris."</a:t>
            </a:r>
            <a:endParaRPr sz="1600" b="1" dirty="0">
              <a:solidFill>
                <a:srgbClr val="FF0000"/>
              </a:solidFill>
            </a:endParaRPr>
          </a:p>
          <a:p>
            <a:r>
              <a:rPr dirty="0">
                <a:solidFill>
                  <a:srgbClr val="C00000"/>
                </a:solidFill>
              </a:rPr>
              <a:t>Mistake: High temperature may generate overly creative or inaccurate responses.</a:t>
            </a:r>
          </a:p>
          <a:p>
            <a:r>
              <a:rPr dirty="0">
                <a:solidFill>
                  <a:srgbClr val="002060"/>
                </a:solidFill>
              </a:rPr>
              <a:t>Solution: Adjust temperature based on desired response style.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D8828D-6B07-C3FA-EC96-338C40A57894}"/>
              </a:ext>
            </a:extLst>
          </p:cNvPr>
          <p:cNvSpPr/>
          <p:nvPr/>
        </p:nvSpPr>
        <p:spPr>
          <a:xfrm>
            <a:off x="475519" y="3415425"/>
            <a:ext cx="6059427" cy="15361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41B43219-8C2A-DBCE-661B-8F8CA730D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0" y="0"/>
            <a:ext cx="92659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738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08A8C7-D619-2AC3-A616-BB66C859E790}"/>
              </a:ext>
            </a:extLst>
          </p:cNvPr>
          <p:cNvSpPr txBox="1"/>
          <p:nvPr/>
        </p:nvSpPr>
        <p:spPr>
          <a:xfrm>
            <a:off x="1131217" y="2585035"/>
            <a:ext cx="5623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                                  Retrieval 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4094727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5AC6B4-CAAC-5A3E-5F19-FE24821122E3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Adapting pre-trained models to specific tasks by training on specialized datasets.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>
                <a:solidFill>
                  <a:srgbClr val="C00000"/>
                </a:solidFill>
              </a:rPr>
              <a:t>Mistake: Without fine-tuning, responses may be generic.</a:t>
            </a:r>
          </a:p>
          <a:p>
            <a:r>
              <a:rPr lang="en-US" sz="2400" dirty="0">
                <a:solidFill>
                  <a:srgbClr val="002060"/>
                </a:solidFill>
              </a:rPr>
              <a:t>Solution: Train models on domain-specific data.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DED70E-9254-4B5A-1079-CA447B499EF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Fine-tuning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6D01F-DCB8-E78F-9530-7B81D876F1B6}"/>
              </a:ext>
            </a:extLst>
          </p:cNvPr>
          <p:cNvSpPr txBox="1"/>
          <p:nvPr/>
        </p:nvSpPr>
        <p:spPr>
          <a:xfrm>
            <a:off x="1036948" y="2939851"/>
            <a:ext cx="684386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Example:</a:t>
            </a:r>
          </a:p>
          <a:p>
            <a:r>
              <a:rPr lang="en-US" sz="1800" dirty="0">
                <a:solidFill>
                  <a:srgbClr val="FF0000"/>
                </a:solidFill>
              </a:rPr>
              <a:t>A chatbot fine-tuned for customer service answers queries about products accurately.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3763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62DAF-9804-191D-35ED-91F804B8D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0832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65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9D51-07D5-B21E-31A2-BBC8DB8E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B8CA2B-8160-86F4-6DC7-BEC503DD134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7077456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Combining knowledge retrieval with text generation for accurate AI responses.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Example: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 legal chatbot retrieves the latest laws before answering a question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Mistake: Without retrieval, AI might hallucinate facts.</a:t>
            </a:r>
          </a:p>
          <a:p>
            <a:r>
              <a:rPr lang="en-US" sz="2400" dirty="0"/>
              <a:t>Solution: Use external knowledge sources for factual accuracy.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8DBAA69-BAAC-D51C-0F90-6717DB6D00D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/>
              <a:t>RAG (Retrieval-Augmented Generation)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22C1C7-BE2D-A2E5-9612-FF7D4B678076}"/>
              </a:ext>
            </a:extLst>
          </p:cNvPr>
          <p:cNvSpPr/>
          <p:nvPr/>
        </p:nvSpPr>
        <p:spPr>
          <a:xfrm>
            <a:off x="499872" y="2771480"/>
            <a:ext cx="7946544" cy="15271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70756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1AE3D-917D-6CBF-0A4D-A86F5ACC81F9}"/>
              </a:ext>
            </a:extLst>
          </p:cNvPr>
          <p:cNvSpPr txBox="1"/>
          <p:nvPr/>
        </p:nvSpPr>
        <p:spPr>
          <a:xfrm>
            <a:off x="3511485" y="239827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Agentic AI</a:t>
            </a:r>
          </a:p>
        </p:txBody>
      </p:sp>
    </p:spTree>
    <p:extLst>
      <p:ext uri="{BB962C8B-B14F-4D97-AF65-F5344CB8AC3E}">
        <p14:creationId xmlns:p14="http://schemas.microsoft.com/office/powerpoint/2010/main" val="259502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7438A-A789-F79B-1714-8B6664117C93}"/>
              </a:ext>
            </a:extLst>
          </p:cNvPr>
          <p:cNvSpPr txBox="1"/>
          <p:nvPr/>
        </p:nvSpPr>
        <p:spPr>
          <a:xfrm>
            <a:off x="546755" y="2000195"/>
            <a:ext cx="77959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Agentic AI</a:t>
            </a:r>
            <a:r>
              <a:rPr lang="en-US" dirty="0"/>
              <a:t> refers to AI systems that can </a:t>
            </a:r>
            <a:r>
              <a:rPr lang="en-US" b="1" dirty="0"/>
              <a:t>think, plan, and take actions</a:t>
            </a:r>
            <a:r>
              <a:rPr lang="en-US" dirty="0"/>
              <a:t> autonomously to achieve goals without needing constant human supervision.</a:t>
            </a:r>
          </a:p>
          <a:p>
            <a:r>
              <a:rPr lang="en-US" dirty="0"/>
              <a:t>Unlike traditional AI, which only responds to prompts, </a:t>
            </a:r>
            <a:r>
              <a:rPr lang="en-US" b="1" dirty="0"/>
              <a:t>Agentic AI can make decisions, adapt to new situations, and act independently</a:t>
            </a:r>
            <a:r>
              <a:rPr lang="en-US" dirty="0"/>
              <a:t>—just like a smart assistant that not only answers but also </a:t>
            </a:r>
            <a:r>
              <a:rPr lang="en-US" b="1" dirty="0"/>
              <a:t>takes actions on your behalf.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70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70634F-4E2F-A0CB-9786-45BAA9BE7A71}"/>
              </a:ext>
            </a:extLst>
          </p:cNvPr>
          <p:cNvSpPr txBox="1"/>
          <p:nvPr/>
        </p:nvSpPr>
        <p:spPr>
          <a:xfrm>
            <a:off x="1154783" y="1065228"/>
            <a:ext cx="68344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Three agents specialize in different travel aspects:</a:t>
            </a:r>
          </a:p>
          <a:p>
            <a:r>
              <a:rPr lang="en-US" dirty="0"/>
              <a:t>1️⃣ Travel Researcher - Finds historical sites, transport, hotels, and weather</a:t>
            </a:r>
          </a:p>
          <a:p>
            <a:r>
              <a:rPr lang="en-US" dirty="0"/>
              <a:t>2️⃣ Budget Planner - Ensures trip stays under budget</a:t>
            </a:r>
          </a:p>
          <a:p>
            <a:r>
              <a:rPr lang="en-US" dirty="0"/>
              <a:t>3️⃣ Itinerary Planner - Creates a balanced 3-day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7355CD-2BBA-0036-543E-97CD0F7F2FE1}"/>
              </a:ext>
            </a:extLst>
          </p:cNvPr>
          <p:cNvSpPr/>
          <p:nvPr/>
        </p:nvSpPr>
        <p:spPr>
          <a:xfrm>
            <a:off x="480767" y="3553906"/>
            <a:ext cx="2432115" cy="1385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Travel Agent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C4197-4102-5301-5ADA-53BC02C86E24}"/>
              </a:ext>
            </a:extLst>
          </p:cNvPr>
          <p:cNvSpPr/>
          <p:nvPr/>
        </p:nvSpPr>
        <p:spPr>
          <a:xfrm>
            <a:off x="3355941" y="3553906"/>
            <a:ext cx="2432115" cy="1385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Budget Agent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5DFAC-1FA4-275A-23DF-E84859464C0B}"/>
              </a:ext>
            </a:extLst>
          </p:cNvPr>
          <p:cNvSpPr/>
          <p:nvPr/>
        </p:nvSpPr>
        <p:spPr>
          <a:xfrm>
            <a:off x="6383518" y="3553906"/>
            <a:ext cx="2432115" cy="1385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Itinerary Planner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EE7298-C7F8-B5F0-55DE-DB826FE09896}"/>
              </a:ext>
            </a:extLst>
          </p:cNvPr>
          <p:cNvSpPr/>
          <p:nvPr/>
        </p:nvSpPr>
        <p:spPr>
          <a:xfrm>
            <a:off x="179109" y="3233394"/>
            <a:ext cx="8795209" cy="268663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BA7A3-F0AC-88C3-10D7-69AD0A452662}"/>
              </a:ext>
            </a:extLst>
          </p:cNvPr>
          <p:cNvSpPr txBox="1"/>
          <p:nvPr/>
        </p:nvSpPr>
        <p:spPr>
          <a:xfrm>
            <a:off x="3261674" y="2839652"/>
            <a:ext cx="231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 Agent</a:t>
            </a:r>
          </a:p>
        </p:txBody>
      </p:sp>
    </p:spTree>
    <p:extLst>
      <p:ext uri="{BB962C8B-B14F-4D97-AF65-F5344CB8AC3E}">
        <p14:creationId xmlns:p14="http://schemas.microsoft.com/office/powerpoint/2010/main" val="657183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0E8F17-698D-90A0-45AE-2FA6B678EC51}"/>
              </a:ext>
            </a:extLst>
          </p:cNvPr>
          <p:cNvSpPr txBox="1"/>
          <p:nvPr/>
        </p:nvSpPr>
        <p:spPr>
          <a:xfrm>
            <a:off x="1055802" y="452488"/>
            <a:ext cx="7126664" cy="56323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Python                                                  </a:t>
            </a:r>
            <a:r>
              <a:rPr lang="en-IN" b="1" dirty="0">
                <a:highlight>
                  <a:srgbClr val="FFFF00"/>
                </a:highlight>
              </a:rPr>
              <a:t>   </a:t>
            </a:r>
            <a:r>
              <a:rPr lang="en-IN" b="1" dirty="0"/>
              <a:t>Model Deployment                                                     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Machine learning applications             </a:t>
            </a:r>
            <a:r>
              <a:rPr lang="en-IN" b="1" dirty="0" err="1"/>
              <a:t>Mlflow,Docker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Deep Learning applications                  Azure AI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NLP Applications                                    Flask                             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Generative AI applications                    POSTMAN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LLM                                                           </a:t>
            </a:r>
            <a:r>
              <a:rPr lang="en-IN" b="1" dirty="0" err="1"/>
              <a:t>LangChain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Prompt Engineering                               </a:t>
            </a:r>
            <a:r>
              <a:rPr lang="en-IN" b="1" dirty="0" err="1"/>
              <a:t>Streamlit</a:t>
            </a:r>
            <a:r>
              <a:rPr lang="en-IN" b="1" dirty="0"/>
              <a:t>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RAG applications                                    </a:t>
            </a:r>
            <a:r>
              <a:rPr lang="en-IN" b="1" dirty="0" err="1"/>
              <a:t>GitHUB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AI Agents                                                </a:t>
            </a:r>
            <a:r>
              <a:rPr lang="en-IN" b="1" dirty="0" err="1"/>
              <a:t>Langgraph</a:t>
            </a:r>
            <a:r>
              <a:rPr lang="en-IN" b="1" dirty="0"/>
              <a:t> </a:t>
            </a:r>
            <a:r>
              <a:rPr lang="en-IN" b="1" dirty="0" err="1"/>
              <a:t>CrewAI</a:t>
            </a:r>
            <a:r>
              <a:rPr lang="en-IN" b="1" dirty="0"/>
              <a:t>                          </a:t>
            </a:r>
            <a:endParaRPr lang="en-IN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Cloud applications(</a:t>
            </a:r>
            <a:r>
              <a:rPr lang="en-IN" b="1" dirty="0" err="1"/>
              <a:t>AzureML</a:t>
            </a:r>
            <a:r>
              <a:rPr lang="en-IN" b="1" dirty="0"/>
              <a:t>)                </a:t>
            </a:r>
            <a:r>
              <a:rPr lang="en-IN" b="1" dirty="0" err="1"/>
              <a:t>DataBricks</a:t>
            </a:r>
            <a:r>
              <a:rPr lang="en-IN" b="1" dirty="0"/>
              <a:t>            </a:t>
            </a:r>
            <a:endParaRPr lang="en-IN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45603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85FA3AE1-E615-74CB-9B1F-882AB112E6B2}"/>
              </a:ext>
            </a:extLst>
          </p:cNvPr>
          <p:cNvSpPr txBox="1"/>
          <p:nvPr/>
        </p:nvSpPr>
        <p:spPr>
          <a:xfrm>
            <a:off x="749429" y="762684"/>
            <a:ext cx="4572000" cy="480131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Quality Training 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Course Certifications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Internship Certificate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Placement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Daily Assignments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Material access life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Class Recording access life time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Special trainings on request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24*7 Availability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C54CC5-E72B-D53D-4920-9B4A599BB793}"/>
              </a:ext>
            </a:extLst>
          </p:cNvPr>
          <p:cNvSpPr txBox="1"/>
          <p:nvPr/>
        </p:nvSpPr>
        <p:spPr>
          <a:xfrm>
            <a:off x="5415698" y="1480009"/>
            <a:ext cx="3553905" cy="230832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Duration : 4 Months</a:t>
            </a:r>
          </a:p>
          <a:p>
            <a:r>
              <a:rPr lang="en-IN" b="1" dirty="0">
                <a:solidFill>
                  <a:srgbClr val="0070C0"/>
                </a:solidFill>
              </a:rPr>
              <a:t>Monday to Friday</a:t>
            </a:r>
          </a:p>
          <a:p>
            <a:r>
              <a:rPr lang="en-IN" b="1" dirty="0">
                <a:solidFill>
                  <a:srgbClr val="0070C0"/>
                </a:solidFill>
              </a:rPr>
              <a:t>Daily 1.5 Hour</a:t>
            </a:r>
          </a:p>
          <a:p>
            <a:r>
              <a:rPr lang="en-IN" b="1" dirty="0">
                <a:solidFill>
                  <a:srgbClr val="0070C0"/>
                </a:solidFill>
              </a:rPr>
              <a:t>Time: 6AM IST, 8.30pm EST</a:t>
            </a:r>
          </a:p>
          <a:p>
            <a:endParaRPr lang="en-IN" b="1" dirty="0">
              <a:solidFill>
                <a:srgbClr val="0070C0"/>
              </a:solidFill>
            </a:endParaRPr>
          </a:p>
          <a:p>
            <a:endParaRPr lang="en-IN" b="1" dirty="0">
              <a:solidFill>
                <a:srgbClr val="0070C0"/>
              </a:solidFill>
            </a:endParaRPr>
          </a:p>
          <a:p>
            <a:r>
              <a:rPr lang="en-IN" b="1" dirty="0">
                <a:solidFill>
                  <a:srgbClr val="0070C0"/>
                </a:solidFill>
              </a:rPr>
              <a:t>Fee: 27000 INR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8707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676</TotalTime>
  <Words>1527</Words>
  <Application>Microsoft Office PowerPoint</Application>
  <PresentationFormat>On-screen Show (4:3)</PresentationFormat>
  <Paragraphs>255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Chain of Thought</vt:lpstr>
      <vt:lpstr>PowerPoint Presentation</vt:lpstr>
      <vt:lpstr>PowerPoint Presentation</vt:lpstr>
      <vt:lpstr>Zero-Shot Learning</vt:lpstr>
      <vt:lpstr>PowerPoint Presentation</vt:lpstr>
      <vt:lpstr>Few-Shot Learning</vt:lpstr>
      <vt:lpstr>PowerPoint Presentation</vt:lpstr>
      <vt:lpstr>Hallucinations</vt:lpstr>
      <vt:lpstr>Temperature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 m.prasanna</dc:creator>
  <cp:keywords/>
  <dc:description>generated using python-pptx</dc:description>
  <cp:lastModifiedBy>OMKAR NALLAGONI</cp:lastModifiedBy>
  <cp:revision>31</cp:revision>
  <dcterms:created xsi:type="dcterms:W3CDTF">2013-01-27T09:14:16Z</dcterms:created>
  <dcterms:modified xsi:type="dcterms:W3CDTF">2025-04-02T18:43:55Z</dcterms:modified>
  <cp:category/>
</cp:coreProperties>
</file>