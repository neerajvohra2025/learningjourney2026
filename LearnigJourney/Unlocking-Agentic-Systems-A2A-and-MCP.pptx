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Unbounded"/>
      <p:regular r:id="rId15"/>
    </p:embeddedFont>
    <p:embeddedFont>
      <p:font typeface="Unbounded"/>
      <p:regular r:id="rId16"/>
    </p:embeddedFont>
    <p:embeddedFont>
      <p:font typeface="Cabin"/>
      <p:regular r:id="rId17"/>
    </p:embeddedFont>
    <p:embeddedFont>
      <p:font typeface="Cabin"/>
      <p:regular r:id="rId18"/>
    </p:embeddedFont>
    <p:embeddedFont>
      <p:font typeface="Cabin"/>
      <p:regular r:id="rId19"/>
    </p:embeddedFont>
    <p:embeddedFont>
      <p:font typeface="Cabin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960721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Unlocking Agentic Systems: A2A and MCP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431744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Explore A2A and MCP, two critical protocols enabling advanced agentic applications. Learn how they work together to facilitate sophisticated AI collaboration.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5867876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744" y="5875496"/>
            <a:ext cx="367665" cy="3676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26687" y="5850017"/>
            <a:ext cx="2046684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by Neeraj Vohra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853797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Understanding MCP: Agent Capabilities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620804"/>
            <a:ext cx="3614618" cy="1740218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077039" y="286011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Tool Access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335565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Connects agents to external tools and APIs.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658" y="2620804"/>
            <a:ext cx="3614618" cy="1740218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4930973" y="286011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Structured I/O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0973" y="335565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Ensures consistent data exchange formats.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4600337"/>
            <a:ext cx="7468553" cy="1357193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1077039" y="4839653"/>
            <a:ext cx="352448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Resource Integration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77039" y="5335191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Enables agents to leverage various resources.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37724" y="6226731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MCP allows agents to access external functionalities and resources in a standardized way. This protocol is fundamental for agents to perform real-world tasks effectively.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8311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Understanding A2A: Agent Collaboration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24" y="2891909"/>
            <a:ext cx="598408" cy="5984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75448" y="299216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Multimodal</a:t>
            </a:r>
            <a:endParaRPr lang="en-US" sz="2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4010858"/>
            <a:ext cx="598408" cy="59840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75448" y="411110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Peer-to-Peer</a:t>
            </a:r>
            <a:endParaRPr lang="en-US" sz="22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5129808"/>
            <a:ext cx="598408" cy="59840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675448" y="523005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Delegation</a:t>
            </a: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837724" y="5997416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A2A facilitates rich, dynamic communication between agents. It's designed for agents to work together seamlessly, supporting complex interactions and task distribution.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79" y="439102"/>
            <a:ext cx="10231398" cy="469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A2A and MCP: A Complementary Relationship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58879" y="1307902"/>
            <a:ext cx="1878687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MCP Role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58879" y="1702356"/>
            <a:ext cx="6561534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Provides agents with the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means to act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by connecting them to external capabilities.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517606" y="1307902"/>
            <a:ext cx="1878687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A2A Role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17606" y="1702356"/>
            <a:ext cx="6561534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Enables agents to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coordinate and communicate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actions and information among themselves.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79" y="2280999"/>
            <a:ext cx="7680960" cy="573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8879" y="8190786"/>
            <a:ext cx="13512641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While MCP grants agents access to tools and resources, A2A allows them to collaborate effectively, making decisions and sharing information as peers.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023" y="593408"/>
            <a:ext cx="5524262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Agentic Stack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2665" y="1657826"/>
            <a:ext cx="1623774" cy="1221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82985" y="2230041"/>
            <a:ext cx="302895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061823" y="1873210"/>
            <a:ext cx="314360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Agentic Applications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061823" y="2319218"/>
            <a:ext cx="3279100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Sophisticated, autonomous systems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900255" y="2890838"/>
            <a:ext cx="8922306" cy="15240"/>
          </a:xfrm>
          <a:prstGeom prst="roundRect">
            <a:avLst>
              <a:gd name="adj" fmla="val 212050"/>
            </a:avLst>
          </a:prstGeom>
          <a:solidFill>
            <a:srgbClr val="49606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658" y="2932986"/>
            <a:ext cx="3247668" cy="1221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82985" y="3354348"/>
            <a:ext cx="302895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6"/>
          <p:cNvSpPr/>
          <p:nvPr/>
        </p:nvSpPr>
        <p:spPr>
          <a:xfrm>
            <a:off x="5873710" y="3148370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A2A Protocol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873710" y="3594378"/>
            <a:ext cx="2899053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Agent-to-agent communication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5712143" y="4165997"/>
            <a:ext cx="8110418" cy="15240"/>
          </a:xfrm>
          <a:prstGeom prst="roundRect">
            <a:avLst>
              <a:gd name="adj" fmla="val 212050"/>
            </a:avLst>
          </a:prstGeom>
          <a:solidFill>
            <a:srgbClr val="4960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771" y="4208145"/>
            <a:ext cx="4871561" cy="1221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83104" y="4629507"/>
            <a:ext cx="302895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350" dirty="0"/>
          </a:p>
        </p:txBody>
      </p:sp>
      <p:sp>
        <p:nvSpPr>
          <p:cNvPr id="15" name="Text 10"/>
          <p:cNvSpPr/>
          <p:nvPr/>
        </p:nvSpPr>
        <p:spPr>
          <a:xfrm>
            <a:off x="6685717" y="4423529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MCP Protocol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6685717" y="4869537"/>
            <a:ext cx="2620566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Tool and resource integration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6524149" y="5441156"/>
            <a:ext cx="7298412" cy="15240"/>
          </a:xfrm>
          <a:prstGeom prst="roundRect">
            <a:avLst>
              <a:gd name="adj" fmla="val 212050"/>
            </a:avLst>
          </a:prstGeom>
          <a:solidFill>
            <a:srgbClr val="49606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65" y="5483304"/>
            <a:ext cx="6495455" cy="1221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82985" y="5904667"/>
            <a:ext cx="302895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350" dirty="0"/>
          </a:p>
        </p:txBody>
      </p:sp>
      <p:sp>
        <p:nvSpPr>
          <p:cNvPr id="20" name="Text 14"/>
          <p:cNvSpPr/>
          <p:nvPr/>
        </p:nvSpPr>
        <p:spPr>
          <a:xfrm>
            <a:off x="7497604" y="5698688"/>
            <a:ext cx="472987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Large Language Models (LLMs)</a:t>
            </a:r>
            <a:endParaRPr lang="en-US" sz="1950" dirty="0"/>
          </a:p>
        </p:txBody>
      </p:sp>
      <p:sp>
        <p:nvSpPr>
          <p:cNvPr id="21" name="Text 15"/>
          <p:cNvSpPr/>
          <p:nvPr/>
        </p:nvSpPr>
        <p:spPr>
          <a:xfrm>
            <a:off x="7497604" y="6144697"/>
            <a:ext cx="472987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Core reasoning and generation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754023" y="6946940"/>
            <a:ext cx="13122354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Agentic systems build upon foundational LLMs, integrating MCP for external interactions and A2A for inter-agent collaboration, forming a powerful stack for complex tasks.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95440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Benefits of Combined Protocols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721412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74" y="2779395"/>
            <a:ext cx="337899" cy="422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5559" y="2803684"/>
            <a:ext cx="280689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Enhanced Autonomy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615559" y="3651171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Agents act more independently.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4721662" y="2721412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912" y="2779395"/>
            <a:ext cx="337899" cy="422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99497" y="2803684"/>
            <a:ext cx="280689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Complex Task Handling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499497" y="3651171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Break down and delegate tasks.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837724" y="4895969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74" y="4953953"/>
            <a:ext cx="337899" cy="4224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15559" y="4978241"/>
            <a:ext cx="35968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Robust Architectures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615559" y="5473779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Build resilient agentic systems.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837724" y="6126004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synergy of A2A and MCP enables agents to achieve higher levels of autonomy and tackle more intricate problems, leading to robust and scalable agentic applications.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6294" y="650677"/>
            <a:ext cx="7491413" cy="1388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Future of Agentic Systems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1091803" y="2393513"/>
            <a:ext cx="30480" cy="3786902"/>
          </a:xfrm>
          <a:prstGeom prst="roundRect">
            <a:avLst>
              <a:gd name="adj" fmla="val 116192"/>
            </a:avLst>
          </a:prstGeom>
          <a:solidFill>
            <a:srgbClr val="49606E"/>
          </a:solidFill>
          <a:ln/>
        </p:spPr>
      </p:sp>
      <p:sp>
        <p:nvSpPr>
          <p:cNvPr id="5" name="Shape 2"/>
          <p:cNvSpPr/>
          <p:nvPr/>
        </p:nvSpPr>
        <p:spPr>
          <a:xfrm>
            <a:off x="1326892" y="2643783"/>
            <a:ext cx="708303" cy="30480"/>
          </a:xfrm>
          <a:prstGeom prst="roundRect">
            <a:avLst>
              <a:gd name="adj" fmla="val 116192"/>
            </a:avLst>
          </a:prstGeom>
          <a:solidFill>
            <a:srgbClr val="49606E"/>
          </a:solidFill>
          <a:ln/>
        </p:spPr>
      </p:sp>
      <p:sp>
        <p:nvSpPr>
          <p:cNvPr id="6" name="Shape 3"/>
          <p:cNvSpPr/>
          <p:nvPr/>
        </p:nvSpPr>
        <p:spPr>
          <a:xfrm>
            <a:off x="826234" y="2393513"/>
            <a:ext cx="531138" cy="53113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16" y="2450723"/>
            <a:ext cx="333256" cy="416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72308" y="2474595"/>
            <a:ext cx="2777609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Autonomous AI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2272308" y="2963347"/>
            <a:ext cx="6045398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Agents making independent decisions.</a:t>
            </a:r>
            <a:endParaRPr lang="en-US" sz="1850" dirty="0"/>
          </a:p>
        </p:txBody>
      </p:sp>
      <p:sp>
        <p:nvSpPr>
          <p:cNvPr id="10" name="Shape 6"/>
          <p:cNvSpPr/>
          <p:nvPr/>
        </p:nvSpPr>
        <p:spPr>
          <a:xfrm>
            <a:off x="1326892" y="4063484"/>
            <a:ext cx="708303" cy="30480"/>
          </a:xfrm>
          <a:prstGeom prst="roundRect">
            <a:avLst>
              <a:gd name="adj" fmla="val 116192"/>
            </a:avLst>
          </a:prstGeom>
          <a:solidFill>
            <a:srgbClr val="49606E"/>
          </a:solidFill>
          <a:ln/>
        </p:spPr>
      </p:sp>
      <p:sp>
        <p:nvSpPr>
          <p:cNvPr id="11" name="Shape 7"/>
          <p:cNvSpPr/>
          <p:nvPr/>
        </p:nvSpPr>
        <p:spPr>
          <a:xfrm>
            <a:off x="826234" y="3813215"/>
            <a:ext cx="531138" cy="53113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16" y="3870424"/>
            <a:ext cx="333256" cy="416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72308" y="3894296"/>
            <a:ext cx="3826907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Decentralized Systems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2272308" y="4383048"/>
            <a:ext cx="6045398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Distributed agent networks.</a:t>
            </a:r>
            <a:endParaRPr lang="en-US" sz="1850" dirty="0"/>
          </a:p>
        </p:txBody>
      </p:sp>
      <p:sp>
        <p:nvSpPr>
          <p:cNvPr id="15" name="Shape 10"/>
          <p:cNvSpPr/>
          <p:nvPr/>
        </p:nvSpPr>
        <p:spPr>
          <a:xfrm>
            <a:off x="1326892" y="5483185"/>
            <a:ext cx="708303" cy="30480"/>
          </a:xfrm>
          <a:prstGeom prst="roundRect">
            <a:avLst>
              <a:gd name="adj" fmla="val 116192"/>
            </a:avLst>
          </a:prstGeom>
          <a:solidFill>
            <a:srgbClr val="49606E"/>
          </a:solidFill>
          <a:ln/>
        </p:spPr>
      </p:sp>
      <p:sp>
        <p:nvSpPr>
          <p:cNvPr id="16" name="Shape 11"/>
          <p:cNvSpPr/>
          <p:nvPr/>
        </p:nvSpPr>
        <p:spPr>
          <a:xfrm>
            <a:off x="826234" y="5232916"/>
            <a:ext cx="531138" cy="53113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116" y="5290125"/>
            <a:ext cx="333256" cy="416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272308" y="5313998"/>
            <a:ext cx="3049786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Scalable Solutions</a:t>
            </a:r>
            <a:endParaRPr lang="en-US" sz="2150" dirty="0"/>
          </a:p>
        </p:txBody>
      </p:sp>
      <p:sp>
        <p:nvSpPr>
          <p:cNvPr id="19" name="Text 13"/>
          <p:cNvSpPr/>
          <p:nvPr/>
        </p:nvSpPr>
        <p:spPr>
          <a:xfrm>
            <a:off x="2272308" y="5802749"/>
            <a:ext cx="6045398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Handling increased complexity.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826294" y="6445925"/>
            <a:ext cx="7491413" cy="1132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These protocols pave the way for a future where AI agents form intricate, decentralized networks, collaboratively solving problems at unprecedented scale and complexity.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45344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Takeaways &amp; Next Steps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612350"/>
            <a:ext cx="179427" cy="878562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6862524" y="2612350"/>
            <a:ext cx="46636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A2A: Agent Communication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62524" y="3107888"/>
            <a:ext cx="69301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Peer-to-peer interaction and delegation.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683097" y="3730228"/>
            <a:ext cx="179427" cy="878562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7221498" y="3730228"/>
            <a:ext cx="357794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MCP: Tool Integration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221498" y="4225766"/>
            <a:ext cx="657117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Connecting agents to external capabilities.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7042190" y="4848106"/>
            <a:ext cx="179427" cy="878562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7580590" y="484810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Synergy is Key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80590" y="5343644"/>
            <a:ext cx="62120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Enabling robust agentic applications.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324124" y="6235184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A2A and MCP are essential for building advanced agentic systems. Explore their specifications to build your own intelligent, collaborative AI applications.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2025-05-26T07:23:25Z</dcterms:created>
  <dcterms:modified xsi:type="dcterms:W3CDTF">2025-05-26T07:23:25Z</dcterms:modified>
</cp:coreProperties>
</file>