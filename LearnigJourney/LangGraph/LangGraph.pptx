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71" r:id="rId2"/>
    <p:sldId id="294" r:id="rId3"/>
    <p:sldId id="293" r:id="rId4"/>
    <p:sldId id="287" r:id="rId5"/>
    <p:sldId id="260" r:id="rId6"/>
    <p:sldId id="281" r:id="rId7"/>
    <p:sldId id="282" r:id="rId8"/>
    <p:sldId id="283" r:id="rId9"/>
    <p:sldId id="285" r:id="rId10"/>
    <p:sldId id="284" r:id="rId11"/>
    <p:sldId id="286" r:id="rId12"/>
    <p:sldId id="263" r:id="rId13"/>
    <p:sldId id="275" r:id="rId14"/>
    <p:sldId id="295" r:id="rId15"/>
    <p:sldId id="276" r:id="rId16"/>
    <p:sldId id="269" r:id="rId17"/>
    <p:sldId id="288" r:id="rId18"/>
    <p:sldId id="289" r:id="rId19"/>
    <p:sldId id="278" r:id="rId20"/>
    <p:sldId id="291" r:id="rId21"/>
    <p:sldId id="290" r:id="rId22"/>
    <p:sldId id="264" r:id="rId23"/>
    <p:sldId id="265" r:id="rId24"/>
    <p:sldId id="292" r:id="rId25"/>
    <p:sldId id="267" r:id="rId26"/>
    <p:sldId id="270" r:id="rId27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69" autoAdjust="0"/>
  </p:normalViewPr>
  <p:slideViewPr>
    <p:cSldViewPr>
      <p:cViewPr varScale="1">
        <p:scale>
          <a:sx n="46" d="100"/>
          <a:sy n="46" d="100"/>
        </p:scale>
        <p:origin x="870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1C0BC-0C50-4DC6-A127-F492BF480394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61FE8-D255-4A4B-B838-E8FD78555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0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08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9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2438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438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438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8458" y="3706636"/>
            <a:ext cx="7019290" cy="520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21345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2374981" y="2097203"/>
            <a:ext cx="4422140" cy="662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800" y="4572000"/>
            <a:ext cx="685800" cy="787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2700" y="2006600"/>
            <a:ext cx="5867400" cy="5842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438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9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74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33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60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05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2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2856" y="345016"/>
            <a:ext cx="15929486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2438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3067" y="1839875"/>
            <a:ext cx="7510780" cy="4795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067" y="0"/>
            <a:ext cx="6502400" cy="975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4825" y="784860"/>
            <a:ext cx="9458929" cy="647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2741"/>
              </a:lnSpc>
            </a:pPr>
            <a:r>
              <a:rPr lang="en-US" sz="10193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Workflow Orchestration for LLM Apps</a:t>
            </a:r>
            <a:endParaRPr lang="en-US" sz="10193" dirty="0"/>
          </a:p>
        </p:txBody>
      </p:sp>
      <p:sp>
        <p:nvSpPr>
          <p:cNvPr id="4" name="Text 1"/>
          <p:cNvSpPr/>
          <p:nvPr/>
        </p:nvSpPr>
        <p:spPr>
          <a:xfrm>
            <a:off x="1064826" y="7686887"/>
            <a:ext cx="8843151" cy="1281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319"/>
              </a:lnSpc>
            </a:pPr>
            <a:r>
              <a:rPr lang="en-US" sz="2193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LangGraph transforms AI development by providing structured, reliable, and intelligent workflow orchestration—moving beyond simple prompts to sophisticated agent systems.</a:t>
            </a:r>
            <a:endParaRPr lang="en-US" sz="2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2AA50-782C-CE98-73E7-83AE184A4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55" y="685800"/>
            <a:ext cx="16671889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8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E71261-B35E-A100-5DDD-63822E780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44" y="380999"/>
            <a:ext cx="16840156" cy="90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1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624702AA-C632-4E4C-E9E4-99199858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3413" y="1"/>
            <a:ext cx="18078614" cy="100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60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3429000"/>
            <a:ext cx="5727700" cy="199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2300" y="3429000"/>
            <a:ext cx="5765800" cy="1993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9910" rIns="0" bIns="0" rtlCol="0">
            <a:spAutoFit/>
          </a:bodyPr>
          <a:lstStyle/>
          <a:p>
            <a:pPr marL="1483995">
              <a:lnSpc>
                <a:spcPct val="100000"/>
              </a:lnSpc>
              <a:spcBef>
                <a:spcPts val="130"/>
              </a:spcBef>
            </a:pPr>
            <a:r>
              <a:rPr sz="5800" dirty="0">
                <a:solidFill>
                  <a:srgbClr val="213869"/>
                </a:solidFill>
              </a:rPr>
              <a:t>Lang Graph</a:t>
            </a:r>
            <a:r>
              <a:rPr sz="5800" spc="-175" dirty="0">
                <a:solidFill>
                  <a:srgbClr val="213869"/>
                </a:solidFill>
              </a:rPr>
              <a:t> </a:t>
            </a:r>
            <a:r>
              <a:rPr sz="5800" spc="145" dirty="0">
                <a:solidFill>
                  <a:srgbClr val="23386E"/>
                </a:solidFill>
              </a:rPr>
              <a:t>Built</a:t>
            </a:r>
            <a:r>
              <a:rPr sz="5800" spc="-225" dirty="0">
                <a:solidFill>
                  <a:srgbClr val="23386E"/>
                </a:solidFill>
              </a:rPr>
              <a:t> </a:t>
            </a:r>
            <a:r>
              <a:rPr sz="5800" spc="220" dirty="0">
                <a:solidFill>
                  <a:srgbClr val="213869"/>
                </a:solidFill>
              </a:rPr>
              <a:t>on</a:t>
            </a:r>
            <a:r>
              <a:rPr sz="5800" spc="-445" dirty="0">
                <a:solidFill>
                  <a:srgbClr val="213869"/>
                </a:solidFill>
              </a:rPr>
              <a:t> </a:t>
            </a:r>
            <a:r>
              <a:rPr sz="5800" spc="-20" dirty="0">
                <a:solidFill>
                  <a:srgbClr val="283D72"/>
                </a:solidFill>
              </a:rPr>
              <a:t>One</a:t>
            </a:r>
            <a:r>
              <a:rPr sz="5800" spc="-220" dirty="0">
                <a:solidFill>
                  <a:srgbClr val="283D72"/>
                </a:solidFill>
              </a:rPr>
              <a:t> </a:t>
            </a:r>
            <a:r>
              <a:rPr sz="5800" spc="50" dirty="0">
                <a:solidFill>
                  <a:srgbClr val="263D74"/>
                </a:solidFill>
              </a:rPr>
              <a:t>Simple</a:t>
            </a:r>
            <a:r>
              <a:rPr sz="5800" spc="-305" dirty="0">
                <a:solidFill>
                  <a:srgbClr val="263D74"/>
                </a:solidFill>
              </a:rPr>
              <a:t> </a:t>
            </a:r>
            <a:r>
              <a:rPr sz="5800" spc="-20" dirty="0">
                <a:solidFill>
                  <a:srgbClr val="21386B"/>
                </a:solidFill>
              </a:rPr>
              <a:t>Idea</a:t>
            </a:r>
            <a:endParaRPr sz="5800" dirty="0"/>
          </a:p>
        </p:txBody>
      </p:sp>
      <p:sp>
        <p:nvSpPr>
          <p:cNvPr id="5" name="object 5"/>
          <p:cNvSpPr txBox="1"/>
          <p:nvPr/>
        </p:nvSpPr>
        <p:spPr>
          <a:xfrm>
            <a:off x="4500582" y="3835400"/>
            <a:ext cx="15932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75" dirty="0">
                <a:solidFill>
                  <a:srgbClr val="232323"/>
                </a:solidFill>
                <a:latin typeface="Calibri"/>
                <a:cs typeface="Calibri"/>
              </a:rPr>
              <a:t>(flows</a:t>
            </a:r>
            <a:r>
              <a:rPr sz="25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232323"/>
                </a:solidFill>
                <a:latin typeface="Calibri"/>
                <a:cs typeface="Calibri"/>
              </a:rPr>
              <a:t>into)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4324" y="4046713"/>
            <a:ext cx="1529715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spc="-10" dirty="0">
                <a:solidFill>
                  <a:srgbClr val="505050"/>
                </a:solidFill>
                <a:latin typeface="Calibri"/>
                <a:cs typeface="Calibri"/>
              </a:rPr>
              <a:t>[State]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12936" y="3817761"/>
            <a:ext cx="249936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212121"/>
                </a:solidFill>
                <a:latin typeface="Calibri"/>
                <a:cs typeface="Calibri"/>
              </a:rPr>
              <a:t>(returns</a:t>
            </a:r>
            <a:r>
              <a:rPr sz="2600" spc="3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232323"/>
                </a:solidFill>
                <a:latin typeface="Calibri"/>
                <a:cs typeface="Calibri"/>
              </a:rPr>
              <a:t>updated)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6916" y="3185583"/>
            <a:ext cx="4102100" cy="2527300"/>
          </a:xfrm>
          <a:prstGeom prst="rect">
            <a:avLst/>
          </a:prstGeom>
          <a:ln w="21166">
            <a:solidFill>
              <a:srgbClr val="575B60"/>
            </a:solidFill>
          </a:ln>
        </p:spPr>
        <p:txBody>
          <a:bodyPr vert="horz" wrap="square" lIns="0" tIns="278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90"/>
              </a:spcBef>
            </a:pPr>
            <a:endParaRPr sz="4150">
              <a:latin typeface="Times New Roman"/>
              <a:cs typeface="Times New Roman"/>
            </a:endParaRPr>
          </a:p>
          <a:p>
            <a:pPr marL="26670" algn="ctr">
              <a:lnSpc>
                <a:spcPct val="100000"/>
              </a:lnSpc>
              <a:spcBef>
                <a:spcPts val="5"/>
              </a:spcBef>
            </a:pPr>
            <a:r>
              <a:rPr sz="4150" spc="-10" dirty="0">
                <a:solidFill>
                  <a:srgbClr val="545454"/>
                </a:solidFill>
                <a:latin typeface="Calibri"/>
                <a:cs typeface="Calibri"/>
              </a:rPr>
              <a:t>[Node]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63547" y="4055533"/>
            <a:ext cx="1525905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95" dirty="0">
                <a:solidFill>
                  <a:srgbClr val="525252"/>
                </a:solidFill>
                <a:latin typeface="Calibri"/>
                <a:cs typeface="Calibri"/>
              </a:rPr>
              <a:t>[Statej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1493" y="6377869"/>
            <a:ext cx="13438505" cy="190500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5350" dirty="0">
                <a:latin typeface="Arial MT"/>
                <a:cs typeface="Arial MT"/>
              </a:rPr>
              <a:t>State</a:t>
            </a:r>
            <a:r>
              <a:rPr sz="5350" spc="-190" dirty="0">
                <a:latin typeface="Arial MT"/>
                <a:cs typeface="Arial MT"/>
              </a:rPr>
              <a:t> </a:t>
            </a:r>
            <a:r>
              <a:rPr sz="5350" spc="95" dirty="0">
                <a:latin typeface="Arial MT"/>
                <a:cs typeface="Arial MT"/>
              </a:rPr>
              <a:t>flows</a:t>
            </a:r>
            <a:r>
              <a:rPr sz="5350" spc="-229" dirty="0">
                <a:latin typeface="Arial MT"/>
                <a:cs typeface="Arial MT"/>
              </a:rPr>
              <a:t> </a:t>
            </a:r>
            <a:r>
              <a:rPr sz="5350" spc="70" dirty="0">
                <a:latin typeface="Arial MT"/>
                <a:cs typeface="Arial MT"/>
              </a:rPr>
              <a:t>through</a:t>
            </a:r>
            <a:r>
              <a:rPr sz="5350" spc="-310" dirty="0">
                <a:latin typeface="Arial MT"/>
                <a:cs typeface="Arial MT"/>
              </a:rPr>
              <a:t> </a:t>
            </a:r>
            <a:r>
              <a:rPr sz="5350" spc="-20" dirty="0">
                <a:latin typeface="Arial MT"/>
                <a:cs typeface="Arial MT"/>
              </a:rPr>
              <a:t>nodes,</a:t>
            </a:r>
            <a:r>
              <a:rPr sz="5350" spc="-245" dirty="0">
                <a:latin typeface="Arial MT"/>
                <a:cs typeface="Arial MT"/>
              </a:rPr>
              <a:t> </a:t>
            </a:r>
            <a:r>
              <a:rPr sz="5350" dirty="0">
                <a:latin typeface="Arial MT"/>
                <a:cs typeface="Arial MT"/>
              </a:rPr>
              <a:t>guided</a:t>
            </a:r>
            <a:r>
              <a:rPr sz="5350" spc="-345" dirty="0">
                <a:latin typeface="Arial MT"/>
                <a:cs typeface="Arial MT"/>
              </a:rPr>
              <a:t> </a:t>
            </a:r>
            <a:r>
              <a:rPr sz="5350" spc="55" dirty="0">
                <a:latin typeface="Arial MT"/>
                <a:cs typeface="Arial MT"/>
              </a:rPr>
              <a:t>by</a:t>
            </a:r>
            <a:r>
              <a:rPr sz="5350" spc="-254" dirty="0">
                <a:latin typeface="Arial MT"/>
                <a:cs typeface="Arial MT"/>
              </a:rPr>
              <a:t> </a:t>
            </a:r>
            <a:r>
              <a:rPr sz="5350" spc="-10" dirty="0">
                <a:latin typeface="Arial MT"/>
                <a:cs typeface="Arial MT"/>
              </a:rPr>
              <a:t>edges.</a:t>
            </a:r>
            <a:endParaRPr sz="5350">
              <a:latin typeface="Arial MT"/>
              <a:cs typeface="Arial MT"/>
            </a:endParaRPr>
          </a:p>
          <a:p>
            <a:pPr marL="25400" algn="ctr">
              <a:lnSpc>
                <a:spcPct val="100000"/>
              </a:lnSpc>
              <a:spcBef>
                <a:spcPts val="980"/>
              </a:spcBef>
            </a:pPr>
            <a:r>
              <a:rPr sz="5350" spc="45" dirty="0">
                <a:latin typeface="Arial MT"/>
                <a:cs typeface="Arial MT"/>
              </a:rPr>
              <a:t>Nothing</a:t>
            </a:r>
            <a:r>
              <a:rPr sz="5350" spc="-240" dirty="0">
                <a:latin typeface="Arial MT"/>
                <a:cs typeface="Arial MT"/>
              </a:rPr>
              <a:t> </a:t>
            </a:r>
            <a:r>
              <a:rPr sz="5350" spc="-40" dirty="0">
                <a:latin typeface="Arial MT"/>
                <a:cs typeface="Arial MT"/>
              </a:rPr>
              <a:t>more.</a:t>
            </a:r>
            <a:r>
              <a:rPr sz="5350" spc="-540" dirty="0">
                <a:latin typeface="Arial MT"/>
                <a:cs typeface="Arial MT"/>
              </a:rPr>
              <a:t> </a:t>
            </a:r>
            <a:r>
              <a:rPr sz="5350" dirty="0">
                <a:latin typeface="Arial MT"/>
                <a:cs typeface="Arial MT"/>
              </a:rPr>
              <a:t>Nothing</a:t>
            </a:r>
            <a:r>
              <a:rPr sz="5350" spc="-30" dirty="0">
                <a:latin typeface="Arial MT"/>
                <a:cs typeface="Arial MT"/>
              </a:rPr>
              <a:t> </a:t>
            </a:r>
            <a:r>
              <a:rPr sz="5350" spc="-10" dirty="0">
                <a:latin typeface="Arial MT"/>
                <a:cs typeface="Arial MT"/>
              </a:rPr>
              <a:t>less.</a:t>
            </a:r>
            <a:endParaRPr sz="535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5985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1398-d332-891d-8000-0000250b8b0f.png?kimi-sig=CJuzfu2Jroi2t0LgAHOs8ZelVmrNqgVXBRU_prBBM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" y="0"/>
            <a:ext cx="17339733" cy="9753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1399-ae22-8f54-8000-000026b5227f.png?kimi-sig=N-dbQSkfVC5z-ptij06NV2QG7S50oNdP-_kGZxNMe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" y="0"/>
            <a:ext cx="17339733" cy="9753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1399-6022-8f0a-8000-0000d317534b.png?kimi-sig=L8grRRChzY83pPsVK3oHkj3MktTD74tVgwdvqQl2Mu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" y="0"/>
            <a:ext cx="17339733" cy="9753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1399-ebf2-834d-8000-000099795cf9.png?kimi-sig=xVUXdWC14wc5jyM-xdEEK_z4e5zIZ2IExZ1HFUQ1Mb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" y="0"/>
            <a:ext cx="17339733" cy="9753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67733" y="1"/>
            <a:ext cx="17357796" cy="97761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418" y="1300480"/>
            <a:ext cx="16942364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512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ToolNode: </a:t>
            </a:r>
            <a:r>
              <a:rPr lang="en-IN" sz="5120" b="1" dirty="0">
                <a:solidFill>
                  <a:srgbClr val="6A8B61"/>
                </a:solidFill>
                <a:latin typeface="Noto Sans SC" pitchFamily="34" charset="0"/>
                <a:cs typeface="Noto Sans SC" pitchFamily="34" charset="-120"/>
              </a:rPr>
              <a:t>Safe</a:t>
            </a:r>
            <a:r>
              <a:rPr lang="en-IN" sz="5400" spc="-18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lang="en-IN" sz="5120" b="1" dirty="0">
                <a:solidFill>
                  <a:srgbClr val="6A8B61"/>
                </a:solidFill>
                <a:latin typeface="Noto Sans SC" pitchFamily="34" charset="0"/>
                <a:cs typeface="Noto Sans SC" pitchFamily="34" charset="-120"/>
              </a:rPr>
              <a:t>External</a:t>
            </a:r>
            <a:r>
              <a:rPr lang="en-IN" sz="5400" spc="-1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5120" b="1" dirty="0">
                <a:solidFill>
                  <a:srgbClr val="6A8B61"/>
                </a:solidFill>
                <a:latin typeface="Noto Sans SC" pitchFamily="34" charset="0"/>
                <a:cs typeface="Noto Sans SC" pitchFamily="34" charset="-120"/>
              </a:rPr>
              <a:t>Integration</a:t>
            </a:r>
          </a:p>
          <a:p>
            <a:pPr algn="ctr">
              <a:lnSpc>
                <a:spcPct val="90000"/>
              </a:lnSpc>
            </a:pPr>
            <a:r>
              <a:rPr lang="en-US" sz="2800" spc="-315" dirty="0">
                <a:latin typeface="Arial MT"/>
                <a:cs typeface="Arial MT"/>
              </a:rPr>
              <a:t>A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pre-built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node</a:t>
            </a:r>
            <a:r>
              <a:rPr lang="en-US" sz="2800" spc="-6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that</a:t>
            </a:r>
            <a:r>
              <a:rPr lang="en-US" sz="2800" spc="50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safely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spc="-25" dirty="0">
                <a:latin typeface="Arial MT"/>
                <a:cs typeface="Arial MT"/>
              </a:rPr>
              <a:t>executes</a:t>
            </a:r>
            <a:r>
              <a:rPr lang="en-US" sz="2800" spc="60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tools </a:t>
            </a:r>
            <a:r>
              <a:rPr lang="en-US" sz="2800" dirty="0">
                <a:latin typeface="Arial MT"/>
                <a:cs typeface="Arial MT"/>
              </a:rPr>
              <a:t>like</a:t>
            </a:r>
            <a:r>
              <a:rPr lang="en-US" sz="2800" spc="-145" dirty="0">
                <a:latin typeface="Arial MT"/>
                <a:cs typeface="Arial MT"/>
              </a:rPr>
              <a:t> </a:t>
            </a:r>
            <a:r>
              <a:rPr lang="en-US" sz="2800" spc="-160" dirty="0">
                <a:latin typeface="Arial MT"/>
                <a:cs typeface="Arial MT"/>
              </a:rPr>
              <a:t>APIs</a:t>
            </a:r>
            <a:r>
              <a:rPr lang="en-US" sz="2800" spc="-5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or</a:t>
            </a:r>
            <a:r>
              <a:rPr lang="en-US" sz="2800" spc="-6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functions,</a:t>
            </a:r>
            <a:r>
              <a:rPr lang="en-US" sz="2800" spc="-50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handling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parsing, </a:t>
            </a:r>
            <a:r>
              <a:rPr lang="en-US" sz="2800" dirty="0">
                <a:latin typeface="Arial MT"/>
                <a:cs typeface="Arial MT"/>
              </a:rPr>
              <a:t>errors,</a:t>
            </a:r>
            <a:r>
              <a:rPr lang="en-US" sz="2800" spc="-15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and</a:t>
            </a:r>
            <a:r>
              <a:rPr lang="en-US" sz="2800" spc="-204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formatting.</a:t>
            </a:r>
            <a:endParaRPr lang="en-US" sz="2800" dirty="0">
              <a:latin typeface="Arial MT"/>
              <a:cs typeface="Arial MT"/>
            </a:endParaRPr>
          </a:p>
          <a:p>
            <a:pPr algn="ctr">
              <a:lnSpc>
                <a:spcPct val="90000"/>
              </a:lnSpc>
            </a:pPr>
            <a:endParaRPr lang="en-US" sz="5120" b="1" dirty="0">
              <a:solidFill>
                <a:srgbClr val="6A8B61"/>
              </a:solidFill>
              <a:latin typeface="Noto Sans SC" pitchFamily="34" charset="0"/>
              <a:cs typeface="Noto Sans SC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7698" y="2600960"/>
            <a:ext cx="16779804" cy="101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ToolNode is the bridge between the LLM's plan and the real world. It executes the functions the LLM decides to call.</a:t>
            </a:r>
            <a:endParaRPr lang="en-US" sz="2276" dirty="0"/>
          </a:p>
        </p:txBody>
      </p:sp>
      <p:pic>
        <p:nvPicPr>
          <p:cNvPr id="5" name="Image 1" descr="https://kimi-web-img.moonshot.cn/img/www.nibib.nih.gov/cfb4cf9ee7dcfd69633b2fb2a492f143bd461948.jpg"/>
          <p:cNvPicPr>
            <a:picLocks noChangeAspect="1"/>
          </p:cNvPicPr>
          <p:nvPr/>
        </p:nvPicPr>
        <p:blipFill>
          <a:blip r:embed="rId4"/>
          <a:srcRect l="16667" r="16667"/>
          <a:stretch/>
        </p:blipFill>
        <p:spPr>
          <a:xfrm>
            <a:off x="1699259" y="4479431"/>
            <a:ext cx="1733973" cy="1733973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2"/>
          <p:cNvSpPr/>
          <p:nvPr/>
        </p:nvSpPr>
        <p:spPr>
          <a:xfrm>
            <a:off x="1394177" y="6357902"/>
            <a:ext cx="2348089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 (The Brain)</a:t>
            </a:r>
            <a:endParaRPr lang="en-US" sz="2276" dirty="0"/>
          </a:p>
        </p:txBody>
      </p:sp>
      <p:sp>
        <p:nvSpPr>
          <p:cNvPr id="7" name="Text 3"/>
          <p:cNvSpPr/>
          <p:nvPr/>
        </p:nvSpPr>
        <p:spPr>
          <a:xfrm>
            <a:off x="1286933" y="6791396"/>
            <a:ext cx="2564836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Decides to use a tool.</a:t>
            </a:r>
            <a:endParaRPr lang="en-US" sz="2276" dirty="0"/>
          </a:p>
        </p:txBody>
      </p:sp>
      <p:sp>
        <p:nvSpPr>
          <p:cNvPr id="8" name="Text 4"/>
          <p:cNvSpPr/>
          <p:nvPr/>
        </p:nvSpPr>
        <p:spPr>
          <a:xfrm>
            <a:off x="4763629" y="5274169"/>
            <a:ext cx="1625600" cy="108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533" dirty="0">
                <a:solidFill>
                  <a:srgbClr val="93A47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276" dirty="0"/>
          </a:p>
        </p:txBody>
      </p:sp>
      <p:sp>
        <p:nvSpPr>
          <p:cNvPr id="9" name="Shape 5"/>
          <p:cNvSpPr/>
          <p:nvPr/>
        </p:nvSpPr>
        <p:spPr>
          <a:xfrm>
            <a:off x="5967589" y="4190436"/>
            <a:ext cx="5545102" cy="3251200"/>
          </a:xfrm>
          <a:custGeom>
            <a:avLst/>
            <a:gdLst/>
            <a:ahLst/>
            <a:cxnLst/>
            <a:rect l="l" t="t" r="r" b="b"/>
            <a:pathLst>
              <a:path w="3898900" h="2286000">
                <a:moveTo>
                  <a:pt x="152408" y="0"/>
                </a:moveTo>
                <a:lnTo>
                  <a:pt x="3746492" y="0"/>
                </a:lnTo>
                <a:cubicBezTo>
                  <a:pt x="3830665" y="0"/>
                  <a:pt x="3898900" y="68235"/>
                  <a:pt x="3898900" y="152408"/>
                </a:cubicBezTo>
                <a:lnTo>
                  <a:pt x="3898900" y="2133592"/>
                </a:lnTo>
                <a:cubicBezTo>
                  <a:pt x="3898900" y="2217765"/>
                  <a:pt x="3830665" y="2286000"/>
                  <a:pt x="3746492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sz="2560"/>
          </a:p>
        </p:txBody>
      </p:sp>
      <p:pic>
        <p:nvPicPr>
          <p:cNvPr id="10" name="Image 2" descr="https://kimi-web-img.moonshot.cn/img/www.teslarati.com/378c4acb2d07d94c7dd809022df9a625214c6925.jpg"/>
          <p:cNvPicPr>
            <a:picLocks noChangeAspect="1"/>
          </p:cNvPicPr>
          <p:nvPr/>
        </p:nvPicPr>
        <p:blipFill>
          <a:blip r:embed="rId5"/>
          <a:srcRect l="22187" r="22187"/>
          <a:stretch/>
        </p:blipFill>
        <p:spPr>
          <a:xfrm>
            <a:off x="7870049" y="4479431"/>
            <a:ext cx="1733973" cy="1733973"/>
          </a:xfrm>
          <a:prstGeom prst="roundRect">
            <a:avLst>
              <a:gd name="adj" fmla="val 5000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7067127" y="6357902"/>
            <a:ext cx="3341511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ToolNode (The Worker)</a:t>
            </a:r>
            <a:endParaRPr lang="en-US" sz="2276" dirty="0"/>
          </a:p>
        </p:txBody>
      </p:sp>
      <p:sp>
        <p:nvSpPr>
          <p:cNvPr id="12" name="Text 7"/>
          <p:cNvSpPr/>
          <p:nvPr/>
        </p:nvSpPr>
        <p:spPr>
          <a:xfrm>
            <a:off x="7204851" y="6791396"/>
            <a:ext cx="3070578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Executes the function call.</a:t>
            </a:r>
            <a:endParaRPr lang="en-US" sz="2276" dirty="0"/>
          </a:p>
        </p:txBody>
      </p:sp>
      <p:sp>
        <p:nvSpPr>
          <p:cNvPr id="13" name="Text 8"/>
          <p:cNvSpPr/>
          <p:nvPr/>
        </p:nvSpPr>
        <p:spPr>
          <a:xfrm>
            <a:off x="11626709" y="5274169"/>
            <a:ext cx="1625600" cy="108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533" dirty="0">
                <a:solidFill>
                  <a:srgbClr val="93A47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276" dirty="0"/>
          </a:p>
        </p:txBody>
      </p:sp>
      <p:pic>
        <p:nvPicPr>
          <p:cNvPr id="14" name="Image 3" descr="https://kimi-web-img.moonshot.cn/img/cdn-images-1.medium.com/267f312d3189f643d2f1d5a8c076616a474cc9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838" y="4479431"/>
            <a:ext cx="1733973" cy="1733973"/>
          </a:xfrm>
          <a:prstGeom prst="roundRect">
            <a:avLst>
              <a:gd name="adj" fmla="val 50000"/>
            </a:avLst>
          </a:prstGeom>
        </p:spPr>
      </p:pic>
      <p:sp>
        <p:nvSpPr>
          <p:cNvPr id="15" name="Text 9"/>
          <p:cNvSpPr/>
          <p:nvPr/>
        </p:nvSpPr>
        <p:spPr>
          <a:xfrm>
            <a:off x="14393897" y="6357902"/>
            <a:ext cx="1029547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</a:t>
            </a:r>
            <a:endParaRPr lang="en-US" sz="2276" dirty="0"/>
          </a:p>
        </p:txBody>
      </p:sp>
      <p:sp>
        <p:nvSpPr>
          <p:cNvPr id="16" name="Text 10"/>
          <p:cNvSpPr/>
          <p:nvPr/>
        </p:nvSpPr>
        <p:spPr>
          <a:xfrm>
            <a:off x="13452969" y="6791396"/>
            <a:ext cx="2908018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Returns data to the LLM.</a:t>
            </a:r>
            <a:endParaRPr lang="en-US" sz="2276" dirty="0"/>
          </a:p>
        </p:txBody>
      </p:sp>
      <p:sp>
        <p:nvSpPr>
          <p:cNvPr id="17" name="Text 11"/>
          <p:cNvSpPr/>
          <p:nvPr/>
        </p:nvSpPr>
        <p:spPr>
          <a:xfrm>
            <a:off x="356729" y="8019627"/>
            <a:ext cx="16761742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handles parallel execution, error trapping, and formatting, so the agent can </a:t>
            </a:r>
            <a:r>
              <a:rPr lang="en-US" sz="2276" b="1" dirty="0">
                <a:solidFill>
                  <a:srgbClr val="333333"/>
                </a:solidFill>
                <a:highlight>
                  <a:srgbClr val="A8C3A0">
                    <a:alpha val="5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self-correct on the next loop.</a:t>
            </a:r>
            <a:endParaRPr lang="en-US" sz="2276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13a5-7b02-8e0a-8000-000081b73fdd.png?kimi-sig=uyYLBkPSj3rjvcIZSjEjop8DHSC9k5oWuZCgavqz5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" y="0"/>
            <a:ext cx="1733973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5404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067" y="0"/>
            <a:ext cx="6502400" cy="975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592" y="758096"/>
            <a:ext cx="7890792" cy="83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519"/>
              </a:lnSpc>
            </a:pPr>
            <a:r>
              <a:rPr lang="en-US" sz="5215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LangGraph Checkpointers</a:t>
            </a:r>
            <a:endParaRPr lang="en-US" sz="5215" dirty="0"/>
          </a:p>
        </p:txBody>
      </p:sp>
      <p:sp>
        <p:nvSpPr>
          <p:cNvPr id="4" name="Text 1"/>
          <p:cNvSpPr/>
          <p:nvPr/>
        </p:nvSpPr>
        <p:spPr>
          <a:xfrm>
            <a:off x="1201076" y="1861228"/>
            <a:ext cx="6673145" cy="417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Your Agent's Automatic Save-Game System</a:t>
            </a:r>
            <a:endParaRPr lang="en-US" sz="2607" dirty="0"/>
          </a:p>
        </p:txBody>
      </p:sp>
      <p:sp>
        <p:nvSpPr>
          <p:cNvPr id="5" name="Text 2"/>
          <p:cNvSpPr/>
          <p:nvPr/>
        </p:nvSpPr>
        <p:spPr>
          <a:xfrm>
            <a:off x="1076608" y="2547094"/>
            <a:ext cx="8851618" cy="90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556"/>
              </a:lnSpc>
            </a:pPr>
            <a:r>
              <a:rPr lang="en-US" sz="2193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Every time a node finishes, LangGraph takes a full snapshot. Think of it as creating restore points throughout your agent's execution journey.</a:t>
            </a:r>
            <a:endParaRPr lang="en-US" sz="2193" dirty="0"/>
          </a:p>
        </p:txBody>
      </p:sp>
      <p:sp>
        <p:nvSpPr>
          <p:cNvPr id="6" name="Text 2"/>
          <p:cNvSpPr/>
          <p:nvPr/>
        </p:nvSpPr>
        <p:spPr>
          <a:xfrm>
            <a:off x="1060592" y="3821665"/>
            <a:ext cx="8789811" cy="87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437"/>
              </a:lnSpc>
            </a:pPr>
            <a:r>
              <a:rPr lang="en-US" sz="2252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Checkpoints enable you to pause execution, resume later, or even rewind to previous states for debugging and recovery.</a:t>
            </a:r>
            <a:endParaRPr lang="en-US" sz="22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592" y="1106170"/>
            <a:ext cx="11309491" cy="83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519"/>
              </a:lnSpc>
            </a:pPr>
            <a:r>
              <a:rPr lang="en-US" sz="5215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Gets Saved in Each Checkpoint</a:t>
            </a:r>
            <a:endParaRPr lang="en-US" sz="5215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592" y="2507968"/>
            <a:ext cx="709224" cy="70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0592" y="3571805"/>
            <a:ext cx="3337701" cy="417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Entire State</a:t>
            </a:r>
            <a:endParaRPr lang="en-US" sz="2607" dirty="0"/>
          </a:p>
        </p:txBody>
      </p:sp>
      <p:sp>
        <p:nvSpPr>
          <p:cNvPr id="5" name="Text 2"/>
          <p:cNvSpPr/>
          <p:nvPr/>
        </p:nvSpPr>
        <p:spPr>
          <a:xfrm>
            <a:off x="1060591" y="4159109"/>
            <a:ext cx="4881598" cy="1361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556"/>
              </a:lnSpc>
            </a:pPr>
            <a:r>
              <a:rPr lang="en-US" sz="2193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All messages, variables, files, and data structures preserved exactly as they were.</a:t>
            </a:r>
            <a:endParaRPr lang="en-US" sz="219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6801" y="2507968"/>
            <a:ext cx="709224" cy="7092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6802" y="3571805"/>
            <a:ext cx="3337701" cy="417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Node History</a:t>
            </a:r>
            <a:endParaRPr lang="en-US" sz="2607" dirty="0"/>
          </a:p>
        </p:txBody>
      </p:sp>
      <p:sp>
        <p:nvSpPr>
          <p:cNvPr id="8" name="Text 4"/>
          <p:cNvSpPr/>
          <p:nvPr/>
        </p:nvSpPr>
        <p:spPr>
          <a:xfrm>
            <a:off x="6296801" y="4159109"/>
            <a:ext cx="4881598" cy="90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556"/>
              </a:lnSpc>
            </a:pPr>
            <a:r>
              <a:rPr lang="en-US" sz="2193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Which node just ran and completed its execution.</a:t>
            </a:r>
            <a:endParaRPr lang="en-US" sz="219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3011" y="2507968"/>
            <a:ext cx="709224" cy="7092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33011" y="3571805"/>
            <a:ext cx="3337701" cy="417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Next Destination</a:t>
            </a:r>
            <a:endParaRPr lang="en-US" sz="2607" dirty="0"/>
          </a:p>
        </p:txBody>
      </p:sp>
      <p:sp>
        <p:nvSpPr>
          <p:cNvPr id="11" name="Text 6"/>
          <p:cNvSpPr/>
          <p:nvPr/>
        </p:nvSpPr>
        <p:spPr>
          <a:xfrm>
            <a:off x="11533011" y="4159109"/>
            <a:ext cx="4881598" cy="90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556"/>
              </a:lnSpc>
            </a:pPr>
            <a:r>
              <a:rPr lang="en-US" sz="2193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Where the graph should go next in the execution flow.</a:t>
            </a:r>
            <a:endParaRPr lang="en-US" sz="2193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0592" y="6088381"/>
            <a:ext cx="709224" cy="7092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0592" y="7152217"/>
            <a:ext cx="3337701" cy="417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Timestamp</a:t>
            </a:r>
            <a:endParaRPr lang="en-US" sz="2607" dirty="0"/>
          </a:p>
        </p:txBody>
      </p:sp>
      <p:sp>
        <p:nvSpPr>
          <p:cNvPr id="14" name="Text 8"/>
          <p:cNvSpPr/>
          <p:nvPr/>
        </p:nvSpPr>
        <p:spPr>
          <a:xfrm>
            <a:off x="1060591" y="7739521"/>
            <a:ext cx="4881598" cy="90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556"/>
              </a:lnSpc>
            </a:pPr>
            <a:r>
              <a:rPr lang="en-US" sz="2193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When this checkpoint was created for debugging and replay.</a:t>
            </a:r>
            <a:endParaRPr lang="en-US" sz="2193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6801" y="6088381"/>
            <a:ext cx="709224" cy="7092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96802" y="7152217"/>
            <a:ext cx="3337701" cy="417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Thread ID</a:t>
            </a:r>
            <a:endParaRPr lang="en-US" sz="2607" dirty="0"/>
          </a:p>
        </p:txBody>
      </p:sp>
      <p:sp>
        <p:nvSpPr>
          <p:cNvPr id="17" name="Text 10"/>
          <p:cNvSpPr/>
          <p:nvPr/>
        </p:nvSpPr>
        <p:spPr>
          <a:xfrm>
            <a:off x="6296801" y="7739521"/>
            <a:ext cx="4881598" cy="90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556"/>
              </a:lnSpc>
            </a:pPr>
            <a:r>
              <a:rPr lang="en-US" sz="2193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Who this checkpoint belongs to for multi-user scenarios.</a:t>
            </a:r>
            <a:endParaRPr lang="en-US" sz="219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455B5-1A2F-3786-EBD8-77E92CA2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436288"/>
            <a:ext cx="16992601" cy="884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067" y="0"/>
            <a:ext cx="6502400" cy="975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295" y="925125"/>
            <a:ext cx="6232878" cy="750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867"/>
              </a:lnSpc>
            </a:pPr>
            <a:r>
              <a:rPr lang="en-US" sz="4682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Human-in-the-Loop</a:t>
            </a:r>
            <a:endParaRPr lang="en-US" sz="4682" dirty="0"/>
          </a:p>
        </p:txBody>
      </p:sp>
      <p:sp>
        <p:nvSpPr>
          <p:cNvPr id="4" name="Shape 1"/>
          <p:cNvSpPr/>
          <p:nvPr/>
        </p:nvSpPr>
        <p:spPr>
          <a:xfrm>
            <a:off x="1289473" y="2071794"/>
            <a:ext cx="36124" cy="5667022"/>
          </a:xfrm>
          <a:prstGeom prst="roundRect">
            <a:avLst>
              <a:gd name="adj" fmla="val 109691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550530" y="2350911"/>
            <a:ext cx="792480" cy="36124"/>
          </a:xfrm>
          <a:prstGeom prst="roundRect">
            <a:avLst>
              <a:gd name="adj" fmla="val 109691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92294" y="2071794"/>
            <a:ext cx="594360" cy="59436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109415" y="2143831"/>
            <a:ext cx="360116" cy="450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5"/>
              </a:lnSpc>
            </a:pPr>
            <a:r>
              <a:rPr lang="en-US" sz="2785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785" dirty="0"/>
          </a:p>
        </p:txBody>
      </p:sp>
      <p:sp>
        <p:nvSpPr>
          <p:cNvPr id="8" name="Text 5"/>
          <p:cNvSpPr/>
          <p:nvPr/>
        </p:nvSpPr>
        <p:spPr>
          <a:xfrm>
            <a:off x="2610274" y="2162528"/>
            <a:ext cx="3001857" cy="375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904"/>
              </a:lnSpc>
            </a:pPr>
            <a:r>
              <a:rPr lang="en-US" sz="2311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Agent Processing</a:t>
            </a:r>
            <a:endParaRPr lang="en-US" sz="2311" dirty="0"/>
          </a:p>
        </p:txBody>
      </p:sp>
      <p:sp>
        <p:nvSpPr>
          <p:cNvPr id="9" name="Text 6"/>
          <p:cNvSpPr/>
          <p:nvPr/>
        </p:nvSpPr>
        <p:spPr>
          <a:xfrm>
            <a:off x="2610273" y="2696069"/>
            <a:ext cx="7370233" cy="3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82"/>
              </a:lnSpc>
            </a:pPr>
            <a:r>
              <a:rPr lang="en-US" sz="2074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Graph executes automated steps</a:t>
            </a:r>
            <a:endParaRPr lang="en-US" sz="2074" dirty="0"/>
          </a:p>
        </p:txBody>
      </p:sp>
      <p:sp>
        <p:nvSpPr>
          <p:cNvPr id="10" name="Shape 7"/>
          <p:cNvSpPr/>
          <p:nvPr/>
        </p:nvSpPr>
        <p:spPr>
          <a:xfrm>
            <a:off x="1550530" y="3899747"/>
            <a:ext cx="792480" cy="36124"/>
          </a:xfrm>
          <a:prstGeom prst="roundRect">
            <a:avLst>
              <a:gd name="adj" fmla="val 109691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92294" y="3620630"/>
            <a:ext cx="594360" cy="59436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09415" y="3692666"/>
            <a:ext cx="360116" cy="450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5"/>
              </a:lnSpc>
            </a:pPr>
            <a:r>
              <a:rPr lang="en-US" sz="2785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785" dirty="0"/>
          </a:p>
        </p:txBody>
      </p:sp>
      <p:sp>
        <p:nvSpPr>
          <p:cNvPr id="13" name="Text 10"/>
          <p:cNvSpPr/>
          <p:nvPr/>
        </p:nvSpPr>
        <p:spPr>
          <a:xfrm>
            <a:off x="2610274" y="3711364"/>
            <a:ext cx="3001857" cy="375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904"/>
              </a:lnSpc>
            </a:pPr>
            <a:r>
              <a:rPr lang="en-US" sz="2311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Pause for Review</a:t>
            </a:r>
            <a:endParaRPr lang="en-US" sz="2311" dirty="0"/>
          </a:p>
        </p:txBody>
      </p:sp>
      <p:sp>
        <p:nvSpPr>
          <p:cNvPr id="14" name="Text 11"/>
          <p:cNvSpPr/>
          <p:nvPr/>
        </p:nvSpPr>
        <p:spPr>
          <a:xfrm>
            <a:off x="2610273" y="4244904"/>
            <a:ext cx="7370233" cy="3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82"/>
              </a:lnSpc>
            </a:pPr>
            <a:r>
              <a:rPr lang="en-US" sz="2074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Execution stops for human input</a:t>
            </a:r>
            <a:endParaRPr lang="en-US" sz="2074" dirty="0"/>
          </a:p>
        </p:txBody>
      </p:sp>
      <p:sp>
        <p:nvSpPr>
          <p:cNvPr id="15" name="Shape 12"/>
          <p:cNvSpPr/>
          <p:nvPr/>
        </p:nvSpPr>
        <p:spPr>
          <a:xfrm>
            <a:off x="1550530" y="5448582"/>
            <a:ext cx="792480" cy="36124"/>
          </a:xfrm>
          <a:prstGeom prst="roundRect">
            <a:avLst>
              <a:gd name="adj" fmla="val 109691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992294" y="5169465"/>
            <a:ext cx="594360" cy="59436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109415" y="5241502"/>
            <a:ext cx="360116" cy="450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5"/>
              </a:lnSpc>
            </a:pPr>
            <a:r>
              <a:rPr lang="en-US" sz="2785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785" dirty="0"/>
          </a:p>
        </p:txBody>
      </p:sp>
      <p:sp>
        <p:nvSpPr>
          <p:cNvPr id="18" name="Text 15"/>
          <p:cNvSpPr/>
          <p:nvPr/>
        </p:nvSpPr>
        <p:spPr>
          <a:xfrm>
            <a:off x="2610274" y="5260199"/>
            <a:ext cx="3001857" cy="375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904"/>
              </a:lnSpc>
            </a:pPr>
            <a:r>
              <a:rPr lang="en-US" sz="2311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Decision</a:t>
            </a:r>
            <a:endParaRPr lang="en-US" sz="2311" dirty="0"/>
          </a:p>
        </p:txBody>
      </p:sp>
      <p:sp>
        <p:nvSpPr>
          <p:cNvPr id="19" name="Text 16"/>
          <p:cNvSpPr/>
          <p:nvPr/>
        </p:nvSpPr>
        <p:spPr>
          <a:xfrm>
            <a:off x="2610273" y="5793740"/>
            <a:ext cx="7370233" cy="3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82"/>
              </a:lnSpc>
            </a:pPr>
            <a:r>
              <a:rPr lang="en-US" sz="2074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reviews and approves action</a:t>
            </a:r>
            <a:endParaRPr lang="en-US" sz="2074" dirty="0"/>
          </a:p>
        </p:txBody>
      </p:sp>
      <p:sp>
        <p:nvSpPr>
          <p:cNvPr id="20" name="Shape 17"/>
          <p:cNvSpPr/>
          <p:nvPr/>
        </p:nvSpPr>
        <p:spPr>
          <a:xfrm>
            <a:off x="1550530" y="6997418"/>
            <a:ext cx="792480" cy="36124"/>
          </a:xfrm>
          <a:prstGeom prst="roundRect">
            <a:avLst>
              <a:gd name="adj" fmla="val 109691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992294" y="6718301"/>
            <a:ext cx="594360" cy="59436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109415" y="6790337"/>
            <a:ext cx="360116" cy="450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5"/>
              </a:lnSpc>
            </a:pPr>
            <a:r>
              <a:rPr lang="en-US" sz="2785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785" dirty="0"/>
          </a:p>
        </p:txBody>
      </p:sp>
      <p:sp>
        <p:nvSpPr>
          <p:cNvPr id="23" name="Text 20"/>
          <p:cNvSpPr/>
          <p:nvPr/>
        </p:nvSpPr>
        <p:spPr>
          <a:xfrm>
            <a:off x="2610274" y="6809035"/>
            <a:ext cx="3094285" cy="375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904"/>
              </a:lnSpc>
            </a:pPr>
            <a:r>
              <a:rPr lang="en-US" sz="2311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Continue Execution</a:t>
            </a:r>
            <a:endParaRPr lang="en-US" sz="2311" dirty="0"/>
          </a:p>
        </p:txBody>
      </p:sp>
      <p:sp>
        <p:nvSpPr>
          <p:cNvPr id="24" name="Text 21"/>
          <p:cNvSpPr/>
          <p:nvPr/>
        </p:nvSpPr>
        <p:spPr>
          <a:xfrm>
            <a:off x="2610273" y="7342575"/>
            <a:ext cx="7370233" cy="3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82"/>
              </a:lnSpc>
            </a:pPr>
            <a:r>
              <a:rPr lang="en-US" sz="2074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Graph resumes with approval</a:t>
            </a:r>
            <a:endParaRPr lang="en-US" sz="2074" dirty="0"/>
          </a:p>
        </p:txBody>
      </p:sp>
      <p:sp>
        <p:nvSpPr>
          <p:cNvPr id="25" name="Text 22"/>
          <p:cNvSpPr/>
          <p:nvPr/>
        </p:nvSpPr>
        <p:spPr>
          <a:xfrm>
            <a:off x="992295" y="8035996"/>
            <a:ext cx="8988213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82"/>
              </a:lnSpc>
            </a:pPr>
            <a:r>
              <a:rPr lang="en-US" sz="2074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Human-in-the-Loop allows you to pause graph execution for human review and approval before critical actions, ensuring oversight and control.</a:t>
            </a:r>
            <a:endParaRPr lang="en-US" sz="2074" dirty="0"/>
          </a:p>
        </p:txBody>
      </p:sp>
    </p:spTree>
    <p:extLst>
      <p:ext uri="{BB962C8B-B14F-4D97-AF65-F5344CB8AC3E}">
        <p14:creationId xmlns:p14="http://schemas.microsoft.com/office/powerpoint/2010/main" val="2403867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8500" y="5969000"/>
            <a:ext cx="3289300" cy="1727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3900" y="4965700"/>
            <a:ext cx="774700" cy="889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0200" y="3644900"/>
            <a:ext cx="7353300" cy="2082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6064" y="630413"/>
            <a:ext cx="11589385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105" dirty="0">
                <a:solidFill>
                  <a:srgbClr val="263D6B"/>
                </a:solidFill>
              </a:rPr>
              <a:t>Keeping</a:t>
            </a:r>
            <a:r>
              <a:rPr sz="5450" spc="-35" dirty="0">
                <a:solidFill>
                  <a:srgbClr val="263D6B"/>
                </a:solidFill>
              </a:rPr>
              <a:t> </a:t>
            </a:r>
            <a:r>
              <a:rPr sz="5450" spc="-100" dirty="0">
                <a:solidFill>
                  <a:srgbClr val="243A69"/>
                </a:solidFill>
              </a:rPr>
              <a:t>a</a:t>
            </a:r>
            <a:r>
              <a:rPr sz="5450" spc="-305" dirty="0">
                <a:solidFill>
                  <a:srgbClr val="243A69"/>
                </a:solidFill>
              </a:rPr>
              <a:t> </a:t>
            </a:r>
            <a:r>
              <a:rPr sz="5450" spc="100" dirty="0">
                <a:solidFill>
                  <a:srgbClr val="263B6B"/>
                </a:solidFill>
              </a:rPr>
              <a:t>Human</a:t>
            </a:r>
            <a:r>
              <a:rPr sz="5450" spc="-245" dirty="0">
                <a:solidFill>
                  <a:srgbClr val="263B6B"/>
                </a:solidFill>
              </a:rPr>
              <a:t> </a:t>
            </a:r>
            <a:r>
              <a:rPr sz="5450" spc="60" dirty="0">
                <a:solidFill>
                  <a:srgbClr val="233B64"/>
                </a:solidFill>
              </a:rPr>
              <a:t>in</a:t>
            </a:r>
            <a:r>
              <a:rPr sz="5450" spc="170" dirty="0">
                <a:solidFill>
                  <a:srgbClr val="233B64"/>
                </a:solidFill>
              </a:rPr>
              <a:t> </a:t>
            </a:r>
            <a:r>
              <a:rPr sz="5450" spc="220" dirty="0">
                <a:solidFill>
                  <a:srgbClr val="283F6E"/>
                </a:solidFill>
              </a:rPr>
              <a:t>the</a:t>
            </a:r>
            <a:r>
              <a:rPr sz="5450" spc="-325" dirty="0">
                <a:solidFill>
                  <a:srgbClr val="283F6E"/>
                </a:solidFill>
              </a:rPr>
              <a:t> </a:t>
            </a:r>
            <a:r>
              <a:rPr sz="5450" spc="85" dirty="0">
                <a:solidFill>
                  <a:srgbClr val="243B67"/>
                </a:solidFill>
              </a:rPr>
              <a:t>Loop</a:t>
            </a:r>
            <a:r>
              <a:rPr sz="5450" dirty="0">
                <a:solidFill>
                  <a:srgbClr val="243B67"/>
                </a:solidFill>
              </a:rPr>
              <a:t> </a:t>
            </a:r>
            <a:r>
              <a:rPr sz="5450" spc="-10" dirty="0">
                <a:solidFill>
                  <a:srgbClr val="263D69"/>
                </a:solidFill>
              </a:rPr>
              <a:t>(HITL)</a:t>
            </a:r>
            <a:endParaRPr sz="5450"/>
          </a:p>
        </p:txBody>
      </p:sp>
      <p:sp>
        <p:nvSpPr>
          <p:cNvPr id="6" name="object 6"/>
          <p:cNvSpPr txBox="1"/>
          <p:nvPr/>
        </p:nvSpPr>
        <p:spPr>
          <a:xfrm>
            <a:off x="888256" y="1673930"/>
            <a:ext cx="15079980" cy="1743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-110" dirty="0">
                <a:latin typeface="Arial MT"/>
                <a:cs typeface="Arial MT"/>
              </a:rPr>
              <a:t>HITL</a:t>
            </a:r>
            <a:r>
              <a:rPr sz="3800" spc="-14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isn't</a:t>
            </a:r>
            <a:r>
              <a:rPr sz="3800" spc="2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a</a:t>
            </a:r>
            <a:r>
              <a:rPr sz="3800" spc="-10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hack</a:t>
            </a:r>
            <a:r>
              <a:rPr sz="3800" spc="4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or</a:t>
            </a:r>
            <a:r>
              <a:rPr sz="3800" spc="2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an</a:t>
            </a:r>
            <a:r>
              <a:rPr sz="3800" spc="-5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afterthought</a:t>
            </a:r>
            <a:r>
              <a:rPr sz="3800" spc="32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in</a:t>
            </a:r>
            <a:r>
              <a:rPr sz="3800" spc="-150" dirty="0">
                <a:latin typeface="Arial MT"/>
                <a:cs typeface="Arial MT"/>
              </a:rPr>
              <a:t> </a:t>
            </a:r>
            <a:r>
              <a:rPr sz="3800" spc="-70" dirty="0">
                <a:latin typeface="Arial MT"/>
                <a:cs typeface="Arial MT"/>
              </a:rPr>
              <a:t>LangGraph;</a:t>
            </a:r>
            <a:r>
              <a:rPr sz="3800" spc="11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it's</a:t>
            </a:r>
            <a:r>
              <a:rPr sz="3800" spc="-50" dirty="0">
                <a:latin typeface="Arial MT"/>
                <a:cs typeface="Arial MT"/>
              </a:rPr>
              <a:t> </a:t>
            </a:r>
            <a:r>
              <a:rPr sz="3800" spc="-300" dirty="0">
                <a:latin typeface="Arial MT"/>
                <a:cs typeface="Arial MT"/>
              </a:rPr>
              <a:t>a</a:t>
            </a:r>
            <a:r>
              <a:rPr sz="3800" spc="3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core</a:t>
            </a:r>
            <a:r>
              <a:rPr sz="3800" spc="-45" dirty="0">
                <a:latin typeface="Arial MT"/>
                <a:cs typeface="Arial MT"/>
              </a:rPr>
              <a:t> </a:t>
            </a:r>
            <a:r>
              <a:rPr sz="3800" spc="-10" dirty="0">
                <a:latin typeface="Arial MT"/>
                <a:cs typeface="Arial MT"/>
              </a:rPr>
              <a:t>capability.</a:t>
            </a:r>
            <a:endParaRPr sz="3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38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  <a:tabLst>
                <a:tab pos="8336280" algn="l"/>
              </a:tabLst>
            </a:pPr>
            <a:r>
              <a:rPr sz="3250" dirty="0">
                <a:solidFill>
                  <a:srgbClr val="2A2A2A"/>
                </a:solidFill>
                <a:latin typeface="Arial MT"/>
                <a:cs typeface="Arial MT"/>
              </a:rPr>
              <a:t>Critical</a:t>
            </a:r>
            <a:r>
              <a:rPr sz="3250" spc="-1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3250" spc="-10" dirty="0">
                <a:solidFill>
                  <a:srgbClr val="21334D"/>
                </a:solidFill>
                <a:latin typeface="Arial MT"/>
                <a:cs typeface="Arial MT"/>
              </a:rPr>
              <a:t>Use</a:t>
            </a:r>
            <a:r>
              <a:rPr sz="3250" spc="-195" dirty="0">
                <a:solidFill>
                  <a:srgbClr val="21334D"/>
                </a:solidFill>
                <a:latin typeface="Arial MT"/>
                <a:cs typeface="Arial MT"/>
              </a:rPr>
              <a:t> </a:t>
            </a:r>
            <a:r>
              <a:rPr sz="3250" spc="-10" dirty="0">
                <a:solidFill>
                  <a:srgbClr val="243652"/>
                </a:solidFill>
                <a:latin typeface="Arial MT"/>
                <a:cs typeface="Arial MT"/>
              </a:rPr>
              <a:t>Cases</a:t>
            </a:r>
            <a:r>
              <a:rPr sz="3250" dirty="0">
                <a:solidFill>
                  <a:srgbClr val="243652"/>
                </a:solidFill>
                <a:latin typeface="Arial MT"/>
                <a:cs typeface="Arial MT"/>
              </a:rPr>
              <a:t>	</a:t>
            </a:r>
            <a:r>
              <a:rPr sz="3250" spc="-10" dirty="0">
                <a:solidFill>
                  <a:srgbClr val="23314B"/>
                </a:solidFill>
                <a:latin typeface="Arial MT"/>
                <a:cs typeface="Arial MT"/>
              </a:rPr>
              <a:t>Code</a:t>
            </a:r>
            <a:r>
              <a:rPr sz="3250" spc="-105" dirty="0">
                <a:solidFill>
                  <a:srgbClr val="23314B"/>
                </a:solidFill>
                <a:latin typeface="Arial MT"/>
                <a:cs typeface="Arial MT"/>
              </a:rPr>
              <a:t> </a:t>
            </a:r>
            <a:r>
              <a:rPr sz="3250" spc="-60" dirty="0">
                <a:solidFill>
                  <a:srgbClr val="1F2D4B"/>
                </a:solidFill>
                <a:latin typeface="Arial MT"/>
                <a:cs typeface="Arial MT"/>
              </a:rPr>
              <a:t>Example</a:t>
            </a:r>
            <a:r>
              <a:rPr sz="3250" spc="-10" dirty="0">
                <a:solidFill>
                  <a:srgbClr val="1F2D4B"/>
                </a:solidFill>
                <a:latin typeface="Arial MT"/>
                <a:cs typeface="Arial MT"/>
              </a:rPr>
              <a:t> </a:t>
            </a:r>
            <a:r>
              <a:rPr sz="3250" dirty="0">
                <a:solidFill>
                  <a:srgbClr val="21314B"/>
                </a:solidFill>
                <a:latin typeface="Arial MT"/>
                <a:cs typeface="Arial MT"/>
              </a:rPr>
              <a:t>(to</a:t>
            </a:r>
            <a:r>
              <a:rPr sz="3250" spc="-125" dirty="0">
                <a:solidFill>
                  <a:srgbClr val="21314B"/>
                </a:solidFill>
                <a:latin typeface="Arial MT"/>
                <a:cs typeface="Arial MT"/>
              </a:rPr>
              <a:t> </a:t>
            </a:r>
            <a:r>
              <a:rPr sz="3250" dirty="0">
                <a:solidFill>
                  <a:srgbClr val="263654"/>
                </a:solidFill>
                <a:latin typeface="Arial MT"/>
                <a:cs typeface="Arial MT"/>
              </a:rPr>
              <a:t>show</a:t>
            </a:r>
            <a:r>
              <a:rPr sz="3250" spc="-55" dirty="0">
                <a:solidFill>
                  <a:srgbClr val="263654"/>
                </a:solidFill>
                <a:latin typeface="Arial MT"/>
                <a:cs typeface="Arial MT"/>
              </a:rPr>
              <a:t> </a:t>
            </a:r>
            <a:r>
              <a:rPr sz="3250" spc="-10" dirty="0">
                <a:solidFill>
                  <a:srgbClr val="2F2F2F"/>
                </a:solidFill>
                <a:latin typeface="Arial MT"/>
                <a:cs typeface="Arial MT"/>
              </a:rPr>
              <a:t>simplicity)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3993" y="3550019"/>
            <a:ext cx="3482340" cy="18021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440055" indent="-427355">
              <a:lnSpc>
                <a:spcPct val="100000"/>
              </a:lnSpc>
              <a:spcBef>
                <a:spcPts val="295"/>
              </a:spcBef>
              <a:buClr>
                <a:srgbClr val="484848"/>
              </a:buClr>
              <a:buChar char="o"/>
              <a:tabLst>
                <a:tab pos="440055" algn="l"/>
              </a:tabLst>
            </a:pPr>
            <a:r>
              <a:rPr sz="2750" dirty="0">
                <a:latin typeface="Arial MT"/>
                <a:cs typeface="Arial MT"/>
              </a:rPr>
              <a:t>Financial</a:t>
            </a:r>
            <a:r>
              <a:rPr sz="2750" spc="12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approvals</a:t>
            </a:r>
            <a:endParaRPr sz="2750">
              <a:latin typeface="Arial MT"/>
              <a:cs typeface="Arial MT"/>
            </a:endParaRPr>
          </a:p>
          <a:p>
            <a:pPr marL="441959">
              <a:lnSpc>
                <a:spcPts val="3440"/>
              </a:lnSpc>
              <a:spcBef>
                <a:spcPts val="200"/>
              </a:spcBef>
            </a:pPr>
            <a:r>
              <a:rPr sz="2900" spc="-40" dirty="0">
                <a:latin typeface="Arial MT"/>
                <a:cs typeface="Arial MT"/>
              </a:rPr>
              <a:t>Legal</a:t>
            </a:r>
            <a:r>
              <a:rPr sz="2900" spc="-1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review</a:t>
            </a:r>
            <a:endParaRPr sz="2900">
              <a:latin typeface="Arial MT"/>
              <a:cs typeface="Arial MT"/>
            </a:endParaRPr>
          </a:p>
          <a:p>
            <a:pPr marL="452755" indent="-440055">
              <a:lnSpc>
                <a:spcPts val="3379"/>
              </a:lnSpc>
              <a:buChar char="o"/>
              <a:tabLst>
                <a:tab pos="452755" algn="l"/>
              </a:tabLst>
            </a:pPr>
            <a:r>
              <a:rPr sz="2850" dirty="0">
                <a:latin typeface="Arial MT"/>
                <a:cs typeface="Arial MT"/>
              </a:rPr>
              <a:t>Safety</a:t>
            </a:r>
            <a:r>
              <a:rPr sz="2850" spc="-13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checks</a:t>
            </a:r>
            <a:endParaRPr sz="2850">
              <a:latin typeface="Arial MT"/>
              <a:cs typeface="Arial MT"/>
            </a:endParaRPr>
          </a:p>
          <a:p>
            <a:pPr marL="441325" indent="-428625">
              <a:lnSpc>
                <a:spcPct val="100000"/>
              </a:lnSpc>
              <a:spcBef>
                <a:spcPts val="229"/>
              </a:spcBef>
              <a:buChar char="o"/>
              <a:tabLst>
                <a:tab pos="441325" algn="l"/>
              </a:tabLst>
            </a:pPr>
            <a:r>
              <a:rPr sz="2700" dirty="0">
                <a:latin typeface="Arial MT"/>
                <a:cs typeface="Arial MT"/>
              </a:rPr>
              <a:t>Quality</a:t>
            </a:r>
            <a:r>
              <a:rPr sz="2700" spc="425" dirty="0">
                <a:latin typeface="Arial MT"/>
                <a:cs typeface="Arial MT"/>
              </a:rPr>
              <a:t> </a:t>
            </a:r>
            <a:r>
              <a:rPr sz="2700" spc="65" dirty="0">
                <a:latin typeface="Arial MT"/>
                <a:cs typeface="Arial MT"/>
              </a:rPr>
              <a:t>control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318" y="5857875"/>
            <a:ext cx="239903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dirty="0">
                <a:solidFill>
                  <a:srgbClr val="707985"/>
                </a:solidFill>
                <a:latin typeface="Arial MT"/>
                <a:cs typeface="Arial MT"/>
              </a:rPr>
              <a:t>How</a:t>
            </a:r>
            <a:r>
              <a:rPr sz="3100" spc="110" dirty="0">
                <a:solidFill>
                  <a:srgbClr val="70798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282828"/>
                </a:solidFill>
                <a:latin typeface="Arial MT"/>
                <a:cs typeface="Arial MT"/>
              </a:rPr>
              <a:t>it</a:t>
            </a:r>
            <a:r>
              <a:rPr sz="3100" spc="34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2D2D2D"/>
                </a:solidFill>
                <a:latin typeface="Arial MT"/>
                <a:cs typeface="Arial MT"/>
              </a:rPr>
              <a:t>Works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7944" y="6912327"/>
            <a:ext cx="116205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Arial MT"/>
                <a:cs typeface="Arial MT"/>
              </a:rPr>
              <a:t>[Node</a:t>
            </a:r>
            <a:r>
              <a:rPr sz="2200" spc="29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A]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7444" y="6912327"/>
            <a:ext cx="117665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50" dirty="0">
                <a:latin typeface="Arial MT"/>
                <a:cs typeface="Arial MT"/>
              </a:rPr>
              <a:t>[Node</a:t>
            </a:r>
            <a:r>
              <a:rPr sz="2200" spc="17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B]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482" y="7720189"/>
            <a:ext cx="15555594" cy="1386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222115">
              <a:lnSpc>
                <a:spcPct val="100000"/>
              </a:lnSpc>
              <a:spcBef>
                <a:spcPts val="110"/>
              </a:spcBef>
            </a:pPr>
            <a:r>
              <a:rPr sz="2350" spc="-10" dirty="0">
                <a:latin typeface="Arial MT"/>
                <a:cs typeface="Arial MT"/>
              </a:rPr>
              <a:t>[Approval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Node]</a:t>
            </a: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250" spc="-204" dirty="0">
                <a:latin typeface="Arial MT"/>
                <a:cs typeface="Arial MT"/>
              </a:rPr>
              <a:t>You</a:t>
            </a:r>
            <a:r>
              <a:rPr sz="3250" spc="-50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can</a:t>
            </a:r>
            <a:r>
              <a:rPr sz="3250" spc="-130" dirty="0">
                <a:latin typeface="Arial MT"/>
                <a:cs typeface="Arial MT"/>
              </a:rPr>
              <a:t> </a:t>
            </a:r>
            <a:r>
              <a:rPr sz="3250" spc="-25" dirty="0">
                <a:latin typeface="Arial MT"/>
                <a:cs typeface="Arial MT"/>
              </a:rPr>
              <a:t>easily</a:t>
            </a:r>
            <a:r>
              <a:rPr sz="3250" spc="150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build</a:t>
            </a:r>
            <a:r>
              <a:rPr sz="3250" spc="-20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workflows</a:t>
            </a:r>
            <a:r>
              <a:rPr sz="3250" spc="114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that</a:t>
            </a:r>
            <a:r>
              <a:rPr sz="3250" spc="50" dirty="0">
                <a:latin typeface="Arial MT"/>
                <a:cs typeface="Arial MT"/>
              </a:rPr>
              <a:t> </a:t>
            </a:r>
            <a:r>
              <a:rPr sz="3250" spc="-20" dirty="0">
                <a:latin typeface="Arial MT"/>
                <a:cs typeface="Arial MT"/>
              </a:rPr>
              <a:t>require</a:t>
            </a:r>
            <a:r>
              <a:rPr sz="3250" spc="3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explicit</a:t>
            </a:r>
            <a:r>
              <a:rPr sz="3250" spc="45" dirty="0">
                <a:latin typeface="Arial MT"/>
                <a:cs typeface="Arial MT"/>
              </a:rPr>
              <a:t> </a:t>
            </a:r>
            <a:r>
              <a:rPr sz="3250" spc="-20" dirty="0">
                <a:latin typeface="Arial MT"/>
                <a:cs typeface="Arial MT"/>
              </a:rPr>
              <a:t>human</a:t>
            </a:r>
            <a:r>
              <a:rPr sz="3250" spc="30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sign-off</a:t>
            </a:r>
            <a:r>
              <a:rPr sz="3250" spc="17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before</a:t>
            </a:r>
            <a:r>
              <a:rPr sz="3250" spc="-6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proceeding.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66016" y="6894689"/>
            <a:ext cx="118427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latin typeface="Cambria"/>
                <a:cs typeface="Cambria"/>
              </a:rPr>
              <a:t>[Node</a:t>
            </a:r>
            <a:r>
              <a:rPr sz="2350" spc="235" dirty="0">
                <a:latin typeface="Cambria"/>
                <a:cs typeface="Cambria"/>
              </a:rPr>
              <a:t> </a:t>
            </a:r>
            <a:r>
              <a:rPr sz="2350" spc="-25" dirty="0">
                <a:latin typeface="Cambria"/>
                <a:cs typeface="Cambria"/>
              </a:rPr>
              <a:t>C]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93519" y="3800827"/>
            <a:ext cx="6948170" cy="1035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Consolas"/>
                <a:cs typeface="Consolas"/>
              </a:rPr>
              <a:t>#</a:t>
            </a:r>
            <a:r>
              <a:rPr sz="2200" spc="-305" dirty="0">
                <a:latin typeface="Consolas"/>
                <a:cs typeface="Consolas"/>
              </a:rPr>
              <a:t> </a:t>
            </a:r>
            <a:r>
              <a:rPr sz="2200" spc="-60" dirty="0">
                <a:latin typeface="Consolas"/>
                <a:cs typeface="Consolas"/>
              </a:rPr>
              <a:t>Tell</a:t>
            </a:r>
            <a:r>
              <a:rPr sz="2200" spc="-245" dirty="0">
                <a:latin typeface="Consolas"/>
                <a:cs typeface="Consolas"/>
              </a:rPr>
              <a:t> </a:t>
            </a:r>
            <a:r>
              <a:rPr sz="2200" spc="-110" dirty="0">
                <a:latin typeface="Consolas"/>
                <a:cs typeface="Consolas"/>
              </a:rPr>
              <a:t>the</a:t>
            </a:r>
            <a:r>
              <a:rPr sz="2200" spc="-190" dirty="0">
                <a:latin typeface="Consolas"/>
                <a:cs typeface="Consolas"/>
              </a:rPr>
              <a:t> </a:t>
            </a:r>
            <a:r>
              <a:rPr sz="2200" spc="-75" dirty="0">
                <a:latin typeface="Consolas"/>
                <a:cs typeface="Consolas"/>
              </a:rPr>
              <a:t>graph</a:t>
            </a:r>
            <a:r>
              <a:rPr sz="2200" spc="-229" dirty="0">
                <a:latin typeface="Consolas"/>
                <a:cs typeface="Consolas"/>
              </a:rPr>
              <a:t> </a:t>
            </a:r>
            <a:r>
              <a:rPr sz="2200" spc="-60" dirty="0">
                <a:latin typeface="Consolas"/>
                <a:cs typeface="Consolas"/>
              </a:rPr>
              <a:t>to</a:t>
            </a:r>
            <a:r>
              <a:rPr sz="2200" spc="-245" dirty="0">
                <a:latin typeface="Consolas"/>
                <a:cs typeface="Consolas"/>
              </a:rPr>
              <a:t> </a:t>
            </a:r>
            <a:r>
              <a:rPr sz="2200" spc="-110" dirty="0">
                <a:latin typeface="Consolas"/>
                <a:cs typeface="Consolas"/>
              </a:rPr>
              <a:t>pause</a:t>
            </a:r>
            <a:r>
              <a:rPr sz="2200" spc="-190" dirty="0">
                <a:latin typeface="Consolas"/>
                <a:cs typeface="Consolas"/>
              </a:rPr>
              <a:t> </a:t>
            </a:r>
            <a:r>
              <a:rPr sz="2200" spc="-80" dirty="0">
                <a:latin typeface="Consolas"/>
                <a:cs typeface="Consolas"/>
              </a:rPr>
              <a:t>*before*</a:t>
            </a:r>
            <a:r>
              <a:rPr sz="2200" spc="-180" dirty="0">
                <a:latin typeface="Consolas"/>
                <a:cs typeface="Consolas"/>
              </a:rPr>
              <a:t> </a:t>
            </a:r>
            <a:r>
              <a:rPr sz="2200" spc="-145" dirty="0">
                <a:latin typeface="Consolas"/>
                <a:cs typeface="Consolas"/>
              </a:rPr>
              <a:t>this</a:t>
            </a:r>
            <a:r>
              <a:rPr sz="2200" spc="-160" dirty="0">
                <a:latin typeface="Consolas"/>
                <a:cs typeface="Consolas"/>
              </a:rPr>
              <a:t> </a:t>
            </a:r>
            <a:r>
              <a:rPr sz="2200" spc="-55" dirty="0">
                <a:latin typeface="Consolas"/>
                <a:cs typeface="Consolas"/>
              </a:rPr>
              <a:t>node</a:t>
            </a:r>
            <a:r>
              <a:rPr sz="2200" spc="-114" dirty="0">
                <a:latin typeface="Consolas"/>
                <a:cs typeface="Consolas"/>
              </a:rPr>
              <a:t> </a:t>
            </a:r>
            <a:r>
              <a:rPr sz="2200" spc="-20" dirty="0">
                <a:latin typeface="Consolas"/>
                <a:cs typeface="Consolas"/>
              </a:rPr>
              <a:t>runs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latin typeface="Consolas"/>
                <a:cs typeface="Consolas"/>
              </a:rPr>
              <a:t>app</a:t>
            </a:r>
            <a:r>
              <a:rPr sz="2050" spc="-10" dirty="0">
                <a:latin typeface="Consolas"/>
                <a:cs typeface="Consolas"/>
              </a:rPr>
              <a:t> </a:t>
            </a:r>
            <a:r>
              <a:rPr sz="2050" dirty="0">
                <a:latin typeface="Consolas"/>
                <a:cs typeface="Consolas"/>
              </a:rPr>
              <a:t>=</a:t>
            </a:r>
            <a:r>
              <a:rPr sz="2050" spc="-100" dirty="0">
                <a:latin typeface="Consolas"/>
                <a:cs typeface="Consolas"/>
              </a:rPr>
              <a:t> </a:t>
            </a:r>
            <a:r>
              <a:rPr sz="2050" spc="-10" dirty="0">
                <a:latin typeface="Consolas"/>
                <a:cs typeface="Consolas"/>
              </a:rPr>
              <a:t>workflow,compile(</a:t>
            </a:r>
            <a:endParaRPr sz="2050">
              <a:latin typeface="Consolas"/>
              <a:cs typeface="Consolas"/>
            </a:endParaRPr>
          </a:p>
          <a:p>
            <a:pPr marL="579755">
              <a:lnSpc>
                <a:spcPct val="100000"/>
              </a:lnSpc>
              <a:spcBef>
                <a:spcPts val="140"/>
              </a:spcBef>
            </a:pPr>
            <a:r>
              <a:rPr sz="2150" spc="-40" dirty="0">
                <a:latin typeface="Consolas"/>
                <a:cs typeface="Consolas"/>
              </a:rPr>
              <a:t>checkpointer=memory,</a:t>
            </a:r>
            <a:endParaRPr sz="215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78803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67733" y="1"/>
            <a:ext cx="17357796" cy="97761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418" y="1481102"/>
            <a:ext cx="16942364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512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Human-in-the-Loop: The Approval Gate</a:t>
            </a:r>
            <a:endParaRPr lang="en-US" sz="2276" dirty="0"/>
          </a:p>
        </p:txBody>
      </p:sp>
      <p:sp>
        <p:nvSpPr>
          <p:cNvPr id="4" name="Shape 1"/>
          <p:cNvSpPr/>
          <p:nvPr/>
        </p:nvSpPr>
        <p:spPr>
          <a:xfrm>
            <a:off x="2186939" y="2962205"/>
            <a:ext cx="1733973" cy="1733973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3A475">
              <a:alpha val="5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5" name="Shape 2"/>
          <p:cNvSpPr/>
          <p:nvPr/>
        </p:nvSpPr>
        <p:spPr>
          <a:xfrm>
            <a:off x="2620432" y="3395698"/>
            <a:ext cx="866987" cy="866987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266700" y="228600"/>
                </a:moveTo>
                <a:lnTo>
                  <a:pt x="266700" y="381000"/>
                </a:lnTo>
                <a:cubicBezTo>
                  <a:pt x="266700" y="402074"/>
                  <a:pt x="249674" y="419100"/>
                  <a:pt x="228600" y="419100"/>
                </a:cubicBezTo>
                <a:cubicBezTo>
                  <a:pt x="207526" y="419100"/>
                  <a:pt x="190500" y="402074"/>
                  <a:pt x="190500" y="381000"/>
                </a:cubicBezTo>
                <a:lnTo>
                  <a:pt x="190500" y="228600"/>
                </a:lnTo>
                <a:cubicBezTo>
                  <a:pt x="190500" y="207526"/>
                  <a:pt x="207526" y="190500"/>
                  <a:pt x="228600" y="190500"/>
                </a:cubicBezTo>
                <a:cubicBezTo>
                  <a:pt x="249674" y="190500"/>
                  <a:pt x="266700" y="207526"/>
                  <a:pt x="266700" y="228600"/>
                </a:cubicBezTo>
                <a:close/>
                <a:moveTo>
                  <a:pt x="419100" y="228600"/>
                </a:moveTo>
                <a:lnTo>
                  <a:pt x="419100" y="381000"/>
                </a:lnTo>
                <a:cubicBezTo>
                  <a:pt x="419100" y="402074"/>
                  <a:pt x="402074" y="419100"/>
                  <a:pt x="381000" y="419100"/>
                </a:cubicBezTo>
                <a:cubicBezTo>
                  <a:pt x="359926" y="419100"/>
                  <a:pt x="342900" y="402074"/>
                  <a:pt x="342900" y="381000"/>
                </a:cubicBezTo>
                <a:lnTo>
                  <a:pt x="342900" y="228600"/>
                </a:lnTo>
                <a:cubicBezTo>
                  <a:pt x="342900" y="207526"/>
                  <a:pt x="359926" y="190500"/>
                  <a:pt x="381000" y="190500"/>
                </a:cubicBezTo>
                <a:cubicBezTo>
                  <a:pt x="402074" y="190500"/>
                  <a:pt x="419100" y="207526"/>
                  <a:pt x="419100" y="228600"/>
                </a:cubicBezTo>
                <a:close/>
              </a:path>
            </a:pathLst>
          </a:custGeom>
          <a:solidFill>
            <a:srgbClr val="6A8B61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6" name="Text 3"/>
          <p:cNvSpPr/>
          <p:nvPr/>
        </p:nvSpPr>
        <p:spPr>
          <a:xfrm>
            <a:off x="1067081" y="4840676"/>
            <a:ext cx="3973689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Compile with Interrupt</a:t>
            </a:r>
            <a:endParaRPr lang="en-US" sz="2276" dirty="0"/>
          </a:p>
        </p:txBody>
      </p:sp>
      <p:sp>
        <p:nvSpPr>
          <p:cNvPr id="7" name="Text 4"/>
          <p:cNvSpPr/>
          <p:nvPr/>
        </p:nvSpPr>
        <p:spPr>
          <a:xfrm>
            <a:off x="365760" y="5346418"/>
            <a:ext cx="5382542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`interrupt_after=["node"]` to pause after a specific node finishes.</a:t>
            </a:r>
            <a:endParaRPr lang="en-US" sz="2276" dirty="0"/>
          </a:p>
        </p:txBody>
      </p:sp>
      <p:sp>
        <p:nvSpPr>
          <p:cNvPr id="8" name="Shape 5"/>
          <p:cNvSpPr/>
          <p:nvPr/>
        </p:nvSpPr>
        <p:spPr>
          <a:xfrm>
            <a:off x="7870614" y="2962205"/>
            <a:ext cx="1733973" cy="1733973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6A8B61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9" name="Shape 6"/>
          <p:cNvSpPr/>
          <p:nvPr/>
        </p:nvSpPr>
        <p:spPr>
          <a:xfrm>
            <a:off x="8195734" y="3395698"/>
            <a:ext cx="1083733" cy="866987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161925" y="152400"/>
                </a:moveTo>
                <a:cubicBezTo>
                  <a:pt x="161925" y="73545"/>
                  <a:pt x="225945" y="9525"/>
                  <a:pt x="304800" y="9525"/>
                </a:cubicBezTo>
                <a:cubicBezTo>
                  <a:pt x="383655" y="9525"/>
                  <a:pt x="447675" y="73545"/>
                  <a:pt x="447675" y="152400"/>
                </a:cubicBezTo>
                <a:cubicBezTo>
                  <a:pt x="447675" y="231255"/>
                  <a:pt x="383655" y="295275"/>
                  <a:pt x="304800" y="295275"/>
                </a:cubicBezTo>
                <a:cubicBezTo>
                  <a:pt x="225945" y="295275"/>
                  <a:pt x="161925" y="231255"/>
                  <a:pt x="161925" y="152400"/>
                </a:cubicBezTo>
                <a:close/>
                <a:moveTo>
                  <a:pt x="57150" y="574238"/>
                </a:moveTo>
                <a:cubicBezTo>
                  <a:pt x="57150" y="456962"/>
                  <a:pt x="152162" y="361950"/>
                  <a:pt x="269438" y="361950"/>
                </a:cubicBezTo>
                <a:lnTo>
                  <a:pt x="340162" y="361950"/>
                </a:lnTo>
                <a:cubicBezTo>
                  <a:pt x="457438" y="361950"/>
                  <a:pt x="552450" y="456962"/>
                  <a:pt x="552450" y="574238"/>
                </a:cubicBezTo>
                <a:cubicBezTo>
                  <a:pt x="552450" y="593765"/>
                  <a:pt x="536615" y="609600"/>
                  <a:pt x="517088" y="609600"/>
                </a:cubicBezTo>
                <a:lnTo>
                  <a:pt x="92512" y="609600"/>
                </a:lnTo>
                <a:cubicBezTo>
                  <a:pt x="72985" y="609600"/>
                  <a:pt x="57150" y="593765"/>
                  <a:pt x="57150" y="574238"/>
                </a:cubicBezTo>
                <a:close/>
                <a:moveTo>
                  <a:pt x="729139" y="157996"/>
                </a:moveTo>
                <a:lnTo>
                  <a:pt x="633889" y="310396"/>
                </a:lnTo>
                <a:cubicBezTo>
                  <a:pt x="628888" y="318373"/>
                  <a:pt x="620316" y="323374"/>
                  <a:pt x="610910" y="323850"/>
                </a:cubicBezTo>
                <a:cubicBezTo>
                  <a:pt x="601504" y="324326"/>
                  <a:pt x="592455" y="320040"/>
                  <a:pt x="586859" y="312420"/>
                </a:cubicBezTo>
                <a:lnTo>
                  <a:pt x="529709" y="236220"/>
                </a:lnTo>
                <a:cubicBezTo>
                  <a:pt x="520184" y="223599"/>
                  <a:pt x="522803" y="205740"/>
                  <a:pt x="535424" y="196215"/>
                </a:cubicBezTo>
                <a:cubicBezTo>
                  <a:pt x="548045" y="186690"/>
                  <a:pt x="565904" y="189309"/>
                  <a:pt x="575429" y="201930"/>
                </a:cubicBezTo>
                <a:lnTo>
                  <a:pt x="607576" y="244793"/>
                </a:lnTo>
                <a:lnTo>
                  <a:pt x="680680" y="127754"/>
                </a:lnTo>
                <a:cubicBezTo>
                  <a:pt x="689015" y="114419"/>
                  <a:pt x="706636" y="110252"/>
                  <a:pt x="720090" y="118705"/>
                </a:cubicBezTo>
                <a:cubicBezTo>
                  <a:pt x="733544" y="127159"/>
                  <a:pt x="737592" y="144661"/>
                  <a:pt x="729139" y="15811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0" name="Text 7"/>
          <p:cNvSpPr/>
          <p:nvPr/>
        </p:nvSpPr>
        <p:spPr>
          <a:xfrm>
            <a:off x="7228840" y="4840676"/>
            <a:ext cx="3016391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Human Reviews</a:t>
            </a:r>
            <a:endParaRPr lang="en-US" sz="2276" dirty="0"/>
          </a:p>
        </p:txBody>
      </p:sp>
      <p:sp>
        <p:nvSpPr>
          <p:cNvPr id="11" name="Text 8"/>
          <p:cNvSpPr/>
          <p:nvPr/>
        </p:nvSpPr>
        <p:spPr>
          <a:xfrm>
            <a:off x="6049434" y="5346418"/>
            <a:ext cx="5382542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`get_state()` to inspect the output. A human can then approve, edit, or reject.</a:t>
            </a:r>
            <a:endParaRPr lang="en-US" sz="2276" dirty="0"/>
          </a:p>
        </p:txBody>
      </p:sp>
      <p:sp>
        <p:nvSpPr>
          <p:cNvPr id="12" name="Shape 9"/>
          <p:cNvSpPr/>
          <p:nvPr/>
        </p:nvSpPr>
        <p:spPr>
          <a:xfrm>
            <a:off x="13554288" y="2781582"/>
            <a:ext cx="1733973" cy="1733973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3A475">
              <a:alpha val="5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3" name="Shape 10"/>
          <p:cNvSpPr/>
          <p:nvPr/>
        </p:nvSpPr>
        <p:spPr>
          <a:xfrm>
            <a:off x="13987781" y="3215075"/>
            <a:ext cx="866987" cy="866987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224195" y="175141"/>
                </a:moveTo>
                <a:cubicBezTo>
                  <a:pt x="215146" y="180142"/>
                  <a:pt x="209550" y="189786"/>
                  <a:pt x="209550" y="200025"/>
                </a:cubicBezTo>
                <a:lnTo>
                  <a:pt x="209550" y="409575"/>
                </a:lnTo>
                <a:cubicBezTo>
                  <a:pt x="209550" y="419933"/>
                  <a:pt x="215146" y="429458"/>
                  <a:pt x="224195" y="434459"/>
                </a:cubicBezTo>
                <a:cubicBezTo>
                  <a:pt x="233243" y="439460"/>
                  <a:pt x="244197" y="439341"/>
                  <a:pt x="253127" y="433864"/>
                </a:cubicBezTo>
                <a:lnTo>
                  <a:pt x="424577" y="329089"/>
                </a:lnTo>
                <a:cubicBezTo>
                  <a:pt x="433030" y="323850"/>
                  <a:pt x="438269" y="314682"/>
                  <a:pt x="438269" y="304681"/>
                </a:cubicBezTo>
                <a:cubicBezTo>
                  <a:pt x="438269" y="294680"/>
                  <a:pt x="433030" y="285512"/>
                  <a:pt x="424577" y="280273"/>
                </a:cubicBezTo>
                <a:lnTo>
                  <a:pt x="253127" y="175498"/>
                </a:lnTo>
                <a:cubicBezTo>
                  <a:pt x="244316" y="170140"/>
                  <a:pt x="233243" y="169902"/>
                  <a:pt x="224195" y="174903"/>
                </a:cubicBezTo>
                <a:close/>
              </a:path>
            </a:pathLst>
          </a:custGeom>
          <a:solidFill>
            <a:srgbClr val="6A8B61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4" name="Text 11"/>
          <p:cNvSpPr/>
          <p:nvPr/>
        </p:nvSpPr>
        <p:spPr>
          <a:xfrm>
            <a:off x="12704798" y="4660053"/>
            <a:ext cx="3431822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Resume Execution</a:t>
            </a:r>
            <a:endParaRPr lang="en-US" sz="2276" dirty="0"/>
          </a:p>
        </p:txBody>
      </p:sp>
      <p:sp>
        <p:nvSpPr>
          <p:cNvPr id="15" name="Text 12"/>
          <p:cNvSpPr/>
          <p:nvPr/>
        </p:nvSpPr>
        <p:spPr>
          <a:xfrm>
            <a:off x="11733107" y="5165796"/>
            <a:ext cx="5382542" cy="108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 `stream(None)` to continue from the checkpoint. The graph proceeds with the human's decision.</a:t>
            </a:r>
            <a:endParaRPr lang="en-US" sz="2276" dirty="0"/>
          </a:p>
        </p:txBody>
      </p:sp>
      <p:sp>
        <p:nvSpPr>
          <p:cNvPr id="16" name="Shape 13"/>
          <p:cNvSpPr/>
          <p:nvPr/>
        </p:nvSpPr>
        <p:spPr>
          <a:xfrm>
            <a:off x="428978" y="6827520"/>
            <a:ext cx="16617244" cy="1444978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7" name="Text 14"/>
          <p:cNvSpPr/>
          <p:nvPr/>
        </p:nvSpPr>
        <p:spPr>
          <a:xfrm>
            <a:off x="645725" y="7116515"/>
            <a:ext cx="16183751" cy="866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pattern ensures </a:t>
            </a:r>
            <a:r>
              <a:rPr lang="en-US" sz="2276" b="1" dirty="0">
                <a:solidFill>
                  <a:srgbClr val="333333"/>
                </a:solidFill>
                <a:highlight>
                  <a:srgbClr val="A8C3A0">
                    <a:alpha val="5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compliance and safety </a:t>
            </a: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putting a human in control of critical junctures without losing the conversation's context.</a:t>
            </a:r>
            <a:endParaRPr lang="en-US" sz="2276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" y="0"/>
            <a:ext cx="6502400" cy="975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2017" y="920045"/>
            <a:ext cx="9085862" cy="312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2267"/>
              </a:lnSpc>
            </a:pPr>
            <a:r>
              <a:rPr lang="en-US" sz="9837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ReAct Agent Loop</a:t>
            </a:r>
            <a:endParaRPr lang="en-US" sz="9837" dirty="0"/>
          </a:p>
        </p:txBody>
      </p:sp>
      <p:sp>
        <p:nvSpPr>
          <p:cNvPr id="4" name="Text 1"/>
          <p:cNvSpPr/>
          <p:nvPr/>
        </p:nvSpPr>
        <p:spPr>
          <a:xfrm>
            <a:off x="948408" y="4251255"/>
            <a:ext cx="6497461" cy="62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919"/>
              </a:lnSpc>
            </a:pPr>
            <a:r>
              <a:rPr lang="en-US" sz="3911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ReAct = Reason + Act</a:t>
            </a:r>
            <a:endParaRPr lang="en-US" sz="3911" dirty="0"/>
          </a:p>
        </p:txBody>
      </p:sp>
      <p:sp>
        <p:nvSpPr>
          <p:cNvPr id="5" name="Text 2"/>
          <p:cNvSpPr/>
          <p:nvPr/>
        </p:nvSpPr>
        <p:spPr>
          <a:xfrm>
            <a:off x="948408" y="5472923"/>
            <a:ext cx="9085862" cy="120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41"/>
              </a:lnSpc>
            </a:pPr>
            <a:r>
              <a:rPr lang="en-US" sz="1956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is a powerful agent architecture that combines </a:t>
            </a:r>
            <a:r>
              <a:rPr lang="en-US" sz="1956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reasoning</a:t>
            </a:r>
            <a:r>
              <a:rPr lang="en-US" sz="1956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(thinking through problems step-by-step) with </a:t>
            </a:r>
            <a:r>
              <a:rPr lang="en-US" sz="1956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acting</a:t>
            </a:r>
            <a:r>
              <a:rPr lang="en-US" sz="1956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(using tools to gather information or perform actions).</a:t>
            </a:r>
            <a:endParaRPr lang="en-US" sz="195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067" y="0"/>
            <a:ext cx="6502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67733" y="1"/>
            <a:ext cx="17357796" cy="97761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418" y="1372729"/>
            <a:ext cx="16942364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512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ReAct Agent: A Single, Powerful Pattern</a:t>
            </a:r>
            <a:endParaRPr lang="en-US" sz="2276" dirty="0"/>
          </a:p>
        </p:txBody>
      </p:sp>
      <p:sp>
        <p:nvSpPr>
          <p:cNvPr id="4" name="Text 1"/>
          <p:cNvSpPr/>
          <p:nvPr/>
        </p:nvSpPr>
        <p:spPr>
          <a:xfrm>
            <a:off x="347698" y="2528711"/>
            <a:ext cx="16779804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single graph pattern handles search, calculation, coding, and approval flows with minimal code.</a:t>
            </a:r>
            <a:endParaRPr lang="en-US" sz="2276" dirty="0"/>
          </a:p>
        </p:txBody>
      </p:sp>
      <p:sp>
        <p:nvSpPr>
          <p:cNvPr id="5" name="Shape 2"/>
          <p:cNvSpPr/>
          <p:nvPr/>
        </p:nvSpPr>
        <p:spPr>
          <a:xfrm>
            <a:off x="7292622" y="3901440"/>
            <a:ext cx="2745458" cy="2745458"/>
          </a:xfrm>
          <a:custGeom>
            <a:avLst/>
            <a:gdLst/>
            <a:ahLst/>
            <a:cxnLst/>
            <a:rect l="l" t="t" r="r" b="b"/>
            <a:pathLst>
              <a:path w="1930400" h="1930400">
                <a:moveTo>
                  <a:pt x="965200" y="0"/>
                </a:moveTo>
                <a:lnTo>
                  <a:pt x="965200" y="0"/>
                </a:lnTo>
                <a:cubicBezTo>
                  <a:pt x="1497908" y="0"/>
                  <a:pt x="1930400" y="432492"/>
                  <a:pt x="1930400" y="965200"/>
                </a:cubicBezTo>
                <a:lnTo>
                  <a:pt x="1930400" y="965200"/>
                </a:lnTo>
                <a:cubicBezTo>
                  <a:pt x="1930400" y="1497908"/>
                  <a:pt x="1497908" y="1930400"/>
                  <a:pt x="965200" y="1930400"/>
                </a:cubicBezTo>
                <a:lnTo>
                  <a:pt x="965200" y="1930400"/>
                </a:lnTo>
                <a:cubicBezTo>
                  <a:pt x="432492" y="1930400"/>
                  <a:pt x="0" y="1497908"/>
                  <a:pt x="0" y="965200"/>
                </a:cubicBezTo>
                <a:lnTo>
                  <a:pt x="0" y="965200"/>
                </a:lnTo>
                <a:cubicBezTo>
                  <a:pt x="0" y="432492"/>
                  <a:pt x="432492" y="0"/>
                  <a:pt x="9652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93A475"/>
            </a:solidFill>
            <a:prstDash val="dash"/>
          </a:ln>
        </p:spPr>
        <p:txBody>
          <a:bodyPr/>
          <a:lstStyle/>
          <a:p>
            <a:endParaRPr lang="en-IN" sz="2560"/>
          </a:p>
        </p:txBody>
      </p:sp>
      <p:sp>
        <p:nvSpPr>
          <p:cNvPr id="6" name="Shape 3"/>
          <p:cNvSpPr/>
          <p:nvPr/>
        </p:nvSpPr>
        <p:spPr>
          <a:xfrm>
            <a:off x="5305778" y="4371058"/>
            <a:ext cx="1444978" cy="1444978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8C3A0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7" name="Shape 4"/>
          <p:cNvSpPr/>
          <p:nvPr/>
        </p:nvSpPr>
        <p:spPr>
          <a:xfrm>
            <a:off x="5761849" y="4822613"/>
            <a:ext cx="541867" cy="541867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8" name="Text 5"/>
          <p:cNvSpPr/>
          <p:nvPr/>
        </p:nvSpPr>
        <p:spPr>
          <a:xfrm>
            <a:off x="5145193" y="5888285"/>
            <a:ext cx="1770098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 Node</a:t>
            </a:r>
            <a:endParaRPr lang="en-US" sz="2276" dirty="0"/>
          </a:p>
        </p:txBody>
      </p:sp>
      <p:sp>
        <p:nvSpPr>
          <p:cNvPr id="9" name="Shape 6"/>
          <p:cNvSpPr/>
          <p:nvPr/>
        </p:nvSpPr>
        <p:spPr>
          <a:xfrm>
            <a:off x="10724444" y="4371058"/>
            <a:ext cx="1444978" cy="1444978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8C3A0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0" name="Shape 7"/>
          <p:cNvSpPr/>
          <p:nvPr/>
        </p:nvSpPr>
        <p:spPr>
          <a:xfrm>
            <a:off x="11146649" y="4822613"/>
            <a:ext cx="609600" cy="541867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762" y="72256"/>
                </a:moveTo>
                <a:lnTo>
                  <a:pt x="166762" y="109165"/>
                </a:lnTo>
                <a:lnTo>
                  <a:pt x="167134" y="109537"/>
                </a:lnTo>
                <a:cubicBezTo>
                  <a:pt x="171971" y="48220"/>
                  <a:pt x="223242" y="0"/>
                  <a:pt x="285824" y="0"/>
                </a:cubicBezTo>
                <a:cubicBezTo>
                  <a:pt x="300782" y="0"/>
                  <a:pt x="315144" y="2753"/>
                  <a:pt x="328315" y="7813"/>
                </a:cubicBezTo>
                <a:cubicBezTo>
                  <a:pt x="335756" y="10641"/>
                  <a:pt x="337096" y="20092"/>
                  <a:pt x="331515" y="25747"/>
                </a:cubicBezTo>
                <a:lnTo>
                  <a:pt x="265509" y="91753"/>
                </a:lnTo>
                <a:cubicBezTo>
                  <a:pt x="263277" y="93985"/>
                  <a:pt x="262012" y="97036"/>
                  <a:pt x="262012" y="100161"/>
                </a:cubicBezTo>
                <a:lnTo>
                  <a:pt x="262012" y="130969"/>
                </a:lnTo>
                <a:cubicBezTo>
                  <a:pt x="262012" y="137517"/>
                  <a:pt x="267370" y="142875"/>
                  <a:pt x="273918" y="142875"/>
                </a:cubicBezTo>
                <a:lnTo>
                  <a:pt x="304726" y="142875"/>
                </a:lnTo>
                <a:cubicBezTo>
                  <a:pt x="307851" y="142875"/>
                  <a:pt x="310902" y="141610"/>
                  <a:pt x="313134" y="139378"/>
                </a:cubicBezTo>
                <a:lnTo>
                  <a:pt x="379140" y="73372"/>
                </a:lnTo>
                <a:cubicBezTo>
                  <a:pt x="384795" y="67717"/>
                  <a:pt x="394246" y="69131"/>
                  <a:pt x="397073" y="76572"/>
                </a:cubicBezTo>
                <a:cubicBezTo>
                  <a:pt x="402134" y="89743"/>
                  <a:pt x="404887" y="104105"/>
                  <a:pt x="404887" y="119063"/>
                </a:cubicBezTo>
                <a:cubicBezTo>
                  <a:pt x="404887" y="164157"/>
                  <a:pt x="379809" y="203448"/>
                  <a:pt x="342751" y="223614"/>
                </a:cubicBezTo>
                <a:lnTo>
                  <a:pt x="403399" y="284262"/>
                </a:lnTo>
                <a:cubicBezTo>
                  <a:pt x="417314" y="298177"/>
                  <a:pt x="417314" y="320799"/>
                  <a:pt x="403399" y="334789"/>
                </a:cubicBezTo>
                <a:lnTo>
                  <a:pt x="358676" y="379512"/>
                </a:lnTo>
                <a:cubicBezTo>
                  <a:pt x="344760" y="393427"/>
                  <a:pt x="322138" y="393427"/>
                  <a:pt x="308149" y="379512"/>
                </a:cubicBezTo>
                <a:lnTo>
                  <a:pt x="214387" y="285750"/>
                </a:lnTo>
                <a:cubicBezTo>
                  <a:pt x="193997" y="265361"/>
                  <a:pt x="189384" y="235223"/>
                  <a:pt x="200620" y="210369"/>
                </a:cubicBezTo>
                <a:lnTo>
                  <a:pt x="133127" y="142875"/>
                </a:lnTo>
                <a:lnTo>
                  <a:pt x="96217" y="142875"/>
                </a:lnTo>
                <a:cubicBezTo>
                  <a:pt x="88255" y="142875"/>
                  <a:pt x="80814" y="138931"/>
                  <a:pt x="76423" y="132308"/>
                </a:cubicBezTo>
                <a:lnTo>
                  <a:pt x="17413" y="43830"/>
                </a:lnTo>
                <a:cubicBezTo>
                  <a:pt x="14288" y="39142"/>
                  <a:pt x="14883" y="32817"/>
                  <a:pt x="18901" y="28798"/>
                </a:cubicBezTo>
                <a:lnTo>
                  <a:pt x="52685" y="-4986"/>
                </a:lnTo>
                <a:cubicBezTo>
                  <a:pt x="56704" y="-9004"/>
                  <a:pt x="62954" y="-9599"/>
                  <a:pt x="67717" y="-6474"/>
                </a:cubicBezTo>
                <a:lnTo>
                  <a:pt x="156195" y="52462"/>
                </a:lnTo>
                <a:cubicBezTo>
                  <a:pt x="162818" y="56852"/>
                  <a:pt x="166762" y="64294"/>
                  <a:pt x="166762" y="72256"/>
                </a:cubicBezTo>
                <a:close/>
                <a:moveTo>
                  <a:pt x="160437" y="220712"/>
                </a:moveTo>
                <a:cubicBezTo>
                  <a:pt x="155749" y="248245"/>
                  <a:pt x="162223" y="277341"/>
                  <a:pt x="180082" y="300633"/>
                </a:cubicBezTo>
                <a:lnTo>
                  <a:pt x="109389" y="371252"/>
                </a:lnTo>
                <a:cubicBezTo>
                  <a:pt x="88478" y="392162"/>
                  <a:pt x="54546" y="392162"/>
                  <a:pt x="33635" y="371252"/>
                </a:cubicBezTo>
                <a:cubicBezTo>
                  <a:pt x="12725" y="350341"/>
                  <a:pt x="12725" y="316409"/>
                  <a:pt x="33635" y="295498"/>
                </a:cubicBezTo>
                <a:lnTo>
                  <a:pt x="134392" y="194742"/>
                </a:lnTo>
                <a:lnTo>
                  <a:pt x="160437" y="22078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1" name="Text 8"/>
          <p:cNvSpPr/>
          <p:nvPr/>
        </p:nvSpPr>
        <p:spPr>
          <a:xfrm>
            <a:off x="10668282" y="5888285"/>
            <a:ext cx="1553351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 Node</a:t>
            </a:r>
            <a:endParaRPr lang="en-US" sz="2276" dirty="0"/>
          </a:p>
        </p:txBody>
      </p:sp>
      <p:sp>
        <p:nvSpPr>
          <p:cNvPr id="12" name="Shape 9"/>
          <p:cNvSpPr/>
          <p:nvPr/>
        </p:nvSpPr>
        <p:spPr>
          <a:xfrm rot="-5400000">
            <a:off x="8453120" y="3856284"/>
            <a:ext cx="731520" cy="65024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05956" y="208419"/>
                </a:moveTo>
                <a:cubicBezTo>
                  <a:pt x="517118" y="219581"/>
                  <a:pt x="517118" y="237708"/>
                  <a:pt x="505956" y="248870"/>
                </a:cubicBezTo>
                <a:lnTo>
                  <a:pt x="391656" y="363170"/>
                </a:lnTo>
                <a:cubicBezTo>
                  <a:pt x="383441" y="371386"/>
                  <a:pt x="371207" y="373797"/>
                  <a:pt x="360491" y="369332"/>
                </a:cubicBezTo>
                <a:cubicBezTo>
                  <a:pt x="349776" y="364867"/>
                  <a:pt x="342900" y="354419"/>
                  <a:pt x="342900" y="342900"/>
                </a:cubicBezTo>
                <a:lnTo>
                  <a:pt x="342900" y="285750"/>
                </a:lnTo>
                <a:lnTo>
                  <a:pt x="42863" y="285750"/>
                </a:lnTo>
                <a:cubicBezTo>
                  <a:pt x="19199" y="285750"/>
                  <a:pt x="0" y="266551"/>
                  <a:pt x="0" y="242888"/>
                </a:cubicBezTo>
                <a:lnTo>
                  <a:pt x="0" y="214313"/>
                </a:lnTo>
                <a:cubicBezTo>
                  <a:pt x="0" y="190649"/>
                  <a:pt x="19199" y="171450"/>
                  <a:pt x="42863" y="171450"/>
                </a:cubicBezTo>
                <a:lnTo>
                  <a:pt x="342900" y="171450"/>
                </a:lnTo>
                <a:lnTo>
                  <a:pt x="342900" y="114300"/>
                </a:lnTo>
                <a:cubicBezTo>
                  <a:pt x="342900" y="102781"/>
                  <a:pt x="349865" y="92333"/>
                  <a:pt x="360581" y="87868"/>
                </a:cubicBezTo>
                <a:cubicBezTo>
                  <a:pt x="371296" y="83403"/>
                  <a:pt x="383530" y="85904"/>
                  <a:pt x="391745" y="94030"/>
                </a:cubicBezTo>
                <a:lnTo>
                  <a:pt x="506045" y="208330"/>
                </a:lnTo>
                <a:close/>
              </a:path>
            </a:pathLst>
          </a:custGeom>
          <a:solidFill>
            <a:srgbClr val="93A475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3" name="Shape 10"/>
          <p:cNvSpPr/>
          <p:nvPr/>
        </p:nvSpPr>
        <p:spPr>
          <a:xfrm rot="5400000">
            <a:off x="8453120" y="6023751"/>
            <a:ext cx="731520" cy="65024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05956" y="208419"/>
                </a:moveTo>
                <a:cubicBezTo>
                  <a:pt x="517118" y="219581"/>
                  <a:pt x="517118" y="237708"/>
                  <a:pt x="505956" y="248870"/>
                </a:cubicBezTo>
                <a:lnTo>
                  <a:pt x="391656" y="363170"/>
                </a:lnTo>
                <a:cubicBezTo>
                  <a:pt x="383441" y="371386"/>
                  <a:pt x="371207" y="373797"/>
                  <a:pt x="360491" y="369332"/>
                </a:cubicBezTo>
                <a:cubicBezTo>
                  <a:pt x="349776" y="364867"/>
                  <a:pt x="342900" y="354419"/>
                  <a:pt x="342900" y="342900"/>
                </a:cubicBezTo>
                <a:lnTo>
                  <a:pt x="342900" y="285750"/>
                </a:lnTo>
                <a:lnTo>
                  <a:pt x="42863" y="285750"/>
                </a:lnTo>
                <a:cubicBezTo>
                  <a:pt x="19199" y="285750"/>
                  <a:pt x="0" y="266551"/>
                  <a:pt x="0" y="242888"/>
                </a:cubicBezTo>
                <a:lnTo>
                  <a:pt x="0" y="214313"/>
                </a:lnTo>
                <a:cubicBezTo>
                  <a:pt x="0" y="190649"/>
                  <a:pt x="19199" y="171450"/>
                  <a:pt x="42863" y="171450"/>
                </a:cubicBezTo>
                <a:lnTo>
                  <a:pt x="342900" y="171450"/>
                </a:lnTo>
                <a:lnTo>
                  <a:pt x="342900" y="114300"/>
                </a:lnTo>
                <a:cubicBezTo>
                  <a:pt x="342900" y="102781"/>
                  <a:pt x="349865" y="92333"/>
                  <a:pt x="360581" y="87868"/>
                </a:cubicBezTo>
                <a:cubicBezTo>
                  <a:pt x="371296" y="83403"/>
                  <a:pt x="383530" y="85904"/>
                  <a:pt x="391745" y="94030"/>
                </a:cubicBezTo>
                <a:lnTo>
                  <a:pt x="506045" y="208330"/>
                </a:lnTo>
                <a:close/>
              </a:path>
            </a:pathLst>
          </a:custGeom>
          <a:solidFill>
            <a:srgbClr val="93A475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4" name="Text 11"/>
          <p:cNvSpPr/>
          <p:nvPr/>
        </p:nvSpPr>
        <p:spPr>
          <a:xfrm>
            <a:off x="6441722" y="4623929"/>
            <a:ext cx="2004907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1" b="1" dirty="0">
                <a:solidFill>
                  <a:srgbClr val="6A8B6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tools_condition</a:t>
            </a:r>
            <a:endParaRPr lang="en-US" sz="2276" dirty="0"/>
          </a:p>
        </p:txBody>
      </p:sp>
      <p:sp>
        <p:nvSpPr>
          <p:cNvPr id="15" name="Text 12"/>
          <p:cNvSpPr/>
          <p:nvPr/>
        </p:nvSpPr>
        <p:spPr>
          <a:xfrm>
            <a:off x="9445696" y="5707662"/>
            <a:ext cx="1426916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1" b="1" dirty="0">
                <a:solidFill>
                  <a:srgbClr val="6A8B6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Loop Back</a:t>
            </a:r>
            <a:endParaRPr lang="en-US" sz="2276" dirty="0"/>
          </a:p>
        </p:txBody>
      </p:sp>
      <p:sp>
        <p:nvSpPr>
          <p:cNvPr id="16" name="Shape 13"/>
          <p:cNvSpPr/>
          <p:nvPr/>
        </p:nvSpPr>
        <p:spPr>
          <a:xfrm>
            <a:off x="428978" y="7658382"/>
            <a:ext cx="5346418" cy="722489"/>
          </a:xfrm>
          <a:custGeom>
            <a:avLst/>
            <a:gdLst/>
            <a:ahLst/>
            <a:cxnLst/>
            <a:rect l="l" t="t" r="r" b="b"/>
            <a:pathLst>
              <a:path w="3759200" h="5080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406400"/>
                </a:lnTo>
                <a:cubicBezTo>
                  <a:pt x="3759200" y="462475"/>
                  <a:pt x="3713675" y="508000"/>
                  <a:pt x="3657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3A475">
              <a:alpha val="3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7" name="Text 14"/>
          <p:cNvSpPr/>
          <p:nvPr/>
        </p:nvSpPr>
        <p:spPr>
          <a:xfrm>
            <a:off x="501227" y="7802880"/>
            <a:ext cx="5201920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</a:t>
            </a:r>
            <a:r>
              <a:rPr lang="en-US" sz="2276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remembers the conversation.</a:t>
            </a:r>
            <a:endParaRPr lang="en-US" sz="2276" dirty="0"/>
          </a:p>
        </p:txBody>
      </p:sp>
      <p:sp>
        <p:nvSpPr>
          <p:cNvPr id="18" name="Shape 15"/>
          <p:cNvSpPr/>
          <p:nvPr/>
        </p:nvSpPr>
        <p:spPr>
          <a:xfrm>
            <a:off x="6064391" y="7658382"/>
            <a:ext cx="5346418" cy="722489"/>
          </a:xfrm>
          <a:custGeom>
            <a:avLst/>
            <a:gdLst/>
            <a:ahLst/>
            <a:cxnLst/>
            <a:rect l="l" t="t" r="r" b="b"/>
            <a:pathLst>
              <a:path w="3759200" h="5080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406400"/>
                </a:lnTo>
                <a:cubicBezTo>
                  <a:pt x="3759200" y="462475"/>
                  <a:pt x="3713675" y="508000"/>
                  <a:pt x="3657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3A475">
              <a:alpha val="3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9" name="Text 16"/>
          <p:cNvSpPr/>
          <p:nvPr/>
        </p:nvSpPr>
        <p:spPr>
          <a:xfrm>
            <a:off x="6136640" y="7802880"/>
            <a:ext cx="5201920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</a:t>
            </a:r>
            <a:r>
              <a:rPr lang="en-US" sz="2276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shows live progress.</a:t>
            </a:r>
            <a:endParaRPr lang="en-US" sz="2276" dirty="0"/>
          </a:p>
        </p:txBody>
      </p:sp>
      <p:sp>
        <p:nvSpPr>
          <p:cNvPr id="20" name="Shape 17"/>
          <p:cNvSpPr/>
          <p:nvPr/>
        </p:nvSpPr>
        <p:spPr>
          <a:xfrm>
            <a:off x="11699804" y="7658382"/>
            <a:ext cx="5346418" cy="722489"/>
          </a:xfrm>
          <a:custGeom>
            <a:avLst/>
            <a:gdLst/>
            <a:ahLst/>
            <a:cxnLst/>
            <a:rect l="l" t="t" r="r" b="b"/>
            <a:pathLst>
              <a:path w="3759200" h="5080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406400"/>
                </a:lnTo>
                <a:cubicBezTo>
                  <a:pt x="3759200" y="462475"/>
                  <a:pt x="3713675" y="508000"/>
                  <a:pt x="3657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3A475">
              <a:alpha val="3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21" name="Text 18"/>
          <p:cNvSpPr/>
          <p:nvPr/>
        </p:nvSpPr>
        <p:spPr>
          <a:xfrm>
            <a:off x="11772053" y="7802880"/>
            <a:ext cx="5201920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Interrupts</a:t>
            </a:r>
            <a:r>
              <a:rPr lang="en-US" sz="2276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guard sensitive steps.</a:t>
            </a:r>
            <a:endParaRPr lang="en-US" sz="2276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494" y="1108710"/>
            <a:ext cx="7091257" cy="83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519"/>
              </a:lnSpc>
            </a:pPr>
            <a:r>
              <a:rPr lang="en-US" sz="5215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Safe Loop Execution</a:t>
            </a:r>
            <a:endParaRPr lang="en-US" sz="5215" dirty="0"/>
          </a:p>
        </p:txBody>
      </p:sp>
      <p:sp>
        <p:nvSpPr>
          <p:cNvPr id="3" name="Text 1"/>
          <p:cNvSpPr/>
          <p:nvPr/>
        </p:nvSpPr>
        <p:spPr>
          <a:xfrm>
            <a:off x="2298418" y="3238359"/>
            <a:ext cx="3324295" cy="415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259"/>
              </a:lnSpc>
            </a:pPr>
            <a:r>
              <a:rPr lang="en-US" sz="2607" b="1" dirty="0"/>
              <a:t>Think</a:t>
            </a:r>
          </a:p>
        </p:txBody>
      </p:sp>
      <p:sp>
        <p:nvSpPr>
          <p:cNvPr id="4" name="Text 2"/>
          <p:cNvSpPr/>
          <p:nvPr/>
        </p:nvSpPr>
        <p:spPr>
          <a:xfrm>
            <a:off x="1091494" y="3829333"/>
            <a:ext cx="4531219" cy="43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437"/>
              </a:lnSpc>
            </a:pPr>
            <a:r>
              <a:rPr lang="en-US" sz="2252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 the approach and strategy</a:t>
            </a:r>
            <a:endParaRPr lang="en-US" sz="225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428" y="2524901"/>
            <a:ext cx="5352204" cy="53522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1495" y="3449462"/>
            <a:ext cx="437586" cy="4375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52346" y="3238359"/>
            <a:ext cx="3324295" cy="415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</a:t>
            </a:r>
            <a:endParaRPr lang="en-US" sz="2607" dirty="0"/>
          </a:p>
        </p:txBody>
      </p:sp>
      <p:sp>
        <p:nvSpPr>
          <p:cNvPr id="8" name="Text 4"/>
          <p:cNvSpPr/>
          <p:nvPr/>
        </p:nvSpPr>
        <p:spPr>
          <a:xfrm>
            <a:off x="11852347" y="3829333"/>
            <a:ext cx="4531360" cy="43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437"/>
              </a:lnSpc>
            </a:pPr>
            <a:r>
              <a:rPr lang="en-US" sz="2252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the planned steps</a:t>
            </a:r>
            <a:endParaRPr lang="en-US" sz="2252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28" y="2524901"/>
            <a:ext cx="5352204" cy="535220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1204" y="3904969"/>
            <a:ext cx="437586" cy="4375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52346" y="6133819"/>
            <a:ext cx="3324295" cy="415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259"/>
              </a:lnSpc>
            </a:pPr>
            <a:r>
              <a:rPr lang="en-US" sz="2607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Check</a:t>
            </a:r>
            <a:endParaRPr lang="en-US" sz="2607" dirty="0"/>
          </a:p>
        </p:txBody>
      </p:sp>
      <p:sp>
        <p:nvSpPr>
          <p:cNvPr id="12" name="Text 6"/>
          <p:cNvSpPr/>
          <p:nvPr/>
        </p:nvSpPr>
        <p:spPr>
          <a:xfrm>
            <a:off x="11852347" y="6724791"/>
            <a:ext cx="4531360" cy="43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437"/>
              </a:lnSpc>
            </a:pPr>
            <a:r>
              <a:rPr lang="en-US" sz="2252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Validate results and quality</a:t>
            </a:r>
            <a:endParaRPr lang="en-US" sz="225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1428" y="2524901"/>
            <a:ext cx="5352204" cy="535220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95697" y="6514677"/>
            <a:ext cx="437586" cy="43758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98418" y="6133819"/>
            <a:ext cx="3324295" cy="415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259"/>
              </a:lnSpc>
            </a:pPr>
            <a:r>
              <a:rPr lang="en-US" sz="2607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Retry</a:t>
            </a:r>
            <a:endParaRPr lang="en-US" sz="2607" dirty="0"/>
          </a:p>
        </p:txBody>
      </p:sp>
      <p:sp>
        <p:nvSpPr>
          <p:cNvPr id="16" name="Text 8"/>
          <p:cNvSpPr/>
          <p:nvPr/>
        </p:nvSpPr>
        <p:spPr>
          <a:xfrm>
            <a:off x="1091494" y="6724791"/>
            <a:ext cx="4531219" cy="43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437"/>
              </a:lnSpc>
            </a:pPr>
            <a:r>
              <a:rPr lang="en-US" sz="2252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Adjust and repeat if needed</a:t>
            </a:r>
            <a:endParaRPr lang="en-US" sz="2252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61428" y="2524901"/>
            <a:ext cx="5352204" cy="535220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85988" y="6059171"/>
            <a:ext cx="437586" cy="43758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91495" y="8206177"/>
            <a:ext cx="15292211" cy="43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437"/>
              </a:lnSpc>
            </a:pPr>
            <a:r>
              <a:rPr lang="en-US" sz="2252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Loops allow workflows to repeat steps safely, ensuring quality through iterative refinement.</a:t>
            </a:r>
            <a:endParaRPr lang="en-US" sz="225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67733" y="1"/>
            <a:ext cx="17357796" cy="97761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8198" y="433493"/>
            <a:ext cx="9103360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12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Heart of the ReAct Loop</a:t>
            </a:r>
            <a:endParaRPr lang="en-US" sz="2276" dirty="0"/>
          </a:p>
        </p:txBody>
      </p:sp>
      <p:sp>
        <p:nvSpPr>
          <p:cNvPr id="4" name="Text 1"/>
          <p:cNvSpPr/>
          <p:nvPr/>
        </p:nvSpPr>
        <p:spPr>
          <a:xfrm>
            <a:off x="1134251" y="1444978"/>
            <a:ext cx="15208391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`tools_condition` is the tiny function that powers 99% of agents. It's the traffic light at the core of the loop.</a:t>
            </a:r>
            <a:endParaRPr lang="en-US" sz="2276" dirty="0"/>
          </a:p>
        </p:txBody>
      </p:sp>
      <p:sp>
        <p:nvSpPr>
          <p:cNvPr id="5" name="Shape 2"/>
          <p:cNvSpPr/>
          <p:nvPr/>
        </p:nvSpPr>
        <p:spPr>
          <a:xfrm>
            <a:off x="2506134" y="2528711"/>
            <a:ext cx="12462933" cy="1011484"/>
          </a:xfrm>
          <a:custGeom>
            <a:avLst/>
            <a:gdLst/>
            <a:ahLst/>
            <a:cxnLst/>
            <a:rect l="l" t="t" r="r" b="b"/>
            <a:pathLst>
              <a:path w="8763000" h="711200">
                <a:moveTo>
                  <a:pt x="101602" y="0"/>
                </a:moveTo>
                <a:lnTo>
                  <a:pt x="8661398" y="0"/>
                </a:lnTo>
                <a:cubicBezTo>
                  <a:pt x="8717511" y="0"/>
                  <a:pt x="8763000" y="45489"/>
                  <a:pt x="8763000" y="101602"/>
                </a:cubicBezTo>
                <a:lnTo>
                  <a:pt x="8763000" y="609598"/>
                </a:lnTo>
                <a:cubicBezTo>
                  <a:pt x="8763000" y="665711"/>
                  <a:pt x="8717511" y="711200"/>
                  <a:pt x="8661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3A475">
              <a:alpha val="3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6" name="Text 3"/>
          <p:cNvSpPr/>
          <p:nvPr/>
        </p:nvSpPr>
        <p:spPr>
          <a:xfrm>
            <a:off x="2722880" y="2817707"/>
            <a:ext cx="12029440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Last AI Message</a:t>
            </a:r>
            <a:endParaRPr lang="en-US" sz="2276" dirty="0"/>
          </a:p>
        </p:txBody>
      </p:sp>
      <p:sp>
        <p:nvSpPr>
          <p:cNvPr id="7" name="Shape 4"/>
          <p:cNvSpPr/>
          <p:nvPr/>
        </p:nvSpPr>
        <p:spPr>
          <a:xfrm>
            <a:off x="8538916" y="3684693"/>
            <a:ext cx="406400" cy="541867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93A475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8" name="Shape 5"/>
          <p:cNvSpPr/>
          <p:nvPr/>
        </p:nvSpPr>
        <p:spPr>
          <a:xfrm>
            <a:off x="2506134" y="4371058"/>
            <a:ext cx="12462933" cy="1444978"/>
          </a:xfrm>
          <a:custGeom>
            <a:avLst/>
            <a:gdLst/>
            <a:ahLst/>
            <a:cxnLst/>
            <a:rect l="l" t="t" r="r" b="b"/>
            <a:pathLst>
              <a:path w="8763000" h="1016000">
                <a:moveTo>
                  <a:pt x="10160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914400"/>
                </a:lnTo>
                <a:cubicBezTo>
                  <a:pt x="8763000" y="970475"/>
                  <a:pt x="8717475" y="1016000"/>
                  <a:pt x="8661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A8B61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9" name="Text 6"/>
          <p:cNvSpPr/>
          <p:nvPr/>
        </p:nvSpPr>
        <p:spPr>
          <a:xfrm>
            <a:off x="2704818" y="4660053"/>
            <a:ext cx="12065564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4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tools_condition</a:t>
            </a:r>
            <a:endParaRPr lang="en-US" sz="2276" dirty="0"/>
          </a:p>
        </p:txBody>
      </p:sp>
      <p:sp>
        <p:nvSpPr>
          <p:cNvPr id="10" name="Text 7"/>
          <p:cNvSpPr/>
          <p:nvPr/>
        </p:nvSpPr>
        <p:spPr>
          <a:xfrm>
            <a:off x="2731911" y="5165796"/>
            <a:ext cx="12011378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Inspects the message for tool calls.</a:t>
            </a:r>
            <a:endParaRPr lang="en-US" sz="2276" dirty="0"/>
          </a:p>
        </p:txBody>
      </p:sp>
      <p:sp>
        <p:nvSpPr>
          <p:cNvPr id="11" name="Shape 8"/>
          <p:cNvSpPr/>
          <p:nvPr/>
        </p:nvSpPr>
        <p:spPr>
          <a:xfrm>
            <a:off x="8538916" y="5960533"/>
            <a:ext cx="406400" cy="541867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93A475"/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2" name="Shape 9"/>
          <p:cNvSpPr/>
          <p:nvPr/>
        </p:nvSpPr>
        <p:spPr>
          <a:xfrm>
            <a:off x="2909712" y="6646898"/>
            <a:ext cx="5545102" cy="1806222"/>
          </a:xfrm>
          <a:custGeom>
            <a:avLst/>
            <a:gdLst/>
            <a:ahLst/>
            <a:cxnLst/>
            <a:rect l="l" t="t" r="r" b="b"/>
            <a:pathLst>
              <a:path w="3898900" h="1270000">
                <a:moveTo>
                  <a:pt x="101600" y="0"/>
                </a:moveTo>
                <a:lnTo>
                  <a:pt x="3797300" y="0"/>
                </a:lnTo>
                <a:cubicBezTo>
                  <a:pt x="3853375" y="0"/>
                  <a:pt x="3898900" y="45525"/>
                  <a:pt x="3898900" y="101600"/>
                </a:cubicBezTo>
                <a:lnTo>
                  <a:pt x="3898900" y="1168400"/>
                </a:lnTo>
                <a:cubicBezTo>
                  <a:pt x="3898900" y="1224475"/>
                  <a:pt x="3853375" y="1270000"/>
                  <a:pt x="37973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5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3" name="Text 10"/>
          <p:cNvSpPr/>
          <p:nvPr/>
        </p:nvSpPr>
        <p:spPr>
          <a:xfrm>
            <a:off x="3117427" y="6935893"/>
            <a:ext cx="5129671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"tools"</a:t>
            </a:r>
            <a:endParaRPr lang="en-US" sz="2276" dirty="0"/>
          </a:p>
        </p:txBody>
      </p:sp>
      <p:sp>
        <p:nvSpPr>
          <p:cNvPr id="14" name="Text 11"/>
          <p:cNvSpPr/>
          <p:nvPr/>
        </p:nvSpPr>
        <p:spPr>
          <a:xfrm>
            <a:off x="3135489" y="7441636"/>
            <a:ext cx="5093547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tool calls exist, route to the ToolNode to execute them.</a:t>
            </a:r>
            <a:endParaRPr lang="en-US" sz="2276" dirty="0"/>
          </a:p>
        </p:txBody>
      </p:sp>
      <p:sp>
        <p:nvSpPr>
          <p:cNvPr id="15" name="Shape 12"/>
          <p:cNvSpPr/>
          <p:nvPr/>
        </p:nvSpPr>
        <p:spPr>
          <a:xfrm>
            <a:off x="9026596" y="6646898"/>
            <a:ext cx="5545102" cy="1806222"/>
          </a:xfrm>
          <a:custGeom>
            <a:avLst/>
            <a:gdLst/>
            <a:ahLst/>
            <a:cxnLst/>
            <a:rect l="l" t="t" r="r" b="b"/>
            <a:pathLst>
              <a:path w="3898900" h="1270000">
                <a:moveTo>
                  <a:pt x="101600" y="0"/>
                </a:moveTo>
                <a:lnTo>
                  <a:pt x="3797300" y="0"/>
                </a:lnTo>
                <a:cubicBezTo>
                  <a:pt x="3853375" y="0"/>
                  <a:pt x="3898900" y="45525"/>
                  <a:pt x="3898900" y="101600"/>
                </a:cubicBezTo>
                <a:lnTo>
                  <a:pt x="3898900" y="1168400"/>
                </a:lnTo>
                <a:cubicBezTo>
                  <a:pt x="3898900" y="1224475"/>
                  <a:pt x="3853375" y="1270000"/>
                  <a:pt x="37973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50196"/>
            </a:srgbClr>
          </a:solidFill>
          <a:ln/>
        </p:spPr>
        <p:txBody>
          <a:bodyPr/>
          <a:lstStyle/>
          <a:p>
            <a:endParaRPr lang="en-IN" sz="2560"/>
          </a:p>
        </p:txBody>
      </p:sp>
      <p:sp>
        <p:nvSpPr>
          <p:cNvPr id="16" name="Text 13"/>
          <p:cNvSpPr/>
          <p:nvPr/>
        </p:nvSpPr>
        <p:spPr>
          <a:xfrm>
            <a:off x="9234311" y="6935893"/>
            <a:ext cx="5129671" cy="5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56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"end"</a:t>
            </a:r>
            <a:endParaRPr lang="en-US" sz="2276" dirty="0"/>
          </a:p>
        </p:txBody>
      </p:sp>
      <p:sp>
        <p:nvSpPr>
          <p:cNvPr id="17" name="Text 14"/>
          <p:cNvSpPr/>
          <p:nvPr/>
        </p:nvSpPr>
        <p:spPr>
          <a:xfrm>
            <a:off x="9252373" y="7441636"/>
            <a:ext cx="5093547" cy="72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9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no tool calls, the agent is done. Route to END.</a:t>
            </a:r>
            <a:endParaRPr lang="en-US" sz="2276" dirty="0"/>
          </a:p>
        </p:txBody>
      </p:sp>
      <p:sp>
        <p:nvSpPr>
          <p:cNvPr id="18" name="Text 15"/>
          <p:cNvSpPr/>
          <p:nvPr/>
        </p:nvSpPr>
        <p:spPr>
          <a:xfrm>
            <a:off x="1439052" y="8886614"/>
            <a:ext cx="14594276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76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single conditional edge replaces dozens of manual if-statements and creates the infinite ReAct loop.</a:t>
            </a:r>
            <a:endParaRPr lang="en-US" sz="2276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4100" y="2997200"/>
            <a:ext cx="1752600" cy="177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53900" y="3060700"/>
            <a:ext cx="1727200" cy="1638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471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90"/>
              </a:spcBef>
            </a:pPr>
            <a:r>
              <a:rPr sz="4800" dirty="0">
                <a:solidFill>
                  <a:srgbClr val="2D4479"/>
                </a:solidFill>
              </a:rPr>
              <a:t>Assembling</a:t>
            </a:r>
            <a:r>
              <a:rPr sz="4800" spc="315" dirty="0">
                <a:solidFill>
                  <a:srgbClr val="2D4479"/>
                </a:solidFill>
              </a:rPr>
              <a:t> </a:t>
            </a:r>
            <a:r>
              <a:rPr sz="4800" spc="150" dirty="0">
                <a:solidFill>
                  <a:srgbClr val="344977"/>
                </a:solidFill>
              </a:rPr>
              <a:t>the</a:t>
            </a:r>
            <a:r>
              <a:rPr sz="4800" spc="-75" dirty="0">
                <a:solidFill>
                  <a:srgbClr val="344977"/>
                </a:solidFill>
              </a:rPr>
              <a:t> </a:t>
            </a:r>
            <a:r>
              <a:rPr sz="4800" spc="55" dirty="0">
                <a:solidFill>
                  <a:srgbClr val="314472"/>
                </a:solidFill>
              </a:rPr>
              <a:t>Pattern,</a:t>
            </a:r>
            <a:r>
              <a:rPr sz="4800" spc="35" dirty="0">
                <a:solidFill>
                  <a:srgbClr val="314472"/>
                </a:solidFill>
              </a:rPr>
              <a:t> </a:t>
            </a:r>
            <a:r>
              <a:rPr sz="4800" dirty="0">
                <a:solidFill>
                  <a:srgbClr val="314470"/>
                </a:solidFill>
              </a:rPr>
              <a:t>Step</a:t>
            </a:r>
            <a:r>
              <a:rPr sz="4800" spc="-265" dirty="0">
                <a:solidFill>
                  <a:srgbClr val="314470"/>
                </a:solidFill>
              </a:rPr>
              <a:t> </a:t>
            </a:r>
            <a:r>
              <a:rPr sz="4800" spc="210" dirty="0">
                <a:solidFill>
                  <a:srgbClr val="2A3F6E"/>
                </a:solidFill>
              </a:rPr>
              <a:t>1</a:t>
            </a:r>
            <a:r>
              <a:rPr sz="4800" spc="-600" dirty="0">
                <a:solidFill>
                  <a:srgbClr val="2A3F6E"/>
                </a:solidFill>
              </a:rPr>
              <a:t> </a:t>
            </a:r>
            <a:r>
              <a:rPr sz="4800" dirty="0">
                <a:solidFill>
                  <a:srgbClr val="314679"/>
                </a:solidFill>
              </a:rPr>
              <a:t>&amp;</a:t>
            </a:r>
            <a:r>
              <a:rPr sz="4800" spc="30" dirty="0">
                <a:solidFill>
                  <a:srgbClr val="314679"/>
                </a:solidFill>
              </a:rPr>
              <a:t> </a:t>
            </a:r>
            <a:r>
              <a:rPr sz="4800" dirty="0">
                <a:solidFill>
                  <a:srgbClr val="2B4277"/>
                </a:solidFill>
              </a:rPr>
              <a:t>2:</a:t>
            </a:r>
            <a:r>
              <a:rPr sz="4800" spc="-355" dirty="0">
                <a:solidFill>
                  <a:srgbClr val="2B4277"/>
                </a:solidFill>
              </a:rPr>
              <a:t> </a:t>
            </a:r>
            <a:r>
              <a:rPr sz="4800" spc="-10" dirty="0">
                <a:solidFill>
                  <a:srgbClr val="2A3F72"/>
                </a:solidFill>
              </a:rPr>
              <a:t>Reason</a:t>
            </a:r>
            <a:r>
              <a:rPr sz="4800" spc="60" dirty="0">
                <a:solidFill>
                  <a:srgbClr val="2A3F72"/>
                </a:solidFill>
              </a:rPr>
              <a:t> </a:t>
            </a:r>
            <a:r>
              <a:rPr sz="4800" dirty="0">
                <a:solidFill>
                  <a:srgbClr val="2F4474"/>
                </a:solidFill>
              </a:rPr>
              <a:t>and</a:t>
            </a:r>
            <a:r>
              <a:rPr sz="4800" spc="30" dirty="0">
                <a:solidFill>
                  <a:srgbClr val="2F4474"/>
                </a:solidFill>
              </a:rPr>
              <a:t> </a:t>
            </a:r>
            <a:r>
              <a:rPr sz="4800" spc="60" dirty="0">
                <a:solidFill>
                  <a:srgbClr val="2D487B"/>
                </a:solidFill>
              </a:rPr>
              <a:t>Act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880702" y="1996369"/>
            <a:ext cx="1436751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564245" algn="l"/>
              </a:tabLst>
            </a:pPr>
            <a:r>
              <a:rPr sz="3650" dirty="0">
                <a:latin typeface="Arial MT"/>
                <a:cs typeface="Arial MT"/>
              </a:rPr>
              <a:t>Step</a:t>
            </a:r>
            <a:r>
              <a:rPr sz="3650" spc="-254" dirty="0">
                <a:latin typeface="Arial MT"/>
                <a:cs typeface="Arial MT"/>
              </a:rPr>
              <a:t> </a:t>
            </a:r>
            <a:r>
              <a:rPr sz="3650" spc="-50" dirty="0">
                <a:latin typeface="Arial MT"/>
                <a:cs typeface="Arial MT"/>
              </a:rPr>
              <a:t>1:</a:t>
            </a:r>
            <a:r>
              <a:rPr sz="3650" spc="-24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The</a:t>
            </a:r>
            <a:r>
              <a:rPr sz="3650" spc="-225" dirty="0">
                <a:latin typeface="Arial MT"/>
                <a:cs typeface="Arial MT"/>
              </a:rPr>
              <a:t> </a:t>
            </a:r>
            <a:r>
              <a:rPr sz="3650" spc="-75" dirty="0">
                <a:latin typeface="Arial MT"/>
                <a:cs typeface="Arial MT"/>
              </a:rPr>
              <a:t>Reason</a:t>
            </a:r>
            <a:r>
              <a:rPr sz="3650" spc="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Node</a:t>
            </a:r>
            <a:r>
              <a:rPr sz="3650" spc="-95" dirty="0">
                <a:latin typeface="Arial MT"/>
                <a:cs typeface="Arial MT"/>
              </a:rPr>
              <a:t> </a:t>
            </a:r>
            <a:r>
              <a:rPr sz="3650" spc="-10" dirty="0">
                <a:latin typeface="Arial MT"/>
                <a:cs typeface="Arial MT"/>
              </a:rPr>
              <a:t>(Think)</a:t>
            </a:r>
            <a:r>
              <a:rPr sz="3650" dirty="0">
                <a:latin typeface="Arial MT"/>
                <a:cs typeface="Arial MT"/>
              </a:rPr>
              <a:t>	</a:t>
            </a:r>
            <a:r>
              <a:rPr sz="3600" spc="285" dirty="0">
                <a:latin typeface="Calibri"/>
                <a:cs typeface="Calibri"/>
              </a:rPr>
              <a:t>Step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245" dirty="0">
                <a:latin typeface="Calibri"/>
                <a:cs typeface="Calibri"/>
              </a:rPr>
              <a:t>2: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320" dirty="0">
                <a:latin typeface="Calibri"/>
                <a:cs typeface="Calibri"/>
              </a:rPr>
              <a:t>The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135" dirty="0">
                <a:latin typeface="Calibri"/>
                <a:cs typeface="Calibri"/>
              </a:rPr>
              <a:t>Tool</a:t>
            </a:r>
            <a:r>
              <a:rPr sz="3600" spc="55" dirty="0">
                <a:latin typeface="Calibri"/>
                <a:cs typeface="Calibri"/>
              </a:rPr>
              <a:t> </a:t>
            </a:r>
            <a:r>
              <a:rPr sz="3600" spc="229" dirty="0">
                <a:latin typeface="Calibri"/>
                <a:cs typeface="Calibri"/>
              </a:rPr>
              <a:t>Node</a:t>
            </a:r>
            <a:r>
              <a:rPr sz="3600" spc="90" dirty="0">
                <a:latin typeface="Calibri"/>
                <a:cs typeface="Calibri"/>
              </a:rPr>
              <a:t> </a:t>
            </a:r>
            <a:r>
              <a:rPr sz="3600" spc="220" dirty="0">
                <a:latin typeface="Calibri"/>
                <a:cs typeface="Calibri"/>
              </a:rPr>
              <a:t>(Act)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953" y="5155141"/>
            <a:ext cx="6950075" cy="134620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6350">
              <a:lnSpc>
                <a:spcPct val="106500"/>
              </a:lnSpc>
              <a:spcBef>
                <a:spcPts val="145"/>
              </a:spcBef>
            </a:pPr>
            <a:r>
              <a:rPr sz="2700" spc="-10" dirty="0">
                <a:latin typeface="Arial MT"/>
                <a:cs typeface="Arial MT"/>
              </a:rPr>
              <a:t>An</a:t>
            </a:r>
            <a:r>
              <a:rPr sz="2700" spc="-180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'Agent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Node'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where</a:t>
            </a:r>
            <a:r>
              <a:rPr sz="2700" spc="-40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an</a:t>
            </a:r>
            <a:r>
              <a:rPr sz="2700" spc="-100" dirty="0">
                <a:latin typeface="Arial MT"/>
                <a:cs typeface="Arial MT"/>
              </a:rPr>
              <a:t> </a:t>
            </a:r>
            <a:r>
              <a:rPr sz="2700" spc="-114" dirty="0">
                <a:latin typeface="Arial MT"/>
                <a:cs typeface="Arial MT"/>
              </a:rPr>
              <a:t>LLM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bound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with</a:t>
            </a:r>
            <a:r>
              <a:rPr sz="2700" spc="-160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a </a:t>
            </a:r>
            <a:r>
              <a:rPr sz="2700" dirty="0">
                <a:latin typeface="Arial MT"/>
                <a:cs typeface="Arial MT"/>
              </a:rPr>
              <a:t>set of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tools.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Its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job</a:t>
            </a:r>
            <a:r>
              <a:rPr sz="2700" spc="-6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150" dirty="0">
                <a:latin typeface="Arial MT"/>
                <a:cs typeface="Arial MT"/>
              </a:rPr>
              <a:t> </a:t>
            </a:r>
            <a:r>
              <a:rPr sz="2700" spc="75" dirty="0">
                <a:latin typeface="Arial MT"/>
                <a:cs typeface="Arial MT"/>
              </a:rPr>
              <a:t>to</a:t>
            </a:r>
            <a:r>
              <a:rPr sz="2700" spc="-16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think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and</a:t>
            </a:r>
            <a:r>
              <a:rPr sz="2700" spc="-4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decide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if</a:t>
            </a:r>
            <a:r>
              <a:rPr sz="2700" spc="-40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a </a:t>
            </a:r>
            <a:r>
              <a:rPr sz="2700" dirty="0">
                <a:latin typeface="Arial MT"/>
                <a:cs typeface="Arial MT"/>
              </a:rPr>
              <a:t>tool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needed.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4579" y="7145866"/>
            <a:ext cx="219964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60" dirty="0">
                <a:latin typeface="Consolas"/>
                <a:cs typeface="Consolas"/>
              </a:rPr>
              <a:t>llm_with_tools</a:t>
            </a:r>
            <a:r>
              <a:rPr sz="2050" spc="-160" dirty="0">
                <a:latin typeface="Consolas"/>
                <a:cs typeface="Consolas"/>
              </a:rPr>
              <a:t> </a:t>
            </a:r>
            <a:r>
              <a:rPr sz="2050" spc="-50" dirty="0">
                <a:solidFill>
                  <a:srgbClr val="90798C"/>
                </a:solidFill>
                <a:latin typeface="Consolas"/>
                <a:cs typeface="Consolas"/>
              </a:rPr>
              <a:t>=</a:t>
            </a:r>
            <a:endParaRPr sz="20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2759" y="7145866"/>
            <a:ext cx="4483735" cy="33214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50" spc="-65" dirty="0" err="1">
                <a:latin typeface="Consolas"/>
                <a:cs typeface="Consolas"/>
              </a:rPr>
              <a:t>ll</a:t>
            </a:r>
            <a:r>
              <a:rPr sz="2050" spc="-65" dirty="0" err="1">
                <a:latin typeface="Consolas"/>
                <a:cs typeface="Consolas"/>
              </a:rPr>
              <a:t>m.bind_tools</a:t>
            </a:r>
            <a:r>
              <a:rPr sz="2050" spc="-65" dirty="0">
                <a:latin typeface="Consolas"/>
                <a:cs typeface="Consolas"/>
              </a:rPr>
              <a:t>([</a:t>
            </a:r>
            <a:r>
              <a:rPr lang="en-IN" sz="2050" spc="-65" dirty="0">
                <a:latin typeface="Consolas"/>
                <a:cs typeface="Consolas"/>
              </a:rPr>
              <a:t>tools</a:t>
            </a:r>
            <a:r>
              <a:rPr sz="2050" spc="-65" dirty="0">
                <a:latin typeface="Consolas"/>
                <a:cs typeface="Consolas"/>
              </a:rPr>
              <a:t>])</a:t>
            </a:r>
            <a:endParaRPr sz="205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37041" y="5161491"/>
            <a:ext cx="6783070" cy="1339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>
              <a:lnSpc>
                <a:spcPct val="106500"/>
              </a:lnSpc>
              <a:spcBef>
                <a:spcPts val="95"/>
              </a:spcBef>
              <a:tabLst>
                <a:tab pos="2033905" algn="l"/>
              </a:tabLst>
            </a:pPr>
            <a:r>
              <a:rPr sz="2700" spc="-40" dirty="0">
                <a:latin typeface="Arial MT"/>
                <a:cs typeface="Arial MT"/>
              </a:rPr>
              <a:t>This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node's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only</a:t>
            </a:r>
            <a:r>
              <a:rPr sz="2700" spc="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job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15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10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execute</a:t>
            </a:r>
            <a:r>
              <a:rPr sz="2700" dirty="0">
                <a:latin typeface="Arial MT"/>
                <a:cs typeface="Arial MT"/>
              </a:rPr>
              <a:t> the</a:t>
            </a:r>
            <a:r>
              <a:rPr sz="2700" spc="-1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tool</a:t>
            </a:r>
            <a:r>
              <a:rPr sz="2700" spc="-14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call </a:t>
            </a:r>
            <a:r>
              <a:rPr sz="2700" spc="-10" dirty="0">
                <a:latin typeface="Arial MT"/>
                <a:cs typeface="Arial MT"/>
              </a:rPr>
              <a:t>requested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by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spc="-125" dirty="0">
                <a:latin typeface="Arial MT"/>
                <a:cs typeface="Arial MT"/>
              </a:rPr>
              <a:t>Reason</a:t>
            </a:r>
            <a:r>
              <a:rPr sz="2700" spc="-45" dirty="0">
                <a:latin typeface="Arial MT"/>
                <a:cs typeface="Arial MT"/>
              </a:rPr>
              <a:t> Node.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follows</a:t>
            </a:r>
            <a:r>
              <a:rPr sz="2700" spc="30" dirty="0">
                <a:latin typeface="Arial MT"/>
                <a:cs typeface="Arial MT"/>
              </a:rPr>
              <a:t> </a:t>
            </a:r>
            <a:r>
              <a:rPr sz="2700" spc="-305" dirty="0">
                <a:latin typeface="Arial MT"/>
                <a:cs typeface="Arial MT"/>
              </a:rPr>
              <a:t>a </a:t>
            </a:r>
            <a:r>
              <a:rPr sz="2700" spc="-10" dirty="0">
                <a:latin typeface="Arial MT"/>
                <a:cs typeface="Arial MT"/>
              </a:rPr>
              <a:t>deterministic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40" dirty="0">
                <a:latin typeface="Arial MT"/>
                <a:cs typeface="Arial MT"/>
              </a:rPr>
              <a:t>rule: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spc="50" dirty="0">
                <a:latin typeface="Arial MT"/>
                <a:cs typeface="Arial MT"/>
              </a:rPr>
              <a:t>if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spc="-254" dirty="0">
                <a:latin typeface="Arial MT"/>
                <a:cs typeface="Arial MT"/>
              </a:rPr>
              <a:t>a</a:t>
            </a:r>
            <a:r>
              <a:rPr sz="2700" spc="4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tool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called,</a:t>
            </a:r>
            <a:r>
              <a:rPr sz="2700" spc="-6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run</a:t>
            </a:r>
            <a:r>
              <a:rPr sz="2700" spc="-16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it.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47039" y="7121877"/>
            <a:ext cx="364934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360170" algn="l"/>
                <a:tab pos="1636395" algn="l"/>
              </a:tabLst>
            </a:pPr>
            <a:r>
              <a:rPr sz="2200" spc="-10" dirty="0">
                <a:latin typeface="Arial MT"/>
                <a:cs typeface="Arial MT"/>
              </a:rPr>
              <a:t>too1_node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0" dirty="0">
                <a:solidFill>
                  <a:srgbClr val="593450"/>
                </a:solidFill>
                <a:latin typeface="Arial MT"/>
                <a:cs typeface="Arial MT"/>
              </a:rPr>
              <a:t>=</a:t>
            </a:r>
            <a:r>
              <a:rPr sz="2200" dirty="0">
                <a:solidFill>
                  <a:srgbClr val="593450"/>
                </a:solidFill>
                <a:latin typeface="Arial MT"/>
                <a:cs typeface="Arial MT"/>
              </a:rPr>
              <a:t>	</a:t>
            </a:r>
            <a:r>
              <a:rPr sz="2200" spc="-270" dirty="0">
                <a:solidFill>
                  <a:srgbClr val="466B5E"/>
                </a:solidFill>
                <a:latin typeface="Arial MT"/>
                <a:cs typeface="Arial MT"/>
              </a:rPr>
              <a:t>Too</a:t>
            </a:r>
            <a:r>
              <a:rPr sz="2200" spc="-330" dirty="0">
                <a:solidFill>
                  <a:srgbClr val="466B5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7958A"/>
                </a:solidFill>
                <a:latin typeface="Arial MT"/>
                <a:cs typeface="Arial MT"/>
              </a:rPr>
              <a:t>lNode</a:t>
            </a:r>
            <a:r>
              <a:rPr sz="2200" spc="-10" dirty="0">
                <a:latin typeface="Arial MT"/>
                <a:cs typeface="Arial MT"/>
              </a:rPr>
              <a:t>(tools)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88216" y="8405283"/>
            <a:ext cx="11239500" cy="774700"/>
          </a:xfrm>
          <a:prstGeom prst="rect">
            <a:avLst/>
          </a:prstGeom>
          <a:ln w="21166">
            <a:solidFill>
              <a:srgbClr val="A8702B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65"/>
              </a:spcBef>
            </a:pPr>
            <a:r>
              <a:rPr sz="2700" spc="-85" dirty="0">
                <a:latin typeface="Arial MT"/>
                <a:cs typeface="Arial MT"/>
              </a:rPr>
              <a:t>Key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Insight: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60" dirty="0">
                <a:latin typeface="Arial MT"/>
                <a:cs typeface="Arial MT"/>
              </a:rPr>
              <a:t>ToolNode</a:t>
            </a:r>
            <a:r>
              <a:rPr sz="2700" spc="6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does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not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reason </a:t>
            </a:r>
            <a:r>
              <a:rPr sz="2700" dirty="0">
                <a:latin typeface="Arial MT"/>
                <a:cs typeface="Arial MT"/>
              </a:rPr>
              <a:t>or</a:t>
            </a:r>
            <a:r>
              <a:rPr sz="2700" spc="20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decide;</a:t>
            </a:r>
            <a:r>
              <a:rPr sz="2700" spc="-9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6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follows</a:t>
            </a:r>
            <a:r>
              <a:rPr sz="2700" spc="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</a:t>
            </a:r>
            <a:r>
              <a:rPr sz="2700" spc="-12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checklist.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2120900"/>
            <a:ext cx="6375400" cy="558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909300" y="4049183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>
                <a:moveTo>
                  <a:pt x="0" y="0"/>
                </a:moveTo>
                <a:lnTo>
                  <a:pt x="321733" y="0"/>
                </a:lnTo>
              </a:path>
            </a:pathLst>
          </a:custGeom>
          <a:ln w="29633">
            <a:solidFill>
              <a:srgbClr val="0303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151100" y="3591983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4">
                <a:moveTo>
                  <a:pt x="0" y="0"/>
                </a:moveTo>
                <a:lnTo>
                  <a:pt x="321733" y="0"/>
                </a:lnTo>
              </a:path>
            </a:pathLst>
          </a:custGeom>
          <a:ln w="29633">
            <a:solidFill>
              <a:srgbClr val="0303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121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90"/>
              </a:spcBef>
            </a:pPr>
            <a:r>
              <a:rPr sz="4800" dirty="0">
                <a:solidFill>
                  <a:srgbClr val="2B3D66"/>
                </a:solidFill>
              </a:rPr>
              <a:t>Assembling</a:t>
            </a:r>
            <a:r>
              <a:rPr sz="4800" spc="400" dirty="0">
                <a:solidFill>
                  <a:srgbClr val="2B3D66"/>
                </a:solidFill>
              </a:rPr>
              <a:t> </a:t>
            </a:r>
            <a:r>
              <a:rPr sz="4800" spc="150" dirty="0">
                <a:solidFill>
                  <a:srgbClr val="313F62"/>
                </a:solidFill>
              </a:rPr>
              <a:t>the</a:t>
            </a:r>
            <a:r>
              <a:rPr sz="4800" spc="-15" dirty="0">
                <a:solidFill>
                  <a:srgbClr val="313F62"/>
                </a:solidFill>
              </a:rPr>
              <a:t> </a:t>
            </a:r>
            <a:r>
              <a:rPr sz="4800" spc="55" dirty="0">
                <a:solidFill>
                  <a:srgbClr val="344264"/>
                </a:solidFill>
              </a:rPr>
              <a:t>Pattern,</a:t>
            </a:r>
            <a:r>
              <a:rPr sz="4800" spc="105" dirty="0">
                <a:solidFill>
                  <a:srgbClr val="344264"/>
                </a:solidFill>
              </a:rPr>
              <a:t> </a:t>
            </a:r>
            <a:r>
              <a:rPr sz="4800" dirty="0">
                <a:solidFill>
                  <a:srgbClr val="2F3F60"/>
                </a:solidFill>
              </a:rPr>
              <a:t>Step</a:t>
            </a:r>
            <a:r>
              <a:rPr sz="4800" spc="140" dirty="0">
                <a:solidFill>
                  <a:srgbClr val="2F3F60"/>
                </a:solidFill>
              </a:rPr>
              <a:t> </a:t>
            </a:r>
            <a:r>
              <a:rPr sz="4800" dirty="0">
                <a:solidFill>
                  <a:srgbClr val="2F3D5D"/>
                </a:solidFill>
              </a:rPr>
              <a:t>3:</a:t>
            </a:r>
            <a:r>
              <a:rPr sz="4800" spc="150" dirty="0">
                <a:solidFill>
                  <a:srgbClr val="2F3D5D"/>
                </a:solidFill>
              </a:rPr>
              <a:t> </a:t>
            </a:r>
            <a:r>
              <a:rPr sz="4800" dirty="0">
                <a:solidFill>
                  <a:srgbClr val="2F3D59"/>
                </a:solidFill>
              </a:rPr>
              <a:t>The</a:t>
            </a:r>
            <a:r>
              <a:rPr sz="4800" spc="5" dirty="0">
                <a:solidFill>
                  <a:srgbClr val="2F3D59"/>
                </a:solidFill>
              </a:rPr>
              <a:t> </a:t>
            </a:r>
            <a:r>
              <a:rPr sz="4800" spc="120" dirty="0">
                <a:solidFill>
                  <a:srgbClr val="344269"/>
                </a:solidFill>
              </a:rPr>
              <a:t>Critical</a:t>
            </a:r>
            <a:r>
              <a:rPr sz="4800" spc="-60" dirty="0">
                <a:solidFill>
                  <a:srgbClr val="344269"/>
                </a:solidFill>
              </a:rPr>
              <a:t> </a:t>
            </a:r>
            <a:r>
              <a:rPr sz="4800" spc="-20" dirty="0">
                <a:solidFill>
                  <a:srgbClr val="333F64"/>
                </a:solidFill>
              </a:rPr>
              <a:t>Loop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2252745" y="2604911"/>
            <a:ext cx="15297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Arial MT"/>
                <a:cs typeface="Arial MT"/>
              </a:rPr>
              <a:t>Tool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Node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7505" y="5233811"/>
            <a:ext cx="1441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10" dirty="0">
                <a:latin typeface="Arial MT"/>
                <a:cs typeface="Arial MT"/>
              </a:rPr>
              <a:t>Condition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6787" y="7176910"/>
            <a:ext cx="66230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150" dirty="0">
                <a:latin typeface="Arial MT"/>
                <a:cs typeface="Arial MT"/>
              </a:rPr>
              <a:t>END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27405" y="1981200"/>
            <a:ext cx="6964045" cy="27368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0480" marR="875665" indent="-18415">
              <a:lnSpc>
                <a:spcPts val="4400"/>
              </a:lnSpc>
              <a:spcBef>
                <a:spcPts val="330"/>
              </a:spcBef>
            </a:pPr>
            <a:r>
              <a:rPr sz="3750" dirty="0">
                <a:latin typeface="Arial MT"/>
                <a:cs typeface="Arial MT"/>
              </a:rPr>
              <a:t>Step</a:t>
            </a:r>
            <a:r>
              <a:rPr sz="3750" spc="-204" dirty="0">
                <a:latin typeface="Arial MT"/>
                <a:cs typeface="Arial MT"/>
              </a:rPr>
              <a:t> </a:t>
            </a:r>
            <a:r>
              <a:rPr sz="3750" spc="60" dirty="0">
                <a:latin typeface="Arial MT"/>
                <a:cs typeface="Arial MT"/>
              </a:rPr>
              <a:t>3:</a:t>
            </a:r>
            <a:r>
              <a:rPr sz="3750" spc="-325" dirty="0">
                <a:latin typeface="Arial MT"/>
                <a:cs typeface="Arial MT"/>
              </a:rPr>
              <a:t> </a:t>
            </a:r>
            <a:r>
              <a:rPr sz="3750" spc="-114" dirty="0">
                <a:latin typeface="Arial MT"/>
                <a:cs typeface="Arial MT"/>
              </a:rPr>
              <a:t>The</a:t>
            </a:r>
            <a:r>
              <a:rPr sz="3750" spc="-145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Conditional</a:t>
            </a:r>
            <a:r>
              <a:rPr sz="3750" spc="-185" dirty="0">
                <a:latin typeface="Arial MT"/>
                <a:cs typeface="Arial MT"/>
              </a:rPr>
              <a:t> </a:t>
            </a:r>
            <a:r>
              <a:rPr sz="3750" spc="-25" dirty="0">
                <a:latin typeface="Arial MT"/>
                <a:cs typeface="Arial MT"/>
              </a:rPr>
              <a:t>Edge </a:t>
            </a:r>
            <a:r>
              <a:rPr sz="3750" spc="-70" dirty="0">
                <a:latin typeface="Arial MT"/>
                <a:cs typeface="Arial MT"/>
              </a:rPr>
              <a:t>(Observe</a:t>
            </a:r>
            <a:r>
              <a:rPr sz="3750" spc="-125" dirty="0">
                <a:latin typeface="Arial MT"/>
                <a:cs typeface="Arial MT"/>
              </a:rPr>
              <a:t> </a:t>
            </a:r>
            <a:r>
              <a:rPr sz="3750" spc="-225" dirty="0">
                <a:latin typeface="Arial MT"/>
                <a:cs typeface="Arial MT"/>
              </a:rPr>
              <a:t>&amp;</a:t>
            </a:r>
            <a:r>
              <a:rPr sz="3750" spc="-250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Decide)</a:t>
            </a:r>
            <a:endParaRPr sz="3750">
              <a:latin typeface="Arial MT"/>
              <a:cs typeface="Arial MT"/>
            </a:endParaRPr>
          </a:p>
          <a:p>
            <a:pPr marL="14604" marR="5080" indent="6985">
              <a:lnSpc>
                <a:spcPct val="101699"/>
              </a:lnSpc>
              <a:spcBef>
                <a:spcPts val="1510"/>
              </a:spcBef>
              <a:tabLst>
                <a:tab pos="1783714" algn="l"/>
                <a:tab pos="6039485" algn="l"/>
              </a:tabLst>
            </a:pPr>
            <a:r>
              <a:rPr sz="2950" spc="-10" dirty="0">
                <a:latin typeface="Arial MT"/>
                <a:cs typeface="Arial MT"/>
              </a:rPr>
              <a:t>After</a:t>
            </a:r>
            <a:r>
              <a:rPr sz="2950" spc="-1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130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tool</a:t>
            </a:r>
            <a:r>
              <a:rPr sz="2950" spc="-175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acts,</a:t>
            </a:r>
            <a:r>
              <a:rPr sz="2950" spc="-155" dirty="0">
                <a:latin typeface="Arial MT"/>
                <a:cs typeface="Arial MT"/>
              </a:rPr>
              <a:t> </a:t>
            </a:r>
            <a:r>
              <a:rPr sz="2950" spc="-280" dirty="0">
                <a:latin typeface="Arial MT"/>
                <a:cs typeface="Arial MT"/>
              </a:rPr>
              <a:t>a</a:t>
            </a:r>
            <a:r>
              <a:rPr sz="2950" spc="35" dirty="0">
                <a:latin typeface="Arial MT"/>
                <a:cs typeface="Arial MT"/>
              </a:rPr>
              <a:t> </a:t>
            </a:r>
            <a:r>
              <a:rPr sz="2950" spc="-85" dirty="0">
                <a:latin typeface="Arial MT"/>
                <a:cs typeface="Arial MT"/>
              </a:rPr>
              <a:t>simple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function</a:t>
            </a:r>
            <a:r>
              <a:rPr sz="2950" dirty="0">
                <a:latin typeface="Arial MT"/>
                <a:cs typeface="Arial MT"/>
              </a:rPr>
              <a:t>	</a:t>
            </a:r>
            <a:r>
              <a:rPr sz="2950" spc="-85" dirty="0">
                <a:latin typeface="Arial MT"/>
                <a:cs typeface="Arial MT"/>
              </a:rPr>
              <a:t>which </a:t>
            </a:r>
            <a:r>
              <a:rPr sz="2950" spc="-80" dirty="0">
                <a:latin typeface="Arial MT"/>
                <a:cs typeface="Arial MT"/>
              </a:rPr>
              <a:t>you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write</a:t>
            </a:r>
            <a:r>
              <a:rPr sz="2950" dirty="0">
                <a:latin typeface="Arial MT"/>
                <a:cs typeface="Arial MT"/>
              </a:rPr>
              <a:t>	</a:t>
            </a:r>
            <a:r>
              <a:rPr sz="2950" spc="-50" dirty="0">
                <a:latin typeface="Arial MT"/>
                <a:cs typeface="Arial MT"/>
              </a:rPr>
              <a:t>checks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state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175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decide </a:t>
            </a:r>
            <a:r>
              <a:rPr sz="2950" spc="-20" dirty="0">
                <a:latin typeface="Arial MT"/>
                <a:cs typeface="Arial MT"/>
              </a:rPr>
              <a:t>what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2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do</a:t>
            </a:r>
            <a:r>
              <a:rPr sz="2950" spc="-204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next.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spc="-114" dirty="0">
                <a:latin typeface="Arial MT"/>
                <a:cs typeface="Arial MT"/>
              </a:rPr>
              <a:t>This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is</a:t>
            </a:r>
            <a:r>
              <a:rPr sz="2950" spc="-15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not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-170" dirty="0">
                <a:latin typeface="Arial MT"/>
                <a:cs typeface="Arial MT"/>
              </a:rPr>
              <a:t>AI.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spc="-114" dirty="0">
                <a:latin typeface="Arial MT"/>
                <a:cs typeface="Arial MT"/>
              </a:rPr>
              <a:t>This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is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spc="-70" dirty="0">
                <a:latin typeface="Arial MT"/>
                <a:cs typeface="Arial MT"/>
              </a:rPr>
              <a:t>your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logic.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36511" y="5430308"/>
            <a:ext cx="409575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dirty="0">
                <a:latin typeface="Consolas"/>
                <a:cs typeface="Consolas"/>
              </a:rPr>
              <a:t>def</a:t>
            </a:r>
            <a:r>
              <a:rPr sz="2300" spc="-275" dirty="0">
                <a:latin typeface="Consolas"/>
                <a:cs typeface="Consolas"/>
              </a:rPr>
              <a:t> </a:t>
            </a:r>
            <a:r>
              <a:rPr sz="2300" spc="-80" dirty="0">
                <a:latin typeface="Consolas"/>
                <a:cs typeface="Consolas"/>
              </a:rPr>
              <a:t>should_continue(state):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60772" y="5761427"/>
            <a:ext cx="5894705" cy="13011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1370330" algn="l"/>
                <a:tab pos="1677035" algn="l"/>
              </a:tabLst>
            </a:pPr>
            <a:r>
              <a:rPr sz="2400" spc="60" dirty="0">
                <a:latin typeface="Calibri"/>
                <a:cs typeface="Calibri"/>
              </a:rPr>
              <a:t>1ast_nsg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180" dirty="0">
                <a:latin typeface="Calibri"/>
                <a:cs typeface="Calibri"/>
              </a:rPr>
              <a:t>state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["messages"]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spc="-245" dirty="0">
                <a:latin typeface="Calibri"/>
                <a:cs typeface="Calibri"/>
              </a:rPr>
              <a:t>[—</a:t>
            </a:r>
            <a:r>
              <a:rPr sz="2400" spc="-25" dirty="0">
                <a:latin typeface="Calibri"/>
                <a:cs typeface="Calibri"/>
              </a:rPr>
              <a:t>1]</a:t>
            </a:r>
            <a:endParaRPr sz="24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520"/>
              </a:spcBef>
            </a:pPr>
            <a:r>
              <a:rPr sz="2300" dirty="0">
                <a:latin typeface="Consolas"/>
                <a:cs typeface="Consolas"/>
              </a:rPr>
              <a:t>if</a:t>
            </a:r>
            <a:r>
              <a:rPr sz="2300" spc="-22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last_msgtool_cal{s:</a:t>
            </a:r>
            <a:endParaRPr sz="2300">
              <a:latin typeface="Consolas"/>
              <a:cs typeface="Consolas"/>
            </a:endParaRPr>
          </a:p>
          <a:p>
            <a:pPr marL="632460">
              <a:lnSpc>
                <a:spcPct val="100000"/>
              </a:lnSpc>
              <a:spcBef>
                <a:spcPts val="540"/>
              </a:spcBef>
            </a:pPr>
            <a:r>
              <a:rPr sz="2300" spc="-114" dirty="0">
                <a:latin typeface="Consolas"/>
                <a:cs typeface="Consolas"/>
              </a:rPr>
              <a:t>return</a:t>
            </a:r>
            <a:r>
              <a:rPr sz="2300" spc="-204" dirty="0">
                <a:latin typeface="Consolas"/>
                <a:cs typeface="Consolas"/>
              </a:rPr>
              <a:t> </a:t>
            </a:r>
            <a:r>
              <a:rPr sz="2300" spc="-35" dirty="0">
                <a:latin typeface="Consolas"/>
                <a:cs typeface="Consolas"/>
              </a:rPr>
              <a:t>"tool"</a:t>
            </a:r>
            <a:r>
              <a:rPr sz="2300" spc="-28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#</a:t>
            </a:r>
            <a:r>
              <a:rPr sz="2300" spc="-3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Loop</a:t>
            </a:r>
            <a:r>
              <a:rPr sz="2300" spc="-280" dirty="0">
                <a:latin typeface="Consolas"/>
                <a:cs typeface="Consolas"/>
              </a:rPr>
              <a:t> </a:t>
            </a:r>
            <a:r>
              <a:rPr sz="2300" spc="-55" dirty="0">
                <a:latin typeface="Consolas"/>
                <a:cs typeface="Consolas"/>
              </a:rPr>
              <a:t>back</a:t>
            </a:r>
            <a:r>
              <a:rPr sz="2300" spc="-170" dirty="0">
                <a:latin typeface="Consolas"/>
                <a:cs typeface="Consolas"/>
              </a:rPr>
              <a:t> </a:t>
            </a:r>
            <a:r>
              <a:rPr sz="2300" spc="-30" dirty="0">
                <a:solidFill>
                  <a:srgbClr val="130500"/>
                </a:solidFill>
                <a:latin typeface="Consolas"/>
                <a:cs typeface="Consolas"/>
              </a:rPr>
              <a:t>to</a:t>
            </a:r>
            <a:r>
              <a:rPr sz="2300" spc="-270" dirty="0">
                <a:solidFill>
                  <a:srgbClr val="130500"/>
                </a:solidFill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Reason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71136" y="7106708"/>
            <a:ext cx="393319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14625" algn="l"/>
              </a:tabLst>
            </a:pPr>
            <a:r>
              <a:rPr sz="2300" spc="-100" dirty="0">
                <a:latin typeface="Consolas"/>
                <a:cs typeface="Consolas"/>
              </a:rPr>
              <a:t>return</a:t>
            </a:r>
            <a:r>
              <a:rPr sz="2300" spc="-18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"end"</a:t>
            </a:r>
            <a:r>
              <a:rPr sz="2300" dirty="0">
                <a:latin typeface="Consolas"/>
                <a:cs typeface="Consolas"/>
              </a:rPr>
              <a:t>	#</a:t>
            </a:r>
            <a:r>
              <a:rPr sz="2300" spc="-220" dirty="0">
                <a:latin typeface="Consolas"/>
                <a:cs typeface="Consolas"/>
              </a:rPr>
              <a:t> </a:t>
            </a:r>
            <a:r>
              <a:rPr sz="2300" spc="-65" dirty="0">
                <a:latin typeface="Consolas"/>
                <a:cs typeface="Consolas"/>
              </a:rPr>
              <a:t>Finish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50051" y="8412339"/>
            <a:ext cx="980440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>
                <a:latin typeface="Arial MT"/>
                <a:cs typeface="Arial MT"/>
              </a:rPr>
              <a:t>This</a:t>
            </a:r>
            <a:r>
              <a:rPr sz="3600" spc="-185" dirty="0">
                <a:latin typeface="Arial MT"/>
                <a:cs typeface="Arial MT"/>
              </a:rPr>
              <a:t> </a:t>
            </a:r>
            <a:r>
              <a:rPr sz="3600" spc="75" dirty="0">
                <a:latin typeface="Arial MT"/>
                <a:cs typeface="Arial MT"/>
              </a:rPr>
              <a:t>is</a:t>
            </a:r>
            <a:r>
              <a:rPr sz="3600" spc="-190" dirty="0">
                <a:latin typeface="Arial MT"/>
                <a:cs typeface="Arial MT"/>
              </a:rPr>
              <a:t> </a:t>
            </a:r>
            <a:r>
              <a:rPr sz="3600" spc="-40" dirty="0">
                <a:latin typeface="Arial MT"/>
                <a:cs typeface="Arial MT"/>
              </a:rPr>
              <a:t>where</a:t>
            </a:r>
            <a:r>
              <a:rPr sz="3600" spc="-14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you</a:t>
            </a:r>
            <a:r>
              <a:rPr sz="3600" spc="-305" dirty="0">
                <a:latin typeface="Arial MT"/>
                <a:cs typeface="Arial MT"/>
              </a:rPr>
              <a:t> </a:t>
            </a:r>
            <a:r>
              <a:rPr sz="3600" spc="-40" dirty="0">
                <a:latin typeface="Arial MT"/>
                <a:cs typeface="Arial MT"/>
              </a:rPr>
              <a:t>have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spc="120" dirty="0">
                <a:latin typeface="Arial MT"/>
                <a:cs typeface="Arial MT"/>
              </a:rPr>
              <a:t>full</a:t>
            </a:r>
            <a:r>
              <a:rPr sz="3600" spc="-25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control.</a:t>
            </a:r>
            <a:r>
              <a:rPr sz="3600" spc="-145" dirty="0">
                <a:latin typeface="Arial MT"/>
                <a:cs typeface="Arial MT"/>
              </a:rPr>
              <a:t> </a:t>
            </a:r>
            <a:r>
              <a:rPr sz="3600" spc="-45" dirty="0">
                <a:latin typeface="Arial MT"/>
                <a:cs typeface="Arial MT"/>
              </a:rPr>
              <a:t>No</a:t>
            </a:r>
            <a:r>
              <a:rPr sz="3600" spc="-204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hidden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AI.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23623-27AB-06CE-B01C-13E0F3541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0" y="0"/>
            <a:ext cx="17174070" cy="92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1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700" y="4902200"/>
            <a:ext cx="4038600" cy="3492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0900" y="6045200"/>
            <a:ext cx="406400" cy="52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8900" y="5410200"/>
            <a:ext cx="6019800" cy="1308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09500" y="5130800"/>
            <a:ext cx="2197100" cy="190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9089" y="461080"/>
            <a:ext cx="15523210" cy="9886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300" spc="-80" dirty="0">
                <a:solidFill>
                  <a:srgbClr val="233B74"/>
                </a:solidFill>
              </a:rPr>
              <a:t>The</a:t>
            </a:r>
            <a:r>
              <a:rPr sz="6300" spc="-360" dirty="0">
                <a:solidFill>
                  <a:srgbClr val="233B74"/>
                </a:solidFill>
              </a:rPr>
              <a:t> </a:t>
            </a:r>
            <a:r>
              <a:rPr sz="6300" dirty="0">
                <a:solidFill>
                  <a:srgbClr val="28417C"/>
                </a:solidFill>
              </a:rPr>
              <a:t>Power</a:t>
            </a:r>
            <a:r>
              <a:rPr sz="6300" spc="65" dirty="0">
                <a:solidFill>
                  <a:srgbClr val="28417C"/>
                </a:solidFill>
              </a:rPr>
              <a:t> </a:t>
            </a:r>
            <a:r>
              <a:rPr sz="6300" spc="100" dirty="0">
                <a:solidFill>
                  <a:srgbClr val="233B74"/>
                </a:solidFill>
              </a:rPr>
              <a:t>of</a:t>
            </a:r>
            <a:r>
              <a:rPr sz="6300" spc="-165" dirty="0">
                <a:solidFill>
                  <a:srgbClr val="233B74"/>
                </a:solidFill>
              </a:rPr>
              <a:t> </a:t>
            </a:r>
            <a:r>
              <a:rPr sz="6300" dirty="0">
                <a:solidFill>
                  <a:srgbClr val="243D75"/>
                </a:solidFill>
              </a:rPr>
              <a:t>Control:</a:t>
            </a:r>
            <a:r>
              <a:rPr sz="6300" spc="-185" dirty="0">
                <a:solidFill>
                  <a:srgbClr val="243D75"/>
                </a:solidFill>
              </a:rPr>
              <a:t> </a:t>
            </a:r>
            <a:r>
              <a:rPr sz="6300" dirty="0">
                <a:solidFill>
                  <a:srgbClr val="243D79"/>
                </a:solidFill>
              </a:rPr>
              <a:t>Swapping</a:t>
            </a:r>
            <a:r>
              <a:rPr sz="6300" spc="135" dirty="0">
                <a:solidFill>
                  <a:srgbClr val="243D79"/>
                </a:solidFill>
              </a:rPr>
              <a:t> </a:t>
            </a:r>
            <a:r>
              <a:rPr sz="6300" spc="140" dirty="0">
                <a:solidFill>
                  <a:srgbClr val="243D75"/>
                </a:solidFill>
              </a:rPr>
              <a:t>the</a:t>
            </a:r>
            <a:r>
              <a:rPr sz="6300" spc="-465" dirty="0">
                <a:solidFill>
                  <a:srgbClr val="243D75"/>
                </a:solidFill>
              </a:rPr>
              <a:t> </a:t>
            </a:r>
            <a:r>
              <a:rPr sz="6300" spc="-10" dirty="0">
                <a:solidFill>
                  <a:srgbClr val="263F7B"/>
                </a:solidFill>
              </a:rPr>
              <a:t>Engine</a:t>
            </a:r>
            <a:endParaRPr sz="6300"/>
          </a:p>
        </p:txBody>
      </p:sp>
      <p:sp>
        <p:nvSpPr>
          <p:cNvPr id="7" name="object 7"/>
          <p:cNvSpPr txBox="1"/>
          <p:nvPr/>
        </p:nvSpPr>
        <p:spPr>
          <a:xfrm>
            <a:off x="866168" y="1565980"/>
            <a:ext cx="15615285" cy="11537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100580" marR="5080" indent="-2088514">
              <a:lnSpc>
                <a:spcPts val="4300"/>
              </a:lnSpc>
              <a:spcBef>
                <a:spcPts val="480"/>
              </a:spcBef>
            </a:pPr>
            <a:r>
              <a:rPr sz="3800" spc="-130" dirty="0">
                <a:latin typeface="Arial MT"/>
                <a:cs typeface="Arial MT"/>
              </a:rPr>
              <a:t>Because</a:t>
            </a:r>
            <a:r>
              <a:rPr sz="3800" spc="-135" dirty="0">
                <a:latin typeface="Arial MT"/>
                <a:cs typeface="Arial MT"/>
              </a:rPr>
              <a:t> </a:t>
            </a:r>
            <a:r>
              <a:rPr sz="3800" spc="-65" dirty="0">
                <a:latin typeface="Arial MT"/>
                <a:cs typeface="Arial MT"/>
              </a:rPr>
              <a:t>you</a:t>
            </a:r>
            <a:r>
              <a:rPr sz="3800" spc="-195" dirty="0">
                <a:latin typeface="Arial MT"/>
                <a:cs typeface="Arial MT"/>
              </a:rPr>
              <a:t> </a:t>
            </a:r>
            <a:r>
              <a:rPr sz="3800" spc="-20" dirty="0">
                <a:latin typeface="Arial MT"/>
                <a:cs typeface="Arial MT"/>
              </a:rPr>
              <a:t>define</a:t>
            </a:r>
            <a:r>
              <a:rPr sz="3800" spc="-24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the</a:t>
            </a:r>
            <a:r>
              <a:rPr sz="3800" spc="-260" dirty="0">
                <a:latin typeface="Arial MT"/>
                <a:cs typeface="Arial MT"/>
              </a:rPr>
              <a:t> </a:t>
            </a:r>
            <a:r>
              <a:rPr sz="3800" spc="-45" dirty="0">
                <a:latin typeface="Arial MT"/>
                <a:cs typeface="Arial MT"/>
              </a:rPr>
              <a:t>graph,</a:t>
            </a:r>
            <a:r>
              <a:rPr sz="3800" spc="-30" dirty="0">
                <a:latin typeface="Arial MT"/>
                <a:cs typeface="Arial MT"/>
              </a:rPr>
              <a:t> </a:t>
            </a:r>
            <a:r>
              <a:rPr sz="3800" spc="-125" dirty="0">
                <a:latin typeface="Arial MT"/>
                <a:cs typeface="Arial MT"/>
              </a:rPr>
              <a:t>you</a:t>
            </a:r>
            <a:r>
              <a:rPr sz="3800" spc="-135" dirty="0">
                <a:latin typeface="Arial MT"/>
                <a:cs typeface="Arial MT"/>
              </a:rPr>
              <a:t> </a:t>
            </a:r>
            <a:r>
              <a:rPr sz="3800" spc="-70" dirty="0">
                <a:latin typeface="Arial MT"/>
                <a:cs typeface="Arial MT"/>
              </a:rPr>
              <a:t>can</a:t>
            </a:r>
            <a:r>
              <a:rPr sz="3800" spc="-195" dirty="0">
                <a:latin typeface="Arial MT"/>
                <a:cs typeface="Arial MT"/>
              </a:rPr>
              <a:t> </a:t>
            </a:r>
            <a:r>
              <a:rPr sz="3800" spc="-20" dirty="0">
                <a:latin typeface="Arial MT"/>
                <a:cs typeface="Arial MT"/>
              </a:rPr>
              <a:t>define</a:t>
            </a:r>
            <a:r>
              <a:rPr sz="3800" spc="-10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the</a:t>
            </a:r>
            <a:r>
              <a:rPr sz="3800" spc="-235" dirty="0">
                <a:latin typeface="Arial MT"/>
                <a:cs typeface="Arial MT"/>
              </a:rPr>
              <a:t> </a:t>
            </a:r>
            <a:r>
              <a:rPr sz="3800" spc="-110" dirty="0">
                <a:latin typeface="Arial MT"/>
                <a:cs typeface="Arial MT"/>
              </a:rPr>
              <a:t>behavior.</a:t>
            </a:r>
            <a:r>
              <a:rPr sz="3800" spc="-150" dirty="0">
                <a:latin typeface="Arial MT"/>
                <a:cs typeface="Arial MT"/>
              </a:rPr>
              <a:t> </a:t>
            </a:r>
            <a:r>
              <a:rPr sz="3800" spc="-145" dirty="0">
                <a:latin typeface="Arial MT"/>
                <a:cs typeface="Arial MT"/>
              </a:rPr>
              <a:t>Want</a:t>
            </a:r>
            <a:r>
              <a:rPr sz="3800" spc="-85" dirty="0">
                <a:latin typeface="Arial MT"/>
                <a:cs typeface="Arial MT"/>
              </a:rPr>
              <a:t> </a:t>
            </a:r>
            <a:r>
              <a:rPr sz="3800" spc="-300" dirty="0">
                <a:latin typeface="Arial MT"/>
                <a:cs typeface="Arial MT"/>
              </a:rPr>
              <a:t>a</a:t>
            </a:r>
            <a:r>
              <a:rPr sz="3800" dirty="0">
                <a:latin typeface="Arial MT"/>
                <a:cs typeface="Arial MT"/>
              </a:rPr>
              <a:t> </a:t>
            </a:r>
            <a:r>
              <a:rPr sz="3800" spc="-25" dirty="0">
                <a:latin typeface="Arial MT"/>
                <a:cs typeface="Arial MT"/>
              </a:rPr>
              <a:t>planning </a:t>
            </a:r>
            <a:r>
              <a:rPr sz="3800" spc="-50" dirty="0">
                <a:latin typeface="Arial MT"/>
                <a:cs typeface="Arial MT"/>
              </a:rPr>
              <a:t>agent</a:t>
            </a:r>
            <a:r>
              <a:rPr sz="3800" spc="-215" dirty="0">
                <a:latin typeface="Arial MT"/>
                <a:cs typeface="Arial MT"/>
              </a:rPr>
              <a:t> </a:t>
            </a:r>
            <a:r>
              <a:rPr sz="3800" spc="-40" dirty="0">
                <a:latin typeface="Arial MT"/>
                <a:cs typeface="Arial MT"/>
              </a:rPr>
              <a:t>instead</a:t>
            </a:r>
            <a:r>
              <a:rPr sz="3800" spc="-204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of</a:t>
            </a:r>
            <a:r>
              <a:rPr sz="3800" spc="-114" dirty="0">
                <a:latin typeface="Arial MT"/>
                <a:cs typeface="Arial MT"/>
              </a:rPr>
              <a:t> </a:t>
            </a:r>
            <a:r>
              <a:rPr sz="3800" spc="-300" dirty="0">
                <a:latin typeface="Arial MT"/>
                <a:cs typeface="Arial MT"/>
              </a:rPr>
              <a:t>a</a:t>
            </a:r>
            <a:r>
              <a:rPr sz="3800" spc="5" dirty="0">
                <a:latin typeface="Arial MT"/>
                <a:cs typeface="Arial MT"/>
              </a:rPr>
              <a:t> </a:t>
            </a:r>
            <a:r>
              <a:rPr sz="3800" spc="-40" dirty="0">
                <a:latin typeface="Arial MT"/>
                <a:cs typeface="Arial MT"/>
              </a:rPr>
              <a:t>reactive</a:t>
            </a:r>
            <a:r>
              <a:rPr sz="3800" spc="-70" dirty="0">
                <a:latin typeface="Arial MT"/>
                <a:cs typeface="Arial MT"/>
              </a:rPr>
              <a:t> </a:t>
            </a:r>
            <a:r>
              <a:rPr sz="3800" spc="-165" dirty="0">
                <a:latin typeface="Arial MT"/>
                <a:cs typeface="Arial MT"/>
              </a:rPr>
              <a:t>one?</a:t>
            </a:r>
            <a:r>
              <a:rPr sz="3800" spc="-10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Just</a:t>
            </a:r>
            <a:r>
              <a:rPr sz="3800" spc="-135" dirty="0">
                <a:latin typeface="Arial MT"/>
                <a:cs typeface="Arial MT"/>
              </a:rPr>
              <a:t> </a:t>
            </a:r>
            <a:r>
              <a:rPr sz="3800" spc="-95" dirty="0">
                <a:latin typeface="Arial MT"/>
                <a:cs typeface="Arial MT"/>
              </a:rPr>
              <a:t>change</a:t>
            </a:r>
            <a:r>
              <a:rPr sz="3800" spc="-16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the</a:t>
            </a:r>
            <a:r>
              <a:rPr sz="3800" spc="-130" dirty="0">
                <a:latin typeface="Arial MT"/>
                <a:cs typeface="Arial MT"/>
              </a:rPr>
              <a:t> </a:t>
            </a:r>
            <a:r>
              <a:rPr sz="3800" spc="-10" dirty="0">
                <a:latin typeface="Arial MT"/>
                <a:cs typeface="Arial MT"/>
              </a:rPr>
              <a:t>graph.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881" y="2892178"/>
            <a:ext cx="6382385" cy="16256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63830" algn="ctr">
              <a:lnSpc>
                <a:spcPct val="100000"/>
              </a:lnSpc>
              <a:spcBef>
                <a:spcPts val="875"/>
              </a:spcBef>
            </a:pPr>
            <a:r>
              <a:rPr sz="4000" spc="-10" dirty="0">
                <a:solidFill>
                  <a:srgbClr val="24386B"/>
                </a:solidFill>
                <a:latin typeface="Arial MT"/>
                <a:cs typeface="Arial MT"/>
              </a:rPr>
              <a:t>ReAct</a:t>
            </a:r>
            <a:endParaRPr sz="4000">
              <a:latin typeface="Arial MT"/>
              <a:cs typeface="Arial MT"/>
            </a:endParaRPr>
          </a:p>
          <a:p>
            <a:pPr algn="ctr">
              <a:lnSpc>
                <a:spcPts val="3175"/>
              </a:lnSpc>
              <a:spcBef>
                <a:spcPts val="550"/>
              </a:spcBef>
            </a:pPr>
            <a:r>
              <a:rPr sz="2750" dirty="0">
                <a:latin typeface="Arial MT"/>
                <a:cs typeface="Arial MT"/>
              </a:rPr>
              <a:t>Decides</a:t>
            </a:r>
            <a:r>
              <a:rPr sz="2750" spc="2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step-by-step,</a:t>
            </a:r>
            <a:r>
              <a:rPr sz="2750" spc="3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looping</a:t>
            </a:r>
            <a:r>
              <a:rPr sz="2750" spc="10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after</a:t>
            </a:r>
            <a:r>
              <a:rPr sz="2750" spc="12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each</a:t>
            </a:r>
            <a:endParaRPr sz="2750">
              <a:latin typeface="Arial MT"/>
              <a:cs typeface="Arial MT"/>
            </a:endParaRPr>
          </a:p>
          <a:p>
            <a:pPr algn="ctr">
              <a:lnSpc>
                <a:spcPts val="3295"/>
              </a:lnSpc>
            </a:pPr>
            <a:r>
              <a:rPr sz="2850" spc="-45" dirty="0">
                <a:latin typeface="Arial MT"/>
                <a:cs typeface="Arial MT"/>
              </a:rPr>
              <a:t>action.</a:t>
            </a:r>
            <a:r>
              <a:rPr sz="2850" spc="-13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It's</a:t>
            </a:r>
            <a:r>
              <a:rPr sz="2850" spc="-165" dirty="0">
                <a:latin typeface="Arial MT"/>
                <a:cs typeface="Arial MT"/>
              </a:rPr>
              <a:t> </a:t>
            </a:r>
            <a:r>
              <a:rPr sz="2850" i="1" spc="-10" dirty="0">
                <a:latin typeface="Arial"/>
                <a:cs typeface="Arial"/>
              </a:rPr>
              <a:t>reactive.</a:t>
            </a:r>
            <a:endParaRPr sz="2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3981" y="2892178"/>
            <a:ext cx="6770370" cy="16256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875"/>
              </a:spcBef>
            </a:pPr>
            <a:r>
              <a:rPr sz="4000" spc="-10" dirty="0">
                <a:solidFill>
                  <a:srgbClr val="26386B"/>
                </a:solidFill>
                <a:latin typeface="Arial MT"/>
                <a:cs typeface="Arial MT"/>
              </a:rPr>
              <a:t>Planner</a:t>
            </a:r>
            <a:endParaRPr sz="4000">
              <a:latin typeface="Arial MT"/>
              <a:cs typeface="Arial MT"/>
            </a:endParaRPr>
          </a:p>
          <a:p>
            <a:pPr algn="ctr">
              <a:lnSpc>
                <a:spcPts val="3175"/>
              </a:lnSpc>
              <a:spcBef>
                <a:spcPts val="550"/>
              </a:spcBef>
            </a:pPr>
            <a:r>
              <a:rPr sz="2750" dirty="0">
                <a:latin typeface="Arial MT"/>
                <a:cs typeface="Arial MT"/>
              </a:rPr>
              <a:t>Decides</a:t>
            </a:r>
            <a:r>
              <a:rPr sz="2750" spc="1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full</a:t>
            </a:r>
            <a:r>
              <a:rPr sz="2750" spc="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plan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upfront,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then</a:t>
            </a:r>
            <a:r>
              <a:rPr sz="2750" spc="-8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executes</a:t>
            </a:r>
            <a:endParaRPr sz="2750">
              <a:latin typeface="Arial MT"/>
              <a:cs typeface="Arial MT"/>
            </a:endParaRPr>
          </a:p>
          <a:p>
            <a:pPr marL="24130" algn="ctr">
              <a:lnSpc>
                <a:spcPts val="3295"/>
              </a:lnSpc>
            </a:pPr>
            <a:r>
              <a:rPr sz="2850" dirty="0">
                <a:latin typeface="Arial MT"/>
                <a:cs typeface="Arial MT"/>
              </a:rPr>
              <a:t>the</a:t>
            </a:r>
            <a:r>
              <a:rPr sz="2850" spc="-150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fixed</a:t>
            </a:r>
            <a:r>
              <a:rPr sz="2850" spc="-114" dirty="0">
                <a:latin typeface="Arial MT"/>
                <a:cs typeface="Arial MT"/>
              </a:rPr>
              <a:t> </a:t>
            </a:r>
            <a:r>
              <a:rPr sz="2850" spc="-85" dirty="0">
                <a:latin typeface="Arial MT"/>
                <a:cs typeface="Arial MT"/>
              </a:rPr>
              <a:t>plan.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It‘s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i="1" spc="-10" dirty="0">
                <a:latin typeface="Arial"/>
                <a:cs typeface="Arial"/>
              </a:rPr>
              <a:t>predictive.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1717" y="4887383"/>
            <a:ext cx="2222500" cy="766445"/>
          </a:xfrm>
          <a:prstGeom prst="rect">
            <a:avLst/>
          </a:prstGeom>
          <a:ln w="12700">
            <a:solidFill>
              <a:srgbClr val="60605B"/>
            </a:solidFill>
          </a:ln>
        </p:spPr>
        <p:txBody>
          <a:bodyPr vert="horz" wrap="square" lIns="0" tIns="211454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1664"/>
              </a:spcBef>
            </a:pPr>
            <a:r>
              <a:rPr sz="1800" spc="-95" dirty="0">
                <a:latin typeface="Arial MT"/>
                <a:cs typeface="Arial MT"/>
              </a:rPr>
              <a:t>[Reason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7316" y="4887383"/>
            <a:ext cx="2235200" cy="774700"/>
          </a:xfrm>
          <a:prstGeom prst="rect">
            <a:avLst/>
          </a:prstGeom>
          <a:ln w="12700">
            <a:solidFill>
              <a:srgbClr val="60605B"/>
            </a:solidFill>
          </a:ln>
        </p:spPr>
        <p:txBody>
          <a:bodyPr vert="horz" wrap="square" lIns="0" tIns="211454" rIns="0" bIns="0" rtlCol="0">
            <a:spAutoFit/>
          </a:bodyPr>
          <a:lstStyle/>
          <a:p>
            <a:pPr marL="909319">
              <a:lnSpc>
                <a:spcPct val="100000"/>
              </a:lnSpc>
              <a:spcBef>
                <a:spcPts val="1664"/>
              </a:spcBef>
            </a:pPr>
            <a:r>
              <a:rPr sz="1800" spc="-55" dirty="0">
                <a:latin typeface="Arial MT"/>
                <a:cs typeface="Arial MT"/>
              </a:rPr>
              <a:t>[Tool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52516" y="5954183"/>
            <a:ext cx="2209800" cy="762000"/>
          </a:xfrm>
          <a:prstGeom prst="rect">
            <a:avLst/>
          </a:prstGeom>
          <a:ln w="12700">
            <a:solidFill>
              <a:srgbClr val="5B5B57"/>
            </a:solidFill>
          </a:ln>
        </p:spPr>
        <p:txBody>
          <a:bodyPr vert="horz" wrap="square" lIns="0" tIns="211454" rIns="0" bIns="0" rtlCol="0">
            <a:spAutoFit/>
          </a:bodyPr>
          <a:lstStyle/>
          <a:p>
            <a:pPr marL="694055">
              <a:lnSpc>
                <a:spcPct val="100000"/>
              </a:lnSpc>
              <a:spcBef>
                <a:spcPts val="1664"/>
              </a:spcBef>
            </a:pPr>
            <a:r>
              <a:rPr sz="1700" spc="-10" dirty="0">
                <a:latin typeface="Arial MT"/>
                <a:cs typeface="Arial MT"/>
              </a:rPr>
              <a:t>[Planner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Node]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48116" y="5954183"/>
            <a:ext cx="2235200" cy="762000"/>
          </a:xfrm>
          <a:prstGeom prst="rect">
            <a:avLst/>
          </a:prstGeom>
          <a:ln w="12700">
            <a:solidFill>
              <a:srgbClr val="5B5B57"/>
            </a:solidFill>
          </a:ln>
        </p:spPr>
        <p:txBody>
          <a:bodyPr vert="horz" wrap="square" lIns="0" tIns="211454" rIns="0" bIns="0" rtlCol="0">
            <a:spAutoFit/>
          </a:bodyPr>
          <a:lstStyle/>
          <a:p>
            <a:pPr marL="630555">
              <a:lnSpc>
                <a:spcPct val="100000"/>
              </a:lnSpc>
              <a:spcBef>
                <a:spcPts val="1664"/>
              </a:spcBef>
            </a:pPr>
            <a:r>
              <a:rPr sz="1700" dirty="0">
                <a:latin typeface="Arial MT"/>
                <a:cs typeface="Arial MT"/>
              </a:rPr>
              <a:t>[Executor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Node]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5405" y="8661400"/>
            <a:ext cx="1282509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20" dirty="0">
                <a:solidFill>
                  <a:srgbClr val="263F75"/>
                </a:solidFill>
                <a:latin typeface="Arial MT"/>
                <a:cs typeface="Arial MT"/>
              </a:rPr>
              <a:t>Same</a:t>
            </a:r>
            <a:r>
              <a:rPr sz="3750" spc="20" dirty="0">
                <a:solidFill>
                  <a:srgbClr val="263F75"/>
                </a:solidFill>
                <a:latin typeface="Arial MT"/>
                <a:cs typeface="Arial MT"/>
              </a:rPr>
              <a:t> </a:t>
            </a:r>
            <a:r>
              <a:rPr sz="3750" spc="85" dirty="0">
                <a:solidFill>
                  <a:srgbClr val="263B67"/>
                </a:solidFill>
                <a:latin typeface="Arial MT"/>
                <a:cs typeface="Arial MT"/>
              </a:rPr>
              <a:t>framework,</a:t>
            </a:r>
            <a:r>
              <a:rPr sz="3750" spc="-35" dirty="0">
                <a:solidFill>
                  <a:srgbClr val="263B67"/>
                </a:solidFill>
                <a:latin typeface="Arial MT"/>
                <a:cs typeface="Arial MT"/>
              </a:rPr>
              <a:t> </a:t>
            </a:r>
            <a:r>
              <a:rPr sz="3750" spc="114" dirty="0">
                <a:solidFill>
                  <a:srgbClr val="23386B"/>
                </a:solidFill>
                <a:latin typeface="Arial MT"/>
                <a:cs typeface="Arial MT"/>
              </a:rPr>
              <a:t>different</a:t>
            </a:r>
            <a:r>
              <a:rPr sz="3750" spc="130" dirty="0">
                <a:solidFill>
                  <a:srgbClr val="23386B"/>
                </a:solidFill>
                <a:latin typeface="Arial MT"/>
                <a:cs typeface="Arial MT"/>
              </a:rPr>
              <a:t> </a:t>
            </a:r>
            <a:r>
              <a:rPr sz="3750" dirty="0">
                <a:solidFill>
                  <a:srgbClr val="21366B"/>
                </a:solidFill>
                <a:latin typeface="Arial MT"/>
                <a:cs typeface="Arial MT"/>
              </a:rPr>
              <a:t>behavior.</a:t>
            </a:r>
            <a:r>
              <a:rPr sz="3750" spc="-105" dirty="0">
                <a:solidFill>
                  <a:srgbClr val="21366B"/>
                </a:solidFill>
                <a:latin typeface="Arial MT"/>
                <a:cs typeface="Arial MT"/>
              </a:rPr>
              <a:t> </a:t>
            </a:r>
            <a:r>
              <a:rPr sz="3750" spc="-130" dirty="0">
                <a:solidFill>
                  <a:srgbClr val="213B72"/>
                </a:solidFill>
                <a:latin typeface="Arial MT"/>
                <a:cs typeface="Arial MT"/>
              </a:rPr>
              <a:t>You</a:t>
            </a:r>
            <a:r>
              <a:rPr sz="3750" spc="-75" dirty="0">
                <a:solidFill>
                  <a:srgbClr val="213B72"/>
                </a:solidFill>
                <a:latin typeface="Arial MT"/>
                <a:cs typeface="Arial MT"/>
              </a:rPr>
              <a:t> </a:t>
            </a:r>
            <a:r>
              <a:rPr sz="3750" dirty="0">
                <a:solidFill>
                  <a:srgbClr val="283F70"/>
                </a:solidFill>
                <a:latin typeface="Arial MT"/>
                <a:cs typeface="Arial MT"/>
              </a:rPr>
              <a:t>are</a:t>
            </a:r>
            <a:r>
              <a:rPr sz="3750" spc="-125" dirty="0">
                <a:solidFill>
                  <a:srgbClr val="283F70"/>
                </a:solidFill>
                <a:latin typeface="Arial MT"/>
                <a:cs typeface="Arial MT"/>
              </a:rPr>
              <a:t> </a:t>
            </a:r>
            <a:r>
              <a:rPr sz="3750" spc="135" dirty="0">
                <a:solidFill>
                  <a:srgbClr val="243B6B"/>
                </a:solidFill>
                <a:latin typeface="Arial MT"/>
                <a:cs typeface="Arial MT"/>
              </a:rPr>
              <a:t>the</a:t>
            </a:r>
            <a:r>
              <a:rPr sz="3750" spc="-114" dirty="0">
                <a:solidFill>
                  <a:srgbClr val="243B6B"/>
                </a:solidFill>
                <a:latin typeface="Arial MT"/>
                <a:cs typeface="Arial MT"/>
              </a:rPr>
              <a:t> </a:t>
            </a:r>
            <a:r>
              <a:rPr sz="3750" spc="120" dirty="0">
                <a:solidFill>
                  <a:srgbClr val="263D74"/>
                </a:solidFill>
                <a:latin typeface="Arial MT"/>
                <a:cs typeface="Arial MT"/>
              </a:rPr>
              <a:t>architect.</a:t>
            </a:r>
            <a:endParaRPr sz="3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9900" y="2146300"/>
            <a:ext cx="4495800" cy="4902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139" rIns="0" bIns="0" rtlCol="0">
            <a:spAutoFit/>
          </a:bodyPr>
          <a:lstStyle/>
          <a:p>
            <a:pPr marL="1333500">
              <a:lnSpc>
                <a:spcPct val="100000"/>
              </a:lnSpc>
              <a:spcBef>
                <a:spcPts val="110"/>
              </a:spcBef>
            </a:pPr>
            <a:r>
              <a:rPr dirty="0"/>
              <a:t>Build</a:t>
            </a:r>
            <a:r>
              <a:rPr spc="-190" dirty="0"/>
              <a:t> </a:t>
            </a:r>
            <a:r>
              <a:rPr spc="245" dirty="0">
                <a:solidFill>
                  <a:srgbClr val="283D70"/>
                </a:solidFill>
              </a:rPr>
              <a:t>with</a:t>
            </a:r>
            <a:r>
              <a:rPr spc="-434" dirty="0">
                <a:solidFill>
                  <a:srgbClr val="283D70"/>
                </a:solidFill>
              </a:rPr>
              <a:t> </a:t>
            </a:r>
            <a:r>
              <a:rPr spc="80" dirty="0"/>
              <a:t>Clarity</a:t>
            </a:r>
            <a:r>
              <a:rPr spc="-110" dirty="0"/>
              <a:t> </a:t>
            </a:r>
            <a:r>
              <a:rPr dirty="0">
                <a:solidFill>
                  <a:srgbClr val="233867"/>
                </a:solidFill>
              </a:rPr>
              <a:t>and</a:t>
            </a:r>
            <a:r>
              <a:rPr spc="-315" dirty="0">
                <a:solidFill>
                  <a:srgbClr val="233867"/>
                </a:solidFill>
              </a:rPr>
              <a:t> </a:t>
            </a:r>
            <a:r>
              <a:rPr spc="-10" dirty="0">
                <a:solidFill>
                  <a:srgbClr val="263B69"/>
                </a:solidFill>
              </a:rPr>
              <a:t>Confidence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360"/>
              </a:spcBef>
              <a:tabLst>
                <a:tab pos="1960245" algn="l"/>
              </a:tabLst>
            </a:pPr>
            <a:r>
              <a:rPr spc="-10" dirty="0">
                <a:solidFill>
                  <a:srgbClr val="212F4B"/>
                </a:solidFill>
              </a:rPr>
              <a:t>Summary</a:t>
            </a:r>
            <a:r>
              <a:rPr dirty="0">
                <a:solidFill>
                  <a:srgbClr val="212F4B"/>
                </a:solidFill>
              </a:rPr>
              <a:t>	</a:t>
            </a:r>
            <a:r>
              <a:rPr dirty="0">
                <a:solidFill>
                  <a:srgbClr val="26314D"/>
                </a:solidFill>
              </a:rPr>
              <a:t>of</a:t>
            </a:r>
            <a:r>
              <a:rPr spc="185" dirty="0">
                <a:solidFill>
                  <a:srgbClr val="26314D"/>
                </a:solidFill>
              </a:rPr>
              <a:t> </a:t>
            </a:r>
            <a:r>
              <a:rPr spc="-10" dirty="0"/>
              <a:t>Benefits</a:t>
            </a:r>
          </a:p>
          <a:p>
            <a:pPr marL="19685" marR="400050" indent="2540">
              <a:lnSpc>
                <a:spcPts val="3500"/>
              </a:lnSpc>
              <a:spcBef>
                <a:spcPts val="2190"/>
              </a:spcBef>
            </a:pPr>
            <a:r>
              <a:rPr sz="2950" dirty="0">
                <a:solidFill>
                  <a:srgbClr val="000000"/>
                </a:solidFill>
              </a:rPr>
              <a:t>Total</a:t>
            </a:r>
            <a:r>
              <a:rPr sz="2950" spc="-55" dirty="0">
                <a:solidFill>
                  <a:srgbClr val="000000"/>
                </a:solidFill>
              </a:rPr>
              <a:t> </a:t>
            </a:r>
            <a:r>
              <a:rPr sz="2950" spc="60" dirty="0">
                <a:solidFill>
                  <a:srgbClr val="000000"/>
                </a:solidFill>
              </a:rPr>
              <a:t>Control:</a:t>
            </a:r>
            <a:r>
              <a:rPr sz="2950" spc="40" dirty="0">
                <a:solidFill>
                  <a:srgbClr val="000000"/>
                </a:solidFill>
              </a:rPr>
              <a:t> </a:t>
            </a:r>
            <a:r>
              <a:rPr sz="2950" spc="-95" dirty="0">
                <a:solidFill>
                  <a:srgbClr val="000000"/>
                </a:solidFill>
              </a:rPr>
              <a:t>You</a:t>
            </a:r>
            <a:r>
              <a:rPr sz="2950" spc="8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define</a:t>
            </a:r>
            <a:r>
              <a:rPr sz="2950" spc="5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the</a:t>
            </a:r>
            <a:r>
              <a:rPr sz="2950" spc="105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agent's reasoning</a:t>
            </a:r>
            <a:r>
              <a:rPr sz="2950" spc="11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process</a:t>
            </a:r>
            <a:r>
              <a:rPr sz="2950" spc="-2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by</a:t>
            </a:r>
            <a:r>
              <a:rPr sz="2950" spc="-4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designing</a:t>
            </a:r>
            <a:r>
              <a:rPr sz="2950" spc="14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the</a:t>
            </a:r>
            <a:r>
              <a:rPr sz="2950" spc="-114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graph.</a:t>
            </a:r>
            <a:endParaRPr sz="2950"/>
          </a:p>
          <a:p>
            <a:pPr marL="17780" marR="5080" indent="-5715">
              <a:lnSpc>
                <a:spcPts val="3550"/>
              </a:lnSpc>
              <a:spcBef>
                <a:spcPts val="2310"/>
              </a:spcBef>
            </a:pPr>
            <a:r>
              <a:rPr sz="3050" spc="-25" dirty="0">
                <a:solidFill>
                  <a:srgbClr val="000000"/>
                </a:solidFill>
              </a:rPr>
              <a:t>Full</a:t>
            </a:r>
            <a:r>
              <a:rPr sz="3050" spc="-245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Transparency:</a:t>
            </a:r>
            <a:r>
              <a:rPr sz="3050" spc="-110" dirty="0">
                <a:solidFill>
                  <a:srgbClr val="000000"/>
                </a:solidFill>
              </a:rPr>
              <a:t> </a:t>
            </a:r>
            <a:r>
              <a:rPr sz="3050" spc="-75" dirty="0">
                <a:solidFill>
                  <a:srgbClr val="000000"/>
                </a:solidFill>
              </a:rPr>
              <a:t>Every</a:t>
            </a:r>
            <a:r>
              <a:rPr sz="3050" spc="-40" dirty="0">
                <a:solidFill>
                  <a:srgbClr val="000000"/>
                </a:solidFill>
              </a:rPr>
              <a:t> </a:t>
            </a:r>
            <a:r>
              <a:rPr sz="3050" spc="-10" dirty="0">
                <a:solidFill>
                  <a:srgbClr val="000000"/>
                </a:solidFill>
              </a:rPr>
              <a:t>step,</a:t>
            </a:r>
            <a:r>
              <a:rPr sz="3050" spc="-160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state</a:t>
            </a:r>
            <a:r>
              <a:rPr sz="3050" spc="-155" dirty="0">
                <a:solidFill>
                  <a:srgbClr val="000000"/>
                </a:solidFill>
              </a:rPr>
              <a:t> </a:t>
            </a:r>
            <a:r>
              <a:rPr sz="3050" spc="-75" dirty="0">
                <a:solidFill>
                  <a:srgbClr val="000000"/>
                </a:solidFill>
              </a:rPr>
              <a:t>change, </a:t>
            </a:r>
            <a:r>
              <a:rPr sz="3050" spc="-45" dirty="0">
                <a:solidFill>
                  <a:srgbClr val="000000"/>
                </a:solidFill>
              </a:rPr>
              <a:t>and</a:t>
            </a:r>
            <a:r>
              <a:rPr sz="3050" spc="-170" dirty="0">
                <a:solidFill>
                  <a:srgbClr val="000000"/>
                </a:solidFill>
              </a:rPr>
              <a:t> </a:t>
            </a:r>
            <a:r>
              <a:rPr sz="3050" spc="-30" dirty="0">
                <a:solidFill>
                  <a:srgbClr val="000000"/>
                </a:solidFill>
              </a:rPr>
              <a:t>decision</a:t>
            </a:r>
            <a:r>
              <a:rPr sz="3050" spc="-100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is</a:t>
            </a:r>
            <a:r>
              <a:rPr sz="3050" spc="-204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explicit</a:t>
            </a:r>
            <a:r>
              <a:rPr sz="3050" spc="5" dirty="0">
                <a:solidFill>
                  <a:srgbClr val="000000"/>
                </a:solidFill>
              </a:rPr>
              <a:t> </a:t>
            </a:r>
            <a:r>
              <a:rPr sz="3050" spc="-105" dirty="0">
                <a:solidFill>
                  <a:srgbClr val="000000"/>
                </a:solidFill>
              </a:rPr>
              <a:t>and</a:t>
            </a:r>
            <a:r>
              <a:rPr sz="3050" spc="-110" dirty="0">
                <a:solidFill>
                  <a:srgbClr val="000000"/>
                </a:solidFill>
              </a:rPr>
              <a:t> </a:t>
            </a:r>
            <a:r>
              <a:rPr sz="3050" spc="-10" dirty="0">
                <a:solidFill>
                  <a:srgbClr val="000000"/>
                </a:solidFill>
              </a:rPr>
              <a:t>auditable.</a:t>
            </a:r>
            <a:endParaRPr sz="3050"/>
          </a:p>
          <a:p>
            <a:pPr marL="16510" marR="836294" indent="5715">
              <a:lnSpc>
                <a:spcPts val="3500"/>
              </a:lnSpc>
              <a:spcBef>
                <a:spcPts val="2340"/>
              </a:spcBef>
              <a:tabLst>
                <a:tab pos="5463540" algn="l"/>
              </a:tabLst>
            </a:pPr>
            <a:r>
              <a:rPr sz="2950" dirty="0">
                <a:solidFill>
                  <a:srgbClr val="000000"/>
                </a:solidFill>
              </a:rPr>
              <a:t>True</a:t>
            </a:r>
            <a:r>
              <a:rPr sz="2950" spc="-285" dirty="0">
                <a:solidFill>
                  <a:srgbClr val="000000"/>
                </a:solidFill>
              </a:rPr>
              <a:t> </a:t>
            </a:r>
            <a:r>
              <a:rPr sz="2950" spc="85" dirty="0">
                <a:solidFill>
                  <a:srgbClr val="000000"/>
                </a:solidFill>
              </a:rPr>
              <a:t>Modularity:</a:t>
            </a:r>
            <a:r>
              <a:rPr sz="2950" spc="25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Swap</a:t>
            </a:r>
            <a:r>
              <a:rPr sz="2950" spc="9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out</a:t>
            </a:r>
            <a:r>
              <a:rPr sz="2950" spc="105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reasoning </a:t>
            </a:r>
            <a:r>
              <a:rPr sz="2950" dirty="0">
                <a:solidFill>
                  <a:srgbClr val="000000"/>
                </a:solidFill>
              </a:rPr>
              <a:t>patterns</a:t>
            </a:r>
            <a:r>
              <a:rPr sz="2950" spc="45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(like</a:t>
            </a:r>
            <a:r>
              <a:rPr sz="2950" spc="-11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ReAct</a:t>
            </a:r>
            <a:r>
              <a:rPr sz="2950" spc="9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vs.</a:t>
            </a:r>
            <a:r>
              <a:rPr sz="2950" spc="-160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Planner)</a:t>
            </a:r>
            <a:r>
              <a:rPr sz="2950" dirty="0">
                <a:solidFill>
                  <a:srgbClr val="000000"/>
                </a:solidFill>
              </a:rPr>
              <a:t>	</a:t>
            </a:r>
            <a:r>
              <a:rPr sz="2950" spc="-10" dirty="0">
                <a:solidFill>
                  <a:srgbClr val="000000"/>
                </a:solidFill>
              </a:rPr>
              <a:t>without </a:t>
            </a:r>
            <a:r>
              <a:rPr sz="2950" dirty="0">
                <a:solidFill>
                  <a:srgbClr val="000000"/>
                </a:solidFill>
              </a:rPr>
              <a:t>changing</a:t>
            </a:r>
            <a:r>
              <a:rPr sz="2950" spc="120" dirty="0">
                <a:solidFill>
                  <a:srgbClr val="000000"/>
                </a:solidFill>
              </a:rPr>
              <a:t> </a:t>
            </a:r>
            <a:r>
              <a:rPr sz="2950" dirty="0">
                <a:solidFill>
                  <a:srgbClr val="000000"/>
                </a:solidFill>
              </a:rPr>
              <a:t>the</a:t>
            </a:r>
            <a:r>
              <a:rPr sz="2950" spc="-30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framework.</a:t>
            </a:r>
            <a:endParaRPr sz="2950"/>
          </a:p>
        </p:txBody>
      </p:sp>
      <p:sp>
        <p:nvSpPr>
          <p:cNvPr id="5" name="object 5"/>
          <p:cNvSpPr txBox="1"/>
          <p:nvPr/>
        </p:nvSpPr>
        <p:spPr>
          <a:xfrm>
            <a:off x="1235760" y="7927269"/>
            <a:ext cx="14919960" cy="1113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4265"/>
              </a:lnSpc>
              <a:spcBef>
                <a:spcPts val="130"/>
              </a:spcBef>
            </a:pPr>
            <a:r>
              <a:rPr sz="3650" dirty="0">
                <a:latin typeface="Arial MT"/>
                <a:cs typeface="Arial MT"/>
              </a:rPr>
              <a:t>LangGraph</a:t>
            </a:r>
            <a:r>
              <a:rPr sz="3650" spc="120" dirty="0">
                <a:latin typeface="Arial MT"/>
                <a:cs typeface="Arial MT"/>
              </a:rPr>
              <a:t> </a:t>
            </a:r>
            <a:r>
              <a:rPr sz="3650" spc="45" dirty="0">
                <a:latin typeface="Arial MT"/>
                <a:cs typeface="Arial MT"/>
              </a:rPr>
              <a:t>doesn't</a:t>
            </a:r>
            <a:r>
              <a:rPr sz="3650" spc="120" dirty="0">
                <a:latin typeface="Arial MT"/>
                <a:cs typeface="Arial MT"/>
              </a:rPr>
              <a:t> </a:t>
            </a:r>
            <a:r>
              <a:rPr sz="3650" spc="95" dirty="0">
                <a:latin typeface="Arial MT"/>
                <a:cs typeface="Arial MT"/>
              </a:rPr>
              <a:t>hide</a:t>
            </a:r>
            <a:r>
              <a:rPr sz="3650" spc="-210" dirty="0">
                <a:latin typeface="Arial MT"/>
                <a:cs typeface="Arial MT"/>
              </a:rPr>
              <a:t> </a:t>
            </a:r>
            <a:r>
              <a:rPr sz="3650" spc="90" dirty="0">
                <a:latin typeface="Arial MT"/>
                <a:cs typeface="Arial MT"/>
              </a:rPr>
              <a:t>complexity;</a:t>
            </a:r>
            <a:r>
              <a:rPr sz="3650" spc="-180" dirty="0">
                <a:latin typeface="Arial MT"/>
                <a:cs typeface="Arial MT"/>
              </a:rPr>
              <a:t> </a:t>
            </a:r>
            <a:r>
              <a:rPr sz="3650" spc="50" dirty="0">
                <a:latin typeface="Arial MT"/>
                <a:cs typeface="Arial MT"/>
              </a:rPr>
              <a:t>it</a:t>
            </a:r>
            <a:r>
              <a:rPr sz="3650" spc="190" dirty="0">
                <a:latin typeface="Arial MT"/>
                <a:cs typeface="Arial MT"/>
              </a:rPr>
              <a:t> </a:t>
            </a:r>
            <a:r>
              <a:rPr sz="3650" spc="65" dirty="0">
                <a:latin typeface="Arial MT"/>
                <a:cs typeface="Arial MT"/>
              </a:rPr>
              <a:t>gives</a:t>
            </a:r>
            <a:r>
              <a:rPr sz="3650" spc="-185" dirty="0">
                <a:latin typeface="Arial MT"/>
                <a:cs typeface="Arial MT"/>
              </a:rPr>
              <a:t> </a:t>
            </a:r>
            <a:r>
              <a:rPr sz="3650" spc="75" dirty="0">
                <a:latin typeface="Arial MT"/>
                <a:cs typeface="Arial MT"/>
              </a:rPr>
              <a:t>you</a:t>
            </a:r>
            <a:r>
              <a:rPr sz="3650" spc="-114" dirty="0">
                <a:latin typeface="Arial MT"/>
                <a:cs typeface="Arial MT"/>
              </a:rPr>
              <a:t> </a:t>
            </a:r>
            <a:r>
              <a:rPr sz="3650" spc="110" dirty="0">
                <a:latin typeface="Arial MT"/>
                <a:cs typeface="Arial MT"/>
              </a:rPr>
              <a:t>the</a:t>
            </a:r>
            <a:r>
              <a:rPr sz="3650" spc="-125" dirty="0">
                <a:latin typeface="Arial MT"/>
                <a:cs typeface="Arial MT"/>
              </a:rPr>
              <a:t> </a:t>
            </a:r>
            <a:r>
              <a:rPr sz="3650" spc="105" dirty="0">
                <a:latin typeface="Arial MT"/>
                <a:cs typeface="Arial MT"/>
              </a:rPr>
              <a:t>tools</a:t>
            </a:r>
            <a:r>
              <a:rPr sz="3650" spc="-140" dirty="0">
                <a:latin typeface="Arial MT"/>
                <a:cs typeface="Arial MT"/>
              </a:rPr>
              <a:t> </a:t>
            </a:r>
            <a:r>
              <a:rPr sz="3650" spc="100" dirty="0">
                <a:latin typeface="Arial MT"/>
                <a:cs typeface="Arial MT"/>
              </a:rPr>
              <a:t>to</a:t>
            </a:r>
            <a:r>
              <a:rPr sz="3650" spc="-30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manage</a:t>
            </a:r>
            <a:r>
              <a:rPr sz="3650" spc="-200" dirty="0">
                <a:latin typeface="Arial MT"/>
                <a:cs typeface="Arial MT"/>
              </a:rPr>
              <a:t> </a:t>
            </a:r>
            <a:r>
              <a:rPr sz="3650" spc="-25" dirty="0">
                <a:latin typeface="Arial MT"/>
                <a:cs typeface="Arial MT"/>
              </a:rPr>
              <a:t>it.</a:t>
            </a:r>
            <a:endParaRPr sz="3650">
              <a:latin typeface="Arial MT"/>
              <a:cs typeface="Arial MT"/>
            </a:endParaRPr>
          </a:p>
          <a:p>
            <a:pPr marL="52069" algn="ctr">
              <a:lnSpc>
                <a:spcPts val="4265"/>
              </a:lnSpc>
            </a:pPr>
            <a:r>
              <a:rPr sz="3650" dirty="0">
                <a:latin typeface="Arial MT"/>
                <a:cs typeface="Arial MT"/>
              </a:rPr>
              <a:t>Stop</a:t>
            </a:r>
            <a:r>
              <a:rPr sz="3650" spc="-95" dirty="0">
                <a:latin typeface="Arial MT"/>
                <a:cs typeface="Arial MT"/>
              </a:rPr>
              <a:t> </a:t>
            </a:r>
            <a:r>
              <a:rPr sz="3650" spc="105" dirty="0">
                <a:latin typeface="Arial MT"/>
                <a:cs typeface="Arial MT"/>
              </a:rPr>
              <a:t>building</a:t>
            </a:r>
            <a:r>
              <a:rPr sz="3650" spc="-15" dirty="0">
                <a:latin typeface="Arial MT"/>
                <a:cs typeface="Arial MT"/>
              </a:rPr>
              <a:t> </a:t>
            </a:r>
            <a:r>
              <a:rPr sz="3650" spc="85" dirty="0">
                <a:latin typeface="Arial MT"/>
                <a:cs typeface="Arial MT"/>
              </a:rPr>
              <a:t>black</a:t>
            </a:r>
            <a:r>
              <a:rPr sz="3650" spc="-9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boxes.</a:t>
            </a:r>
            <a:r>
              <a:rPr sz="3650" spc="-140" dirty="0">
                <a:latin typeface="Arial MT"/>
                <a:cs typeface="Arial MT"/>
              </a:rPr>
              <a:t> </a:t>
            </a:r>
            <a:r>
              <a:rPr sz="3650" spc="70" dirty="0">
                <a:latin typeface="Arial MT"/>
                <a:cs typeface="Arial MT"/>
              </a:rPr>
              <a:t>Start</a:t>
            </a:r>
            <a:r>
              <a:rPr sz="3650" spc="-85" dirty="0">
                <a:latin typeface="Arial MT"/>
                <a:cs typeface="Arial MT"/>
              </a:rPr>
              <a:t> </a:t>
            </a:r>
            <a:r>
              <a:rPr sz="3650" spc="80" dirty="0">
                <a:latin typeface="Arial MT"/>
                <a:cs typeface="Arial MT"/>
              </a:rPr>
              <a:t>designing</a:t>
            </a:r>
            <a:r>
              <a:rPr sz="3650" spc="-75" dirty="0">
                <a:latin typeface="Arial MT"/>
                <a:cs typeface="Arial MT"/>
              </a:rPr>
              <a:t> </a:t>
            </a:r>
            <a:r>
              <a:rPr sz="3650" spc="105" dirty="0">
                <a:latin typeface="Arial MT"/>
                <a:cs typeface="Arial MT"/>
              </a:rPr>
              <a:t>intelligent</a:t>
            </a:r>
            <a:r>
              <a:rPr sz="3650" spc="270" dirty="0">
                <a:latin typeface="Arial MT"/>
                <a:cs typeface="Arial MT"/>
              </a:rPr>
              <a:t> </a:t>
            </a:r>
            <a:r>
              <a:rPr sz="3650" spc="-10" dirty="0">
                <a:latin typeface="Arial MT"/>
                <a:cs typeface="Arial MT"/>
              </a:rPr>
              <a:t>systems.</a:t>
            </a:r>
            <a:endParaRPr sz="3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1194</Words>
  <Application>Microsoft Office PowerPoint</Application>
  <PresentationFormat>Custom</PresentationFormat>
  <Paragraphs>165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2" baseType="lpstr">
      <vt:lpstr>Aptos</vt:lpstr>
      <vt:lpstr>Arial</vt:lpstr>
      <vt:lpstr>Arial MT</vt:lpstr>
      <vt:lpstr>Calibri</vt:lpstr>
      <vt:lpstr>Cambria</vt:lpstr>
      <vt:lpstr>Consolas</vt:lpstr>
      <vt:lpstr>MiSans</vt:lpstr>
      <vt:lpstr>Montserrat Bold</vt:lpstr>
      <vt:lpstr>Noto Sans SC</vt:lpstr>
      <vt:lpstr>Nunito Semi Bold</vt:lpstr>
      <vt:lpstr>Open Sans</vt:lpstr>
      <vt:lpstr>PT Sans</vt:lpstr>
      <vt:lpstr>Source Sans 3</vt:lpstr>
      <vt:lpstr>Times New Roman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  <vt:lpstr>Lang Graph Built on One Simple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Keeping a Human in the Loop (HITL)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Assembling the Pattern, Step 1 &amp; 2: Reason and Act</vt:lpstr>
      <vt:lpstr>Assembling the Pattern, Step 3: The Critical Loop</vt:lpstr>
      <vt:lpstr>PowerPoint Presentation</vt:lpstr>
      <vt:lpstr>The Power of Control: Swapping the Engine</vt:lpstr>
      <vt:lpstr>Build with Clarity and Confidence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Neeraj Vohra</cp:lastModifiedBy>
  <cp:revision>13</cp:revision>
  <dcterms:created xsi:type="dcterms:W3CDTF">2026-01-08T16:52:19Z</dcterms:created>
  <dcterms:modified xsi:type="dcterms:W3CDTF">2026-01-09T14:46:29Z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LastSaved">
    <vt:filetime>2026-01-08T00:00:00Z</vt:filetime>
  </property>
</Properties>
</file>