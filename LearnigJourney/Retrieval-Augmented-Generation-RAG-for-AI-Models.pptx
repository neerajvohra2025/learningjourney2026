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4630400" cy="8229600"/>
  <p:notesSz cx="8229600" cy="14630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2" Type="http://schemas.openxmlformats.org/officeDocument/2006/relationships/image" Target="../media/image-1010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616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616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616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616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616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616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616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616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616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9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3504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192655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Retrieval Augmented Generation (RAG) for AI Models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659154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Unlock real-time and private data insights by enhancing large language models (LLMs) with external context.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6280190" y="5657017"/>
            <a:ext cx="362903" cy="362903"/>
          </a:xfrm>
          <a:prstGeom prst="roundRect">
            <a:avLst>
              <a:gd name="adj" fmla="val 25194296"/>
            </a:avLst>
          </a:prstGeom>
          <a:noFill/>
          <a:ln w="7620">
            <a:solidFill>
              <a:srgbClr val="4D4D51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7810" y="5664637"/>
            <a:ext cx="347663" cy="34766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756440" y="5640110"/>
            <a:ext cx="2050971" cy="396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2200" b="1" dirty="0">
                <a:solidFill>
                  <a:srgbClr val="8F8F8F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by Neeraj Vohra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0" y="0"/>
            <a:ext cx="603504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069425"/>
            <a:ext cx="693693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Why Use RAG with LLMs?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3118366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404040"/>
          </a:solidFill>
          <a:ln w="7620">
            <a:solidFill>
              <a:srgbClr val="595959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530906" y="319623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8F8F8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Limitations of LLMs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530906" y="3686651"/>
            <a:ext cx="289941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LLMs cannot access up-to-date or private data on their own.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4713803" y="3118366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404040"/>
          </a:solidFill>
          <a:ln w="7620">
            <a:solidFill>
              <a:srgbClr val="59595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50919" y="319623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8F8F8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Real-Time Accuracy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450919" y="3686651"/>
            <a:ext cx="289941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RAG enables LLMs to provide answers using the latest information.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793790" y="5228987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404040"/>
          </a:solidFill>
          <a:ln w="7620">
            <a:solidFill>
              <a:srgbClr val="59595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530906" y="5306854"/>
            <a:ext cx="32874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8F8F8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Private Data Integration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530906" y="5797272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Securely incorporate private databases into LLM responses.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721412"/>
            <a:ext cx="583418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Core Concept of RAG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997166"/>
            <a:ext cx="305050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Retrieval (Embedding)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578310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Data transforms into numeric vectors stored in a vector database.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599521" y="399716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Generation (LLM)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599521" y="4578310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LLM generates answers combining context and prompts.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17721"/>
            <a:ext cx="813327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Embedding: Data Preparation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1980128"/>
            <a:ext cx="1630323" cy="807958"/>
          </a:xfrm>
          <a:prstGeom prst="roundRect">
            <a:avLst>
              <a:gd name="adj" fmla="val 11791"/>
            </a:avLst>
          </a:prstGeom>
          <a:solidFill>
            <a:srgbClr val="404040"/>
          </a:solidFill>
          <a:ln w="7620">
            <a:solidFill>
              <a:srgbClr val="59595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49467" y="2184797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000"/>
              </a:lnSpc>
              <a:buNone/>
            </a:pPr>
            <a:r>
              <a:rPr lang="en-US" sz="2500" dirty="0">
                <a:solidFill>
                  <a:srgbClr val="FFFFF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1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2650927" y="2206943"/>
            <a:ext cx="142910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8F8F8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Load Data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537460" y="2772847"/>
            <a:ext cx="11185803" cy="15240"/>
          </a:xfrm>
          <a:prstGeom prst="roundRect">
            <a:avLst>
              <a:gd name="adj" fmla="val 625116"/>
            </a:avLst>
          </a:prstGeom>
          <a:solidFill>
            <a:srgbClr val="595959"/>
          </a:solidFill>
          <a:ln/>
        </p:spPr>
      </p:sp>
      <p:sp>
        <p:nvSpPr>
          <p:cNvPr id="7" name="Shape 5"/>
          <p:cNvSpPr/>
          <p:nvPr/>
        </p:nvSpPr>
        <p:spPr>
          <a:xfrm>
            <a:off x="793790" y="2901434"/>
            <a:ext cx="3260646" cy="1306949"/>
          </a:xfrm>
          <a:prstGeom prst="roundRect">
            <a:avLst>
              <a:gd name="adj" fmla="val 7289"/>
            </a:avLst>
          </a:prstGeom>
          <a:solidFill>
            <a:srgbClr val="404040"/>
          </a:solidFill>
          <a:ln w="7620">
            <a:solidFill>
              <a:srgbClr val="59595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64569" y="3355538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000"/>
              </a:lnSpc>
              <a:buNone/>
            </a:pPr>
            <a:r>
              <a:rPr lang="en-US" sz="2500" dirty="0">
                <a:solidFill>
                  <a:srgbClr val="FFFFF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2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4281249" y="312824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8F8F8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Split into Chunks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281249" y="3618667"/>
            <a:ext cx="42433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Break data into small, manageable pieces.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4167783" y="4193143"/>
            <a:ext cx="9555480" cy="15240"/>
          </a:xfrm>
          <a:prstGeom prst="roundRect">
            <a:avLst>
              <a:gd name="adj" fmla="val 625116"/>
            </a:avLst>
          </a:prstGeom>
          <a:solidFill>
            <a:srgbClr val="595959"/>
          </a:solidFill>
          <a:ln/>
        </p:spPr>
      </p:sp>
      <p:sp>
        <p:nvSpPr>
          <p:cNvPr id="12" name="Shape 10"/>
          <p:cNvSpPr/>
          <p:nvPr/>
        </p:nvSpPr>
        <p:spPr>
          <a:xfrm>
            <a:off x="793790" y="4321731"/>
            <a:ext cx="4890968" cy="1306949"/>
          </a:xfrm>
          <a:prstGeom prst="roundRect">
            <a:avLst>
              <a:gd name="adj" fmla="val 7289"/>
            </a:avLst>
          </a:prstGeom>
          <a:solidFill>
            <a:srgbClr val="404040"/>
          </a:solidFill>
          <a:ln w="7620">
            <a:solidFill>
              <a:srgbClr val="59595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79790" y="4775835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000"/>
              </a:lnSpc>
              <a:buNone/>
            </a:pPr>
            <a:r>
              <a:rPr lang="en-US" sz="2500" dirty="0">
                <a:solidFill>
                  <a:srgbClr val="FFFFF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3</a:t>
            </a:r>
            <a:endParaRPr lang="en-US" sz="2500" dirty="0"/>
          </a:p>
        </p:txBody>
      </p:sp>
      <p:sp>
        <p:nvSpPr>
          <p:cNvPr id="14" name="Text 12"/>
          <p:cNvSpPr/>
          <p:nvPr/>
        </p:nvSpPr>
        <p:spPr>
          <a:xfrm>
            <a:off x="5911572" y="454854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8F8F8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Embed Chunks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911572" y="5038963"/>
            <a:ext cx="577703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Convert text chunks into numeric vector representations.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5798106" y="5613440"/>
            <a:ext cx="7925157" cy="15240"/>
          </a:xfrm>
          <a:prstGeom prst="roundRect">
            <a:avLst>
              <a:gd name="adj" fmla="val 625116"/>
            </a:avLst>
          </a:prstGeom>
          <a:solidFill>
            <a:srgbClr val="595959"/>
          </a:solidFill>
          <a:ln/>
        </p:spPr>
      </p:sp>
      <p:sp>
        <p:nvSpPr>
          <p:cNvPr id="17" name="Shape 15"/>
          <p:cNvSpPr/>
          <p:nvPr/>
        </p:nvSpPr>
        <p:spPr>
          <a:xfrm>
            <a:off x="793790" y="5742027"/>
            <a:ext cx="6521410" cy="1669852"/>
          </a:xfrm>
          <a:prstGeom prst="roundRect">
            <a:avLst>
              <a:gd name="adj" fmla="val 5705"/>
            </a:avLst>
          </a:prstGeom>
          <a:solidFill>
            <a:srgbClr val="404040"/>
          </a:solidFill>
          <a:ln w="7620">
            <a:solidFill>
              <a:srgbClr val="59595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95011" y="6377583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000"/>
              </a:lnSpc>
              <a:buNone/>
            </a:pPr>
            <a:r>
              <a:rPr lang="en-US" sz="2500" dirty="0">
                <a:solidFill>
                  <a:srgbClr val="FFFFF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4</a:t>
            </a:r>
            <a:endParaRPr lang="en-US" sz="2500" dirty="0"/>
          </a:p>
        </p:txBody>
      </p:sp>
      <p:sp>
        <p:nvSpPr>
          <p:cNvPr id="19" name="Text 17"/>
          <p:cNvSpPr/>
          <p:nvPr/>
        </p:nvSpPr>
        <p:spPr>
          <a:xfrm>
            <a:off x="7542014" y="596884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8F8F8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Store Vectors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542014" y="6459260"/>
            <a:ext cx="606778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Save vectors into a vector database like Pinecone for retrieval.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0" y="0"/>
            <a:ext cx="603504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89642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Vector Database and Similarity Search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3654147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404040"/>
          </a:solidFill>
          <a:ln w="7620">
            <a:solidFill>
              <a:srgbClr val="595959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530906" y="373201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8F8F8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Use of Pinecone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530906" y="4222433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 scalable vector database optimized for similarity search.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793790" y="5038963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404040"/>
          </a:solidFill>
          <a:ln w="7620">
            <a:solidFill>
              <a:srgbClr val="59595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530906" y="5116830"/>
            <a:ext cx="336077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8F8F8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Cosine Similarity Search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530906" y="5607248"/>
            <a:ext cx="681930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Find vectors closely matching queries for accurate context retrieval.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721412"/>
            <a:ext cx="1290720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Combining Context with Prompt for Generation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997166"/>
            <a:ext cx="295989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Concatenate Context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578310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Retrieved context enriches the original prompt.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599521" y="399716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LLM Response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599521" y="4578310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Generates answers grounded in augmented context for precision.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311872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4165402"/>
            <a:ext cx="920710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Benefits of RAG in AI Applications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5214342"/>
            <a:ext cx="4196358" cy="1685092"/>
          </a:xfrm>
          <a:prstGeom prst="roundRect">
            <a:avLst>
              <a:gd name="adj" fmla="val 5654"/>
            </a:avLst>
          </a:prstGeom>
          <a:solidFill>
            <a:srgbClr val="404040"/>
          </a:solidFill>
          <a:ln w="7620">
            <a:solidFill>
              <a:srgbClr val="595959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28224" y="544877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Improved Accuracy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28224" y="5939195"/>
            <a:ext cx="37274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Enhanced responses using up-to-date and relevant data.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5216962" y="5214342"/>
            <a:ext cx="4196358" cy="1685092"/>
          </a:xfrm>
          <a:prstGeom prst="roundRect">
            <a:avLst>
              <a:gd name="adj" fmla="val 5654"/>
            </a:avLst>
          </a:prstGeom>
          <a:solidFill>
            <a:srgbClr val="404040"/>
          </a:solidFill>
          <a:ln w="7620">
            <a:solidFill>
              <a:srgbClr val="59595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51396" y="544877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Privacy and Security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451396" y="5939195"/>
            <a:ext cx="37274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Integrate confidential data without exposing it to the LLM.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9640133" y="5214342"/>
            <a:ext cx="4196358" cy="1685092"/>
          </a:xfrm>
          <a:prstGeom prst="roundRect">
            <a:avLst>
              <a:gd name="adj" fmla="val 5654"/>
            </a:avLst>
          </a:prstGeom>
          <a:solidFill>
            <a:srgbClr val="404040"/>
          </a:solidFill>
          <a:ln w="7620">
            <a:solidFill>
              <a:srgbClr val="59595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874568" y="544877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Scalability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9874568" y="5939195"/>
            <a:ext cx="37274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Easily expand knowledge base with new external data sources.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9136" y="557213"/>
            <a:ext cx="7290554" cy="6331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950"/>
              </a:lnSpc>
              <a:buNone/>
            </a:pPr>
            <a:r>
              <a:rPr lang="en-US" sz="395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Next Steps to Implement RAG</a:t>
            </a:r>
            <a:endParaRPr lang="en-US" sz="39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9136" y="1595557"/>
            <a:ext cx="1013103" cy="121574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26087" y="1798082"/>
            <a:ext cx="2532817" cy="31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8F8F8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Data Collection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2026087" y="2236113"/>
            <a:ext cx="11895177" cy="324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5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Identify and curate relevant private or custom data.</a:t>
            </a:r>
            <a:endParaRPr lang="en-US" sz="15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136" y="2811304"/>
            <a:ext cx="1013103" cy="121574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026087" y="3013829"/>
            <a:ext cx="2532817" cy="31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8F8F8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Embedding Setup</a:t>
            </a:r>
            <a:endParaRPr lang="en-US" sz="1950" dirty="0"/>
          </a:p>
        </p:txBody>
      </p:sp>
      <p:sp>
        <p:nvSpPr>
          <p:cNvPr id="8" name="Text 4"/>
          <p:cNvSpPr/>
          <p:nvPr/>
        </p:nvSpPr>
        <p:spPr>
          <a:xfrm>
            <a:off x="2026087" y="3451860"/>
            <a:ext cx="11895177" cy="324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5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Implement chunking and vector embedding workflows.</a:t>
            </a:r>
            <a:endParaRPr lang="en-US" sz="15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136" y="4027051"/>
            <a:ext cx="1013103" cy="121574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026087" y="4229576"/>
            <a:ext cx="3227427" cy="31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8F8F8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Vector Storage &amp; Retrieval</a:t>
            </a:r>
            <a:endParaRPr lang="en-US" sz="1950" dirty="0"/>
          </a:p>
        </p:txBody>
      </p:sp>
      <p:sp>
        <p:nvSpPr>
          <p:cNvPr id="11" name="Text 6"/>
          <p:cNvSpPr/>
          <p:nvPr/>
        </p:nvSpPr>
        <p:spPr>
          <a:xfrm>
            <a:off x="2026087" y="4667607"/>
            <a:ext cx="11895177" cy="324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5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Configure Pinecone or similar for efficient search.</a:t>
            </a:r>
            <a:endParaRPr lang="en-US" sz="15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136" y="5242798"/>
            <a:ext cx="1013103" cy="1215747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2026087" y="5445323"/>
            <a:ext cx="2532817" cy="31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8F8F8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LLM Integration</a:t>
            </a:r>
            <a:endParaRPr lang="en-US" sz="1950" dirty="0"/>
          </a:p>
        </p:txBody>
      </p:sp>
      <p:sp>
        <p:nvSpPr>
          <p:cNvPr id="14" name="Text 8"/>
          <p:cNvSpPr/>
          <p:nvPr/>
        </p:nvSpPr>
        <p:spPr>
          <a:xfrm>
            <a:off x="2026087" y="5883354"/>
            <a:ext cx="11895177" cy="324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5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Combine retrieved context with prompts in your generation logic.</a:t>
            </a:r>
            <a:endParaRPr lang="en-US" sz="15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9136" y="6458545"/>
            <a:ext cx="1013103" cy="1215747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2026087" y="6661071"/>
            <a:ext cx="2612112" cy="31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8F8F8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Testing &amp; Refinement</a:t>
            </a:r>
            <a:endParaRPr lang="en-US" sz="1950" dirty="0"/>
          </a:p>
        </p:txBody>
      </p:sp>
      <p:sp>
        <p:nvSpPr>
          <p:cNvPr id="17" name="Text 10"/>
          <p:cNvSpPr/>
          <p:nvPr/>
        </p:nvSpPr>
        <p:spPr>
          <a:xfrm>
            <a:off x="2026087" y="7099102"/>
            <a:ext cx="11895177" cy="324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5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Iterate to optimize retrieval quality and response accuracy.</a:t>
            </a:r>
            <a:endParaRPr lang="en-US" sz="1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376035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endParaRPr lang="en-US" sz="4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2025-05-28T09:58:20Z</dcterms:created>
  <dcterms:modified xsi:type="dcterms:W3CDTF">2025-05-28T09:58:20Z</dcterms:modified>
</cp:coreProperties>
</file>